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56" r:id="rId2"/>
    <p:sldId id="257" r:id="rId3"/>
  </p:sldIdLst>
  <p:sldSz cx="9144000" cy="6858000" type="letter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88" autoAdjust="0"/>
    <p:restoredTop sz="94662" autoAdjust="0"/>
  </p:normalViewPr>
  <p:slideViewPr>
    <p:cSldViewPr snapToGrid="0" showGuides="1">
      <p:cViewPr>
        <p:scale>
          <a:sx n="100" d="100"/>
          <a:sy n="100" d="100"/>
        </p:scale>
        <p:origin x="-1152" y="4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2561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2561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F54F0EF-9BC6-4E61-84A2-8DF39075B0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71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734BA9-BC02-46DA-A998-7E218F165D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63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7A5AC-1612-4036-9523-A4511A0A62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4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AB63BE-71F2-4FBB-BCFC-6A0B269A6C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62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514D28-28B3-41FB-A7F1-B55B85AC6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5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F14ED4-C98C-4F67-8187-321F49DBFF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6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3CD12-57D1-41ED-9797-FB8D7A0738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47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7C62FA-E5B6-474C-B1CA-2DE589429A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4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068E9-8392-4AA4-89AC-915D550720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8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90EA2B-8723-4E1D-9EE3-849C97F574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90AA32-14B1-44C2-82A4-0B770B936B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58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2A3AF-5E7B-48E1-B087-9A0FB54DA3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0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FEAE35C-220A-4694-8457-B19F43707C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00100"/>
            <a:ext cx="8861425" cy="547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051" name="Rectangle 6"/>
          <p:cNvSpPr>
            <a:spLocks noChangeArrowheads="1"/>
          </p:cNvSpPr>
          <p:nvPr/>
        </p:nvSpPr>
        <p:spPr bwMode="auto">
          <a:xfrm>
            <a:off x="4149725" y="2590800"/>
            <a:ext cx="141288" cy="6096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600" b="1">
              <a:latin typeface="Tahoma" charset="0"/>
            </a:endParaRPr>
          </a:p>
        </p:txBody>
      </p:sp>
      <p:sp>
        <p:nvSpPr>
          <p:cNvPr id="2052" name="Text Box 8"/>
          <p:cNvSpPr txBox="1">
            <a:spLocks noChangeArrowheads="1"/>
          </p:cNvSpPr>
          <p:nvPr/>
        </p:nvSpPr>
        <p:spPr bwMode="auto">
          <a:xfrm>
            <a:off x="4010025" y="2466975"/>
            <a:ext cx="4206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600" b="1">
              <a:solidFill>
                <a:srgbClr val="FF0000"/>
              </a:solidFill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LL21</a:t>
            </a:r>
          </a:p>
        </p:txBody>
      </p:sp>
      <p:sp>
        <p:nvSpPr>
          <p:cNvPr id="2053" name="Text Box 9"/>
          <p:cNvSpPr txBox="1">
            <a:spLocks noChangeArrowheads="1"/>
          </p:cNvSpPr>
          <p:nvPr/>
        </p:nvSpPr>
        <p:spPr bwMode="auto">
          <a:xfrm>
            <a:off x="4010025" y="2971800"/>
            <a:ext cx="4206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600" b="1">
              <a:solidFill>
                <a:srgbClr val="FF0000"/>
              </a:solidFill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LL20</a:t>
            </a:r>
          </a:p>
        </p:txBody>
      </p:sp>
      <p:sp useBgFill="1">
        <p:nvSpPr>
          <p:cNvPr id="2054" name="Rectangle 10"/>
          <p:cNvSpPr>
            <a:spLocks noChangeArrowheads="1"/>
          </p:cNvSpPr>
          <p:nvPr/>
        </p:nvSpPr>
        <p:spPr bwMode="auto">
          <a:xfrm>
            <a:off x="4079875" y="3429000"/>
            <a:ext cx="280988" cy="6096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55" name="Text Box 11"/>
          <p:cNvSpPr txBox="1">
            <a:spLocks noChangeArrowheads="1"/>
          </p:cNvSpPr>
          <p:nvPr/>
        </p:nvSpPr>
        <p:spPr bwMode="auto">
          <a:xfrm>
            <a:off x="4010025" y="3886200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LL18</a:t>
            </a:r>
          </a:p>
        </p:txBody>
      </p:sp>
      <p:sp>
        <p:nvSpPr>
          <p:cNvPr id="2056" name="Text Box 12"/>
          <p:cNvSpPr txBox="1">
            <a:spLocks noChangeArrowheads="1"/>
          </p:cNvSpPr>
          <p:nvPr/>
        </p:nvSpPr>
        <p:spPr bwMode="auto">
          <a:xfrm>
            <a:off x="4010025" y="3352800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LL19</a:t>
            </a:r>
          </a:p>
        </p:txBody>
      </p:sp>
      <p:sp useBgFill="1">
        <p:nvSpPr>
          <p:cNvPr id="2057" name="Rectangle 13"/>
          <p:cNvSpPr>
            <a:spLocks noChangeArrowheads="1"/>
          </p:cNvSpPr>
          <p:nvPr/>
        </p:nvSpPr>
        <p:spPr bwMode="auto">
          <a:xfrm>
            <a:off x="4572000" y="3957638"/>
            <a:ext cx="211138" cy="15557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58" name="Rectangle 17"/>
          <p:cNvSpPr>
            <a:spLocks noChangeArrowheads="1"/>
          </p:cNvSpPr>
          <p:nvPr/>
        </p:nvSpPr>
        <p:spPr bwMode="auto">
          <a:xfrm>
            <a:off x="5275263" y="2590800"/>
            <a:ext cx="280987" cy="6096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59" name="Rectangle 18"/>
          <p:cNvSpPr>
            <a:spLocks noChangeArrowheads="1"/>
          </p:cNvSpPr>
          <p:nvPr/>
        </p:nvSpPr>
        <p:spPr bwMode="auto">
          <a:xfrm>
            <a:off x="5205413" y="3400425"/>
            <a:ext cx="280987" cy="6096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60" name="Rectangle 19"/>
          <p:cNvSpPr>
            <a:spLocks noChangeArrowheads="1"/>
          </p:cNvSpPr>
          <p:nvPr/>
        </p:nvSpPr>
        <p:spPr bwMode="auto">
          <a:xfrm>
            <a:off x="4291013" y="4438650"/>
            <a:ext cx="280987" cy="762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61" name="Rectangle 20"/>
          <p:cNvSpPr>
            <a:spLocks noChangeArrowheads="1"/>
          </p:cNvSpPr>
          <p:nvPr/>
        </p:nvSpPr>
        <p:spPr bwMode="auto">
          <a:xfrm>
            <a:off x="5205413" y="4343400"/>
            <a:ext cx="211137" cy="1524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62" name="Rectangle 21"/>
          <p:cNvSpPr>
            <a:spLocks noChangeArrowheads="1"/>
          </p:cNvSpPr>
          <p:nvPr/>
        </p:nvSpPr>
        <p:spPr bwMode="auto">
          <a:xfrm>
            <a:off x="5697538" y="4419600"/>
            <a:ext cx="211137" cy="1524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63" name="Text Box 22"/>
          <p:cNvSpPr txBox="1">
            <a:spLocks noChangeArrowheads="1"/>
          </p:cNvSpPr>
          <p:nvPr/>
        </p:nvSpPr>
        <p:spPr bwMode="auto">
          <a:xfrm>
            <a:off x="5205413" y="2971800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LL27</a:t>
            </a:r>
          </a:p>
        </p:txBody>
      </p:sp>
      <p:sp>
        <p:nvSpPr>
          <p:cNvPr id="2064" name="Text Box 23"/>
          <p:cNvSpPr txBox="1">
            <a:spLocks noChangeArrowheads="1"/>
          </p:cNvSpPr>
          <p:nvPr/>
        </p:nvSpPr>
        <p:spPr bwMode="auto">
          <a:xfrm>
            <a:off x="5205413" y="3381375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LL28</a:t>
            </a:r>
          </a:p>
        </p:txBody>
      </p:sp>
      <p:sp>
        <p:nvSpPr>
          <p:cNvPr id="2065" name="Text Box 24"/>
          <p:cNvSpPr txBox="1">
            <a:spLocks noChangeArrowheads="1"/>
          </p:cNvSpPr>
          <p:nvPr/>
        </p:nvSpPr>
        <p:spPr bwMode="auto">
          <a:xfrm>
            <a:off x="5205413" y="3914775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LL29</a:t>
            </a:r>
          </a:p>
        </p:txBody>
      </p:sp>
      <p:sp>
        <p:nvSpPr>
          <p:cNvPr id="2066" name="Text Box 25"/>
          <p:cNvSpPr txBox="1">
            <a:spLocks noChangeArrowheads="1"/>
          </p:cNvSpPr>
          <p:nvPr/>
        </p:nvSpPr>
        <p:spPr bwMode="auto">
          <a:xfrm>
            <a:off x="4220369" y="4318000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 dirty="0">
                <a:latin typeface="Tahoma" charset="0"/>
              </a:rPr>
              <a:t>LL16</a:t>
            </a:r>
          </a:p>
        </p:txBody>
      </p:sp>
      <p:sp>
        <p:nvSpPr>
          <p:cNvPr id="2067" name="Text Box 26"/>
          <p:cNvSpPr txBox="1">
            <a:spLocks noChangeArrowheads="1"/>
          </p:cNvSpPr>
          <p:nvPr/>
        </p:nvSpPr>
        <p:spPr bwMode="auto">
          <a:xfrm>
            <a:off x="4430713" y="3886200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LL21</a:t>
            </a:r>
          </a:p>
        </p:txBody>
      </p:sp>
      <p:sp>
        <p:nvSpPr>
          <p:cNvPr id="2068" name="Text Box 27"/>
          <p:cNvSpPr txBox="1">
            <a:spLocks noChangeArrowheads="1"/>
          </p:cNvSpPr>
          <p:nvPr/>
        </p:nvSpPr>
        <p:spPr bwMode="auto">
          <a:xfrm>
            <a:off x="5205413" y="2514600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LL26</a:t>
            </a:r>
          </a:p>
        </p:txBody>
      </p:sp>
      <p:sp useBgFill="1">
        <p:nvSpPr>
          <p:cNvPr id="2069" name="Rectangle 28"/>
          <p:cNvSpPr>
            <a:spLocks noChangeArrowheads="1"/>
          </p:cNvSpPr>
          <p:nvPr/>
        </p:nvSpPr>
        <p:spPr bwMode="auto">
          <a:xfrm>
            <a:off x="5345113" y="2076450"/>
            <a:ext cx="141287" cy="1524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70" name="Rectangle 29"/>
          <p:cNvSpPr>
            <a:spLocks noChangeArrowheads="1"/>
          </p:cNvSpPr>
          <p:nvPr/>
        </p:nvSpPr>
        <p:spPr bwMode="auto">
          <a:xfrm>
            <a:off x="4149725" y="2228850"/>
            <a:ext cx="141288" cy="1524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71" name="Text Box 30"/>
          <p:cNvSpPr txBox="1">
            <a:spLocks noChangeArrowheads="1"/>
          </p:cNvSpPr>
          <p:nvPr/>
        </p:nvSpPr>
        <p:spPr bwMode="auto">
          <a:xfrm>
            <a:off x="5195888" y="1952625"/>
            <a:ext cx="422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600" b="1">
              <a:solidFill>
                <a:srgbClr val="FF0000"/>
              </a:solidFill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LL25</a:t>
            </a:r>
          </a:p>
        </p:txBody>
      </p:sp>
      <p:sp>
        <p:nvSpPr>
          <p:cNvPr id="2072" name="Text Box 31"/>
          <p:cNvSpPr txBox="1">
            <a:spLocks noChangeArrowheads="1"/>
          </p:cNvSpPr>
          <p:nvPr/>
        </p:nvSpPr>
        <p:spPr bwMode="auto">
          <a:xfrm>
            <a:off x="3990975" y="2124075"/>
            <a:ext cx="4206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600" b="1">
              <a:solidFill>
                <a:srgbClr val="FF0000"/>
              </a:solidFill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LL21</a:t>
            </a:r>
          </a:p>
        </p:txBody>
      </p:sp>
      <p:sp>
        <p:nvSpPr>
          <p:cNvPr id="2073" name="Text Box 32"/>
          <p:cNvSpPr txBox="1">
            <a:spLocks noChangeArrowheads="1"/>
          </p:cNvSpPr>
          <p:nvPr/>
        </p:nvSpPr>
        <p:spPr bwMode="auto">
          <a:xfrm>
            <a:off x="5064125" y="4318000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LL15</a:t>
            </a:r>
          </a:p>
        </p:txBody>
      </p:sp>
      <p:sp>
        <p:nvSpPr>
          <p:cNvPr id="2074" name="Text Box 33"/>
          <p:cNvSpPr txBox="1">
            <a:spLocks noChangeArrowheads="1"/>
          </p:cNvSpPr>
          <p:nvPr/>
        </p:nvSpPr>
        <p:spPr bwMode="auto">
          <a:xfrm>
            <a:off x="5627688" y="4318000"/>
            <a:ext cx="42068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LL14</a:t>
            </a:r>
          </a:p>
        </p:txBody>
      </p:sp>
      <p:sp useBgFill="1">
        <p:nvSpPr>
          <p:cNvPr id="2075" name="Rectangle 34"/>
          <p:cNvSpPr>
            <a:spLocks noChangeArrowheads="1"/>
          </p:cNvSpPr>
          <p:nvPr/>
        </p:nvSpPr>
        <p:spPr bwMode="auto">
          <a:xfrm>
            <a:off x="6102350" y="4489450"/>
            <a:ext cx="533400" cy="889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76" name="Text Box 35"/>
          <p:cNvSpPr txBox="1">
            <a:spLocks noChangeArrowheads="1"/>
          </p:cNvSpPr>
          <p:nvPr/>
        </p:nvSpPr>
        <p:spPr bwMode="auto">
          <a:xfrm>
            <a:off x="5972175" y="4327525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LL13</a:t>
            </a:r>
          </a:p>
        </p:txBody>
      </p:sp>
      <p:sp>
        <p:nvSpPr>
          <p:cNvPr id="2077" name="Text Box 36"/>
          <p:cNvSpPr txBox="1">
            <a:spLocks noChangeArrowheads="1"/>
          </p:cNvSpPr>
          <p:nvPr/>
        </p:nvSpPr>
        <p:spPr bwMode="auto">
          <a:xfrm>
            <a:off x="6369050" y="432752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 dirty="0">
                <a:latin typeface="Tahoma" charset="0"/>
              </a:rPr>
              <a:t>LL12</a:t>
            </a:r>
          </a:p>
        </p:txBody>
      </p:sp>
      <p:sp useBgFill="1">
        <p:nvSpPr>
          <p:cNvPr id="2078" name="Rectangle 37"/>
          <p:cNvSpPr>
            <a:spLocks noChangeArrowheads="1"/>
          </p:cNvSpPr>
          <p:nvPr/>
        </p:nvSpPr>
        <p:spPr bwMode="auto">
          <a:xfrm>
            <a:off x="6864350" y="4387850"/>
            <a:ext cx="128588" cy="14605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79" name="Rectangle 38"/>
          <p:cNvSpPr>
            <a:spLocks noChangeArrowheads="1"/>
          </p:cNvSpPr>
          <p:nvPr/>
        </p:nvSpPr>
        <p:spPr bwMode="auto">
          <a:xfrm>
            <a:off x="7227888" y="4432300"/>
            <a:ext cx="146050" cy="1397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80" name="Rectangle 39"/>
          <p:cNvSpPr>
            <a:spLocks noChangeArrowheads="1"/>
          </p:cNvSpPr>
          <p:nvPr/>
        </p:nvSpPr>
        <p:spPr bwMode="auto">
          <a:xfrm>
            <a:off x="7602538" y="4457700"/>
            <a:ext cx="146050" cy="889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81" name="Rectangle 40"/>
          <p:cNvSpPr>
            <a:spLocks noChangeArrowheads="1"/>
          </p:cNvSpPr>
          <p:nvPr/>
        </p:nvSpPr>
        <p:spPr bwMode="auto">
          <a:xfrm>
            <a:off x="8070850" y="4476750"/>
            <a:ext cx="206375" cy="889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82" name="Text Box 41"/>
          <p:cNvSpPr txBox="1">
            <a:spLocks noChangeArrowheads="1"/>
          </p:cNvSpPr>
          <p:nvPr/>
        </p:nvSpPr>
        <p:spPr bwMode="auto">
          <a:xfrm>
            <a:off x="6705600" y="4318000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LL11</a:t>
            </a:r>
          </a:p>
        </p:txBody>
      </p:sp>
      <p:sp>
        <p:nvSpPr>
          <p:cNvPr id="2083" name="Text Box 42"/>
          <p:cNvSpPr txBox="1">
            <a:spLocks noChangeArrowheads="1"/>
          </p:cNvSpPr>
          <p:nvPr/>
        </p:nvSpPr>
        <p:spPr bwMode="auto">
          <a:xfrm>
            <a:off x="7104063" y="4318000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LL10</a:t>
            </a:r>
          </a:p>
        </p:txBody>
      </p:sp>
      <p:sp>
        <p:nvSpPr>
          <p:cNvPr id="2084" name="Text Box 43"/>
          <p:cNvSpPr txBox="1">
            <a:spLocks noChangeArrowheads="1"/>
          </p:cNvSpPr>
          <p:nvPr/>
        </p:nvSpPr>
        <p:spPr bwMode="auto">
          <a:xfrm>
            <a:off x="7448550" y="4327525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 dirty="0">
                <a:latin typeface="Tahoma" charset="0"/>
              </a:rPr>
              <a:t>LL09</a:t>
            </a:r>
          </a:p>
        </p:txBody>
      </p:sp>
      <p:sp>
        <p:nvSpPr>
          <p:cNvPr id="2085" name="Text Box 44"/>
          <p:cNvSpPr txBox="1">
            <a:spLocks noChangeArrowheads="1"/>
          </p:cNvSpPr>
          <p:nvPr/>
        </p:nvSpPr>
        <p:spPr bwMode="auto">
          <a:xfrm>
            <a:off x="7926388" y="4327525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 dirty="0">
                <a:latin typeface="Tahoma" charset="0"/>
              </a:rPr>
              <a:t>LL08</a:t>
            </a:r>
          </a:p>
        </p:txBody>
      </p:sp>
      <p:sp>
        <p:nvSpPr>
          <p:cNvPr id="2086" name="Text Box 45"/>
          <p:cNvSpPr txBox="1">
            <a:spLocks noChangeArrowheads="1"/>
          </p:cNvSpPr>
          <p:nvPr/>
        </p:nvSpPr>
        <p:spPr bwMode="auto">
          <a:xfrm>
            <a:off x="6192838" y="5106988"/>
            <a:ext cx="10922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solidFill>
                  <a:srgbClr val="FF0000"/>
                </a:solidFill>
                <a:latin typeface="Tahoma" charset="0"/>
              </a:rPr>
              <a:t>OLD FELLOWSHIP HALL</a:t>
            </a:r>
          </a:p>
        </p:txBody>
      </p:sp>
      <p:sp>
        <p:nvSpPr>
          <p:cNvPr id="2087" name="Text Box 46"/>
          <p:cNvSpPr txBox="1">
            <a:spLocks noChangeArrowheads="1"/>
          </p:cNvSpPr>
          <p:nvPr/>
        </p:nvSpPr>
        <p:spPr bwMode="auto">
          <a:xfrm>
            <a:off x="5081588" y="5335588"/>
            <a:ext cx="5349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solidFill>
                  <a:srgbClr val="FF0000"/>
                </a:solidFill>
                <a:latin typeface="Tahoma" charset="0"/>
              </a:rPr>
              <a:t>OLD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solidFill>
                  <a:srgbClr val="FF0000"/>
                </a:solidFill>
                <a:latin typeface="Tahoma" charset="0"/>
              </a:rPr>
              <a:t>KITCHEN</a:t>
            </a:r>
          </a:p>
        </p:txBody>
      </p:sp>
      <p:sp useBgFill="1">
        <p:nvSpPr>
          <p:cNvPr id="2088" name="Rectangle 47"/>
          <p:cNvSpPr>
            <a:spLocks noChangeArrowheads="1"/>
          </p:cNvSpPr>
          <p:nvPr/>
        </p:nvSpPr>
        <p:spPr bwMode="auto">
          <a:xfrm>
            <a:off x="2251075" y="5476875"/>
            <a:ext cx="254000" cy="18097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89" name="Rectangle 48"/>
          <p:cNvSpPr>
            <a:spLocks noChangeArrowheads="1"/>
          </p:cNvSpPr>
          <p:nvPr/>
        </p:nvSpPr>
        <p:spPr bwMode="auto">
          <a:xfrm>
            <a:off x="1590675" y="5476875"/>
            <a:ext cx="369888" cy="25717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90" name="Rectangle 49"/>
          <p:cNvSpPr>
            <a:spLocks noChangeArrowheads="1"/>
          </p:cNvSpPr>
          <p:nvPr/>
        </p:nvSpPr>
        <p:spPr bwMode="auto">
          <a:xfrm>
            <a:off x="1081088" y="5495925"/>
            <a:ext cx="166687" cy="16192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91" name="Text Box 50"/>
          <p:cNvSpPr txBox="1">
            <a:spLocks noChangeArrowheads="1"/>
          </p:cNvSpPr>
          <p:nvPr/>
        </p:nvSpPr>
        <p:spPr bwMode="auto">
          <a:xfrm>
            <a:off x="1046163" y="5191125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G12A</a:t>
            </a:r>
          </a:p>
        </p:txBody>
      </p:sp>
      <p:sp>
        <p:nvSpPr>
          <p:cNvPr id="2092" name="Text Box 51"/>
          <p:cNvSpPr txBox="1">
            <a:spLocks noChangeArrowheads="1"/>
          </p:cNvSpPr>
          <p:nvPr/>
        </p:nvSpPr>
        <p:spPr bwMode="auto">
          <a:xfrm>
            <a:off x="1547813" y="5191125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G12B</a:t>
            </a:r>
          </a:p>
        </p:txBody>
      </p:sp>
      <p:sp>
        <p:nvSpPr>
          <p:cNvPr id="2093" name="Text Box 52"/>
          <p:cNvSpPr txBox="1">
            <a:spLocks noChangeArrowheads="1"/>
          </p:cNvSpPr>
          <p:nvPr/>
        </p:nvSpPr>
        <p:spPr bwMode="auto">
          <a:xfrm>
            <a:off x="2136775" y="5191125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G12C</a:t>
            </a:r>
          </a:p>
        </p:txBody>
      </p:sp>
      <p:sp useBgFill="1">
        <p:nvSpPr>
          <p:cNvPr id="2094" name="Rectangle 54"/>
          <p:cNvSpPr>
            <a:spLocks noChangeArrowheads="1"/>
          </p:cNvSpPr>
          <p:nvPr/>
        </p:nvSpPr>
        <p:spPr bwMode="auto">
          <a:xfrm>
            <a:off x="1819275" y="1857375"/>
            <a:ext cx="203200" cy="889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95" name="Rectangle 55"/>
          <p:cNvSpPr>
            <a:spLocks noChangeArrowheads="1"/>
          </p:cNvSpPr>
          <p:nvPr/>
        </p:nvSpPr>
        <p:spPr bwMode="auto">
          <a:xfrm>
            <a:off x="2241550" y="2038350"/>
            <a:ext cx="141288" cy="12382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96" name="Rectangle 56"/>
          <p:cNvSpPr>
            <a:spLocks noChangeArrowheads="1"/>
          </p:cNvSpPr>
          <p:nvPr/>
        </p:nvSpPr>
        <p:spPr bwMode="auto">
          <a:xfrm>
            <a:off x="2584450" y="2066925"/>
            <a:ext cx="168275" cy="9525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97" name="Rectangle 57"/>
          <p:cNvSpPr>
            <a:spLocks noChangeArrowheads="1"/>
          </p:cNvSpPr>
          <p:nvPr/>
        </p:nvSpPr>
        <p:spPr bwMode="auto">
          <a:xfrm>
            <a:off x="2919413" y="2066925"/>
            <a:ext cx="157162" cy="10477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 useBgFill="1">
        <p:nvSpPr>
          <p:cNvPr id="2098" name="Rectangle 58"/>
          <p:cNvSpPr>
            <a:spLocks noChangeArrowheads="1"/>
          </p:cNvSpPr>
          <p:nvPr/>
        </p:nvSpPr>
        <p:spPr bwMode="auto">
          <a:xfrm>
            <a:off x="3419475" y="2143125"/>
            <a:ext cx="141288" cy="10477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99" name="Text Box 59"/>
          <p:cNvSpPr txBox="1">
            <a:spLocks noChangeArrowheads="1"/>
          </p:cNvSpPr>
          <p:nvPr/>
        </p:nvSpPr>
        <p:spPr bwMode="auto">
          <a:xfrm>
            <a:off x="1724025" y="1809750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G09</a:t>
            </a:r>
          </a:p>
        </p:txBody>
      </p:sp>
      <p:sp>
        <p:nvSpPr>
          <p:cNvPr id="2100" name="Text Box 60"/>
          <p:cNvSpPr txBox="1">
            <a:spLocks noChangeArrowheads="1"/>
          </p:cNvSpPr>
          <p:nvPr/>
        </p:nvSpPr>
        <p:spPr bwMode="auto">
          <a:xfrm>
            <a:off x="2125926" y="1966119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 dirty="0">
                <a:latin typeface="Tahoma" charset="0"/>
              </a:rPr>
              <a:t>G08</a:t>
            </a:r>
          </a:p>
        </p:txBody>
      </p:sp>
      <p:sp>
        <p:nvSpPr>
          <p:cNvPr id="2101" name="Text Box 61"/>
          <p:cNvSpPr txBox="1">
            <a:spLocks noChangeArrowheads="1"/>
          </p:cNvSpPr>
          <p:nvPr/>
        </p:nvSpPr>
        <p:spPr bwMode="auto">
          <a:xfrm>
            <a:off x="2457450" y="1958975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 dirty="0">
                <a:latin typeface="Tahoma" charset="0"/>
              </a:rPr>
              <a:t>G07</a:t>
            </a:r>
          </a:p>
        </p:txBody>
      </p:sp>
      <p:sp>
        <p:nvSpPr>
          <p:cNvPr id="2102" name="Text Box 62"/>
          <p:cNvSpPr txBox="1">
            <a:spLocks noChangeArrowheads="1"/>
          </p:cNvSpPr>
          <p:nvPr/>
        </p:nvSpPr>
        <p:spPr bwMode="auto">
          <a:xfrm>
            <a:off x="2874962" y="1978025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 dirty="0">
                <a:latin typeface="Tahoma" charset="0"/>
              </a:rPr>
              <a:t>G06</a:t>
            </a:r>
          </a:p>
        </p:txBody>
      </p:sp>
      <p:sp>
        <p:nvSpPr>
          <p:cNvPr id="2103" name="Text Box 63"/>
          <p:cNvSpPr txBox="1">
            <a:spLocks noChangeArrowheads="1"/>
          </p:cNvSpPr>
          <p:nvPr/>
        </p:nvSpPr>
        <p:spPr bwMode="auto">
          <a:xfrm>
            <a:off x="3252788" y="2133600"/>
            <a:ext cx="422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G05</a:t>
            </a:r>
          </a:p>
        </p:txBody>
      </p:sp>
      <p:sp useBgFill="1">
        <p:nvSpPr>
          <p:cNvPr id="2104" name="Rectangle 70"/>
          <p:cNvSpPr>
            <a:spLocks noChangeArrowheads="1"/>
          </p:cNvSpPr>
          <p:nvPr/>
        </p:nvSpPr>
        <p:spPr bwMode="auto">
          <a:xfrm>
            <a:off x="7229475" y="647700"/>
            <a:ext cx="1476375" cy="60007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latin typeface="Tahoma" charset="0"/>
              </a:rPr>
              <a:t>N </a:t>
            </a:r>
          </a:p>
        </p:txBody>
      </p:sp>
      <p:sp>
        <p:nvSpPr>
          <p:cNvPr id="2105" name="Text Box 71"/>
          <p:cNvSpPr txBox="1">
            <a:spLocks noChangeArrowheads="1"/>
          </p:cNvSpPr>
          <p:nvPr/>
        </p:nvSpPr>
        <p:spPr bwMode="auto">
          <a:xfrm>
            <a:off x="5729288" y="2330450"/>
            <a:ext cx="3284537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u="sng">
                <a:latin typeface="Tahoma" charset="0"/>
              </a:rPr>
              <a:t>LOWER LEVEL &amp; GROUND FLOOR</a:t>
            </a:r>
            <a:endParaRPr lang="en-US" altLang="en-US" sz="1600" b="1">
              <a:latin typeface="Tahoma" charset="0"/>
            </a:endParaRPr>
          </a:p>
        </p:txBody>
      </p:sp>
      <p:sp>
        <p:nvSpPr>
          <p:cNvPr id="2106" name="Text Box 72"/>
          <p:cNvSpPr txBox="1">
            <a:spLocks noChangeArrowheads="1"/>
          </p:cNvSpPr>
          <p:nvPr/>
        </p:nvSpPr>
        <p:spPr bwMode="auto">
          <a:xfrm>
            <a:off x="4495800" y="3479800"/>
            <a:ext cx="650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700" b="1" dirty="0">
                <a:solidFill>
                  <a:srgbClr val="FF0000"/>
                </a:solidFill>
                <a:latin typeface="Tahoma" charset="0"/>
              </a:rPr>
              <a:t>RAINBOW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700" b="1" dirty="0">
                <a:solidFill>
                  <a:srgbClr val="FF0000"/>
                </a:solidFill>
                <a:latin typeface="Tahoma" charset="0"/>
              </a:rPr>
              <a:t>AREA</a:t>
            </a:r>
            <a:endParaRPr lang="en-US" altLang="en-US" sz="700" b="1" dirty="0">
              <a:latin typeface="Tahoma" charset="0"/>
            </a:endParaRPr>
          </a:p>
        </p:txBody>
      </p:sp>
      <p:sp>
        <p:nvSpPr>
          <p:cNvPr id="2107" name="Text Box 73"/>
          <p:cNvSpPr txBox="1">
            <a:spLocks noChangeArrowheads="1"/>
          </p:cNvSpPr>
          <p:nvPr/>
        </p:nvSpPr>
        <p:spPr bwMode="auto">
          <a:xfrm>
            <a:off x="3160713" y="195263"/>
            <a:ext cx="2833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latin typeface="Tahoma" charset="0"/>
              </a:rPr>
              <a:t>HISTORIC DRIVE</a:t>
            </a:r>
          </a:p>
        </p:txBody>
      </p:sp>
      <p:sp>
        <p:nvSpPr>
          <p:cNvPr id="2108" name="Line 75"/>
          <p:cNvSpPr>
            <a:spLocks noChangeShapeType="1"/>
          </p:cNvSpPr>
          <p:nvPr/>
        </p:nvSpPr>
        <p:spPr bwMode="auto">
          <a:xfrm>
            <a:off x="7439025" y="1295400"/>
            <a:ext cx="74295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9" name="Text Box 76"/>
          <p:cNvSpPr txBox="1">
            <a:spLocks noChangeArrowheads="1"/>
          </p:cNvSpPr>
          <p:nvPr/>
        </p:nvSpPr>
        <p:spPr bwMode="auto">
          <a:xfrm rot="5400000">
            <a:off x="7666831" y="4566444"/>
            <a:ext cx="2497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latin typeface="Tahoma" charset="0"/>
              </a:rPr>
              <a:t>SIX MILE LANE</a:t>
            </a:r>
          </a:p>
        </p:txBody>
      </p:sp>
      <p:sp>
        <p:nvSpPr>
          <p:cNvPr id="2110" name="Text Box 83"/>
          <p:cNvSpPr txBox="1">
            <a:spLocks noChangeArrowheads="1"/>
          </p:cNvSpPr>
          <p:nvPr/>
        </p:nvSpPr>
        <p:spPr bwMode="auto">
          <a:xfrm>
            <a:off x="2543175" y="1393825"/>
            <a:ext cx="736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b="1">
                <a:solidFill>
                  <a:srgbClr val="FF0000"/>
                </a:solidFill>
                <a:latin typeface="Tahoma" charset="0"/>
              </a:rPr>
              <a:t>NARTHEX</a:t>
            </a:r>
          </a:p>
        </p:txBody>
      </p:sp>
      <p:sp>
        <p:nvSpPr>
          <p:cNvPr id="2111" name="Text Box 84"/>
          <p:cNvSpPr txBox="1">
            <a:spLocks noChangeArrowheads="1"/>
          </p:cNvSpPr>
          <p:nvPr/>
        </p:nvSpPr>
        <p:spPr bwMode="auto">
          <a:xfrm>
            <a:off x="6215063" y="1890713"/>
            <a:ext cx="742950" cy="23971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ELEVATOR</a:t>
            </a:r>
          </a:p>
        </p:txBody>
      </p:sp>
      <p:sp>
        <p:nvSpPr>
          <p:cNvPr id="2112" name="Line 85"/>
          <p:cNvSpPr>
            <a:spLocks noChangeShapeType="1"/>
          </p:cNvSpPr>
          <p:nvPr/>
        </p:nvSpPr>
        <p:spPr bwMode="auto">
          <a:xfrm flipH="1" flipV="1">
            <a:off x="5553075" y="1733550"/>
            <a:ext cx="676275" cy="161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3" name="Rectangle 86"/>
          <p:cNvSpPr>
            <a:spLocks noChangeArrowheads="1"/>
          </p:cNvSpPr>
          <p:nvPr/>
        </p:nvSpPr>
        <p:spPr bwMode="auto">
          <a:xfrm>
            <a:off x="1058862" y="5798343"/>
            <a:ext cx="1493838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>
                <a:solidFill>
                  <a:srgbClr val="FF0000"/>
                </a:solidFill>
                <a:latin typeface="Tahoma" charset="0"/>
              </a:rPr>
              <a:t>NEW  FELLOWSHIP  HALL</a:t>
            </a:r>
          </a:p>
        </p:txBody>
      </p:sp>
      <p:sp useBgFill="1">
        <p:nvSpPr>
          <p:cNvPr id="2114" name="Rectangle 88"/>
          <p:cNvSpPr>
            <a:spLocks noChangeArrowheads="1"/>
          </p:cNvSpPr>
          <p:nvPr/>
        </p:nvSpPr>
        <p:spPr bwMode="auto">
          <a:xfrm>
            <a:off x="4152900" y="5133975"/>
            <a:ext cx="228600" cy="13335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115" name="Text Box 87"/>
          <p:cNvSpPr txBox="1">
            <a:spLocks noChangeArrowheads="1"/>
          </p:cNvSpPr>
          <p:nvPr/>
        </p:nvSpPr>
        <p:spPr bwMode="auto">
          <a:xfrm>
            <a:off x="4075113" y="5086350"/>
            <a:ext cx="4206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600" b="1">
              <a:solidFill>
                <a:srgbClr val="FF0000"/>
              </a:solidFill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LL01</a:t>
            </a:r>
          </a:p>
        </p:txBody>
      </p:sp>
      <p:sp useBgFill="1">
        <p:nvSpPr>
          <p:cNvPr id="2116" name="Rectangle 90"/>
          <p:cNvSpPr>
            <a:spLocks noChangeArrowheads="1"/>
          </p:cNvSpPr>
          <p:nvPr/>
        </p:nvSpPr>
        <p:spPr bwMode="auto">
          <a:xfrm>
            <a:off x="5191125" y="5219700"/>
            <a:ext cx="238125" cy="13335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117" name="Text Box 89"/>
          <p:cNvSpPr txBox="1">
            <a:spLocks noChangeArrowheads="1"/>
          </p:cNvSpPr>
          <p:nvPr/>
        </p:nvSpPr>
        <p:spPr bwMode="auto">
          <a:xfrm>
            <a:off x="5095875" y="5086350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LL04A</a:t>
            </a:r>
          </a:p>
        </p:txBody>
      </p:sp>
      <p:sp>
        <p:nvSpPr>
          <p:cNvPr id="2118" name="Text Box 91"/>
          <p:cNvSpPr txBox="1">
            <a:spLocks noChangeArrowheads="1"/>
          </p:cNvSpPr>
          <p:nvPr/>
        </p:nvSpPr>
        <p:spPr bwMode="auto">
          <a:xfrm>
            <a:off x="7175500" y="182403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sp>
        <p:nvSpPr>
          <p:cNvPr id="2119" name="Rectangle 94"/>
          <p:cNvSpPr>
            <a:spLocks noChangeArrowheads="1"/>
          </p:cNvSpPr>
          <p:nvPr/>
        </p:nvSpPr>
        <p:spPr bwMode="auto">
          <a:xfrm>
            <a:off x="285750" y="5064125"/>
            <a:ext cx="652463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KITCHEN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34075" y="676275"/>
            <a:ext cx="71437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A-1</a:t>
            </a:r>
          </a:p>
        </p:txBody>
      </p:sp>
      <p:cxnSp>
        <p:nvCxnSpPr>
          <p:cNvPr id="74" name="Straight Arrow Connector 73"/>
          <p:cNvCxnSpPr/>
          <p:nvPr/>
        </p:nvCxnSpPr>
        <p:spPr bwMode="auto">
          <a:xfrm flipH="1">
            <a:off x="5781675" y="819150"/>
            <a:ext cx="285750" cy="952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286500" y="1200150"/>
            <a:ext cx="79057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A-2</a:t>
            </a:r>
          </a:p>
        </p:txBody>
      </p:sp>
      <p:cxnSp>
        <p:nvCxnSpPr>
          <p:cNvPr id="2123" name="Straight Arrow Connector 76"/>
          <p:cNvCxnSpPr>
            <a:cxnSpLocks noChangeShapeType="1"/>
            <a:stCxn id="75" idx="1"/>
          </p:cNvCxnSpPr>
          <p:nvPr/>
        </p:nvCxnSpPr>
        <p:spPr bwMode="auto">
          <a:xfrm flipH="1">
            <a:off x="5991225" y="1384300"/>
            <a:ext cx="295275" cy="73025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</p:cxnSp>
      <p:cxnSp>
        <p:nvCxnSpPr>
          <p:cNvPr id="79" name="Straight Arrow Connector 78"/>
          <p:cNvCxnSpPr>
            <a:stCxn id="75" idx="1"/>
          </p:cNvCxnSpPr>
          <p:nvPr/>
        </p:nvCxnSpPr>
        <p:spPr bwMode="auto">
          <a:xfrm flipH="1">
            <a:off x="5981700" y="1384300"/>
            <a:ext cx="304800" cy="1016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943725" y="5905500"/>
            <a:ext cx="71437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B-2</a:t>
            </a:r>
          </a:p>
        </p:txBody>
      </p:sp>
      <p:cxnSp>
        <p:nvCxnSpPr>
          <p:cNvPr id="82" name="Straight Arrow Connector 81"/>
          <p:cNvCxnSpPr/>
          <p:nvPr/>
        </p:nvCxnSpPr>
        <p:spPr bwMode="auto">
          <a:xfrm flipV="1">
            <a:off x="7448550" y="5715000"/>
            <a:ext cx="257175" cy="31432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848600" y="5867400"/>
            <a:ext cx="762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B-1</a:t>
            </a:r>
          </a:p>
        </p:txBody>
      </p:sp>
      <p:cxnSp>
        <p:nvCxnSpPr>
          <p:cNvPr id="85" name="Straight Arrow Connector 84"/>
          <p:cNvCxnSpPr/>
          <p:nvPr/>
        </p:nvCxnSpPr>
        <p:spPr bwMode="auto">
          <a:xfrm flipV="1">
            <a:off x="8134350" y="5686425"/>
            <a:ext cx="209550" cy="24765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14300" y="6216650"/>
            <a:ext cx="647700" cy="3698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C-1</a:t>
            </a:r>
          </a:p>
        </p:txBody>
      </p:sp>
      <p:cxnSp>
        <p:nvCxnSpPr>
          <p:cNvPr id="88" name="Straight Arrow Connector 87"/>
          <p:cNvCxnSpPr>
            <a:stCxn id="86" idx="1"/>
          </p:cNvCxnSpPr>
          <p:nvPr/>
        </p:nvCxnSpPr>
        <p:spPr bwMode="auto">
          <a:xfrm flipV="1">
            <a:off x="114300" y="5335590"/>
            <a:ext cx="26988" cy="106600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52425" y="4552950"/>
            <a:ext cx="6191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C-2</a:t>
            </a:r>
          </a:p>
        </p:txBody>
      </p:sp>
      <p:cxnSp>
        <p:nvCxnSpPr>
          <p:cNvPr id="91" name="Straight Arrow Connector 90"/>
          <p:cNvCxnSpPr/>
          <p:nvPr/>
        </p:nvCxnSpPr>
        <p:spPr bwMode="auto">
          <a:xfrm flipH="1">
            <a:off x="209550" y="4762500"/>
            <a:ext cx="228600" cy="762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51126" y="1647825"/>
            <a:ext cx="67627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C-3</a:t>
            </a:r>
          </a:p>
        </p:txBody>
      </p:sp>
      <p:cxnSp>
        <p:nvCxnSpPr>
          <p:cNvPr id="2134" name="Straight Arrow Connector 93"/>
          <p:cNvCxnSpPr>
            <a:cxnSpLocks noChangeShapeType="1"/>
          </p:cNvCxnSpPr>
          <p:nvPr/>
        </p:nvCxnSpPr>
        <p:spPr bwMode="auto">
          <a:xfrm flipH="1" flipV="1">
            <a:off x="1295400" y="2047875"/>
            <a:ext cx="314325" cy="57150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</p:cxnSp>
      <p:cxnSp>
        <p:nvCxnSpPr>
          <p:cNvPr id="97" name="Straight Arrow Connector 96"/>
          <p:cNvCxnSpPr>
            <a:stCxn id="92" idx="2"/>
          </p:cNvCxnSpPr>
          <p:nvPr/>
        </p:nvCxnSpPr>
        <p:spPr bwMode="auto">
          <a:xfrm>
            <a:off x="1089264" y="2017713"/>
            <a:ext cx="271462" cy="2111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657225" y="1076325"/>
            <a:ext cx="5715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C-4</a:t>
            </a:r>
          </a:p>
        </p:txBody>
      </p:sp>
      <p:cxnSp>
        <p:nvCxnSpPr>
          <p:cNvPr id="100" name="Straight Arrow Connector 99"/>
          <p:cNvCxnSpPr>
            <a:stCxn id="98" idx="3"/>
          </p:cNvCxnSpPr>
          <p:nvPr/>
        </p:nvCxnSpPr>
        <p:spPr bwMode="auto">
          <a:xfrm>
            <a:off x="1228725" y="1260475"/>
            <a:ext cx="171450" cy="19685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19075" y="1676400"/>
            <a:ext cx="5905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D-1</a:t>
            </a:r>
          </a:p>
        </p:txBody>
      </p:sp>
      <p:cxnSp>
        <p:nvCxnSpPr>
          <p:cNvPr id="103" name="Straight Arrow Connector 102"/>
          <p:cNvCxnSpPr/>
          <p:nvPr/>
        </p:nvCxnSpPr>
        <p:spPr bwMode="auto">
          <a:xfrm>
            <a:off x="438150" y="1981200"/>
            <a:ext cx="28575" cy="2952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143125" y="685800"/>
            <a:ext cx="6286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D-2</a:t>
            </a:r>
          </a:p>
        </p:txBody>
      </p:sp>
      <p:cxnSp>
        <p:nvCxnSpPr>
          <p:cNvPr id="106" name="Straight Arrow Connector 105"/>
          <p:cNvCxnSpPr/>
          <p:nvPr/>
        </p:nvCxnSpPr>
        <p:spPr bwMode="auto">
          <a:xfrm>
            <a:off x="2428875" y="933450"/>
            <a:ext cx="180975" cy="17145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2828925" y="609600"/>
            <a:ext cx="1323975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D-3</a:t>
            </a:r>
          </a:p>
          <a:p>
            <a:pPr>
              <a:defRPr/>
            </a:pPr>
            <a:r>
              <a:rPr lang="en-US" sz="12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Main Entrance</a:t>
            </a:r>
          </a:p>
        </p:txBody>
      </p:sp>
      <p:cxnSp>
        <p:nvCxnSpPr>
          <p:cNvPr id="109" name="Straight Arrow Connector 108"/>
          <p:cNvCxnSpPr/>
          <p:nvPr/>
        </p:nvCxnSpPr>
        <p:spPr bwMode="auto">
          <a:xfrm>
            <a:off x="3457575" y="809625"/>
            <a:ext cx="800100" cy="23812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44" name="TextBox 109"/>
          <p:cNvSpPr txBox="1">
            <a:spLocks noChangeArrowheads="1"/>
          </p:cNvSpPr>
          <p:nvPr/>
        </p:nvSpPr>
        <p:spPr bwMode="auto">
          <a:xfrm>
            <a:off x="285750" y="247650"/>
            <a:ext cx="23145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charset="0"/>
                <a:cs typeface="Arial" charset="0"/>
              </a:rPr>
              <a:t>West Broadway Baptist Church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charset="0"/>
                <a:cs typeface="Arial" charset="0"/>
              </a:rPr>
              <a:t>8420 Six Mile Ln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charset="0"/>
                <a:cs typeface="Arial" charset="0"/>
              </a:rPr>
              <a:t>502-491-1920</a:t>
            </a:r>
          </a:p>
        </p:txBody>
      </p:sp>
      <p:pic>
        <p:nvPicPr>
          <p:cNvPr id="2145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1749425"/>
            <a:ext cx="30956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6" name="Picture 9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613" y="2163763"/>
            <a:ext cx="309562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7" name="Picture 10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377" y="5021898"/>
            <a:ext cx="209808" cy="18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8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055" y="2162175"/>
            <a:ext cx="239713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9" name="Picture 10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613" y="2228850"/>
            <a:ext cx="239712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" name="Picture 10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4718050"/>
            <a:ext cx="239713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812" y="1508125"/>
            <a:ext cx="307975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" name="Picture 1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241" y="5210175"/>
            <a:ext cx="184016" cy="18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" name="Picture 1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5321299"/>
            <a:ext cx="25717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71450" y="5743903"/>
            <a:ext cx="719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</a:t>
            </a:r>
          </a:p>
          <a:p>
            <a:pPr algn="ctr"/>
            <a:r>
              <a:rPr lang="en-US" sz="800" b="1" dirty="0" smtClean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GAS</a:t>
            </a:r>
          </a:p>
          <a:p>
            <a:pPr algn="ctr"/>
            <a:r>
              <a:rPr lang="en-US" sz="800" b="1" dirty="0" smtClean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SHUTOFF</a:t>
            </a:r>
            <a:endParaRPr lang="en-US" sz="800" b="1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95976" y="2514600"/>
            <a:ext cx="1390124" cy="2154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800" b="1" dirty="0" smtClean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 WATER SHUTOFF</a:t>
            </a:r>
            <a:endParaRPr lang="en-US" sz="800" b="1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 flipV="1">
            <a:off x="2200275" y="2381250"/>
            <a:ext cx="0" cy="123825"/>
          </a:xfrm>
          <a:prstGeom prst="straightConnector1">
            <a:avLst/>
          </a:prstGeom>
          <a:ln w="22225"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5" name="Picture 10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588" y="5922033"/>
            <a:ext cx="296863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" name="Picture 10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162" y="6221307"/>
            <a:ext cx="239713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" name="Picture 1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162" y="6475277"/>
            <a:ext cx="25717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7"/>
          <p:cNvSpPr txBox="1"/>
          <p:nvPr/>
        </p:nvSpPr>
        <p:spPr>
          <a:xfrm>
            <a:off x="4610894" y="5972546"/>
            <a:ext cx="15454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ELECTRICAL PANEL(S)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10894" y="6237152"/>
            <a:ext cx="15454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smtClean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 SHUTOFF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10894" y="6515421"/>
            <a:ext cx="15454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AID KIT</a:t>
            </a:r>
          </a:p>
        </p:txBody>
      </p:sp>
      <p:pic>
        <p:nvPicPr>
          <p:cNvPr id="121" name="Picture 1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843" y="2114550"/>
            <a:ext cx="25717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 bwMode="auto">
          <a:xfrm>
            <a:off x="4206082" y="5874408"/>
            <a:ext cx="1788318" cy="91440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cxnSp>
        <p:nvCxnSpPr>
          <p:cNvPr id="123" name="Straight Arrow Connector 122"/>
          <p:cNvCxnSpPr/>
          <p:nvPr/>
        </p:nvCxnSpPr>
        <p:spPr bwMode="auto">
          <a:xfrm flipH="1">
            <a:off x="5694363" y="1662906"/>
            <a:ext cx="640080" cy="1349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7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7" y="2532063"/>
            <a:ext cx="239713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" name="TextBox 127"/>
          <p:cNvSpPr txBox="1"/>
          <p:nvPr/>
        </p:nvSpPr>
        <p:spPr>
          <a:xfrm>
            <a:off x="533663" y="2882444"/>
            <a:ext cx="1111202" cy="33855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 SPRINKLER</a:t>
            </a:r>
          </a:p>
          <a:p>
            <a:r>
              <a:rPr lang="en-US" sz="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 SHUTOFF</a:t>
            </a:r>
            <a:endParaRPr lang="en-US" sz="8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5" name="Straight Arrow Connector 14"/>
          <p:cNvCxnSpPr>
            <a:stCxn id="128" idx="0"/>
          </p:cNvCxnSpPr>
          <p:nvPr/>
        </p:nvCxnSpPr>
        <p:spPr bwMode="auto">
          <a:xfrm flipH="1" flipV="1">
            <a:off x="533663" y="2651919"/>
            <a:ext cx="555601" cy="23052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Line 1062"/>
          <p:cNvSpPr>
            <a:spLocks noChangeShapeType="1"/>
          </p:cNvSpPr>
          <p:nvPr/>
        </p:nvSpPr>
        <p:spPr bwMode="auto">
          <a:xfrm flipH="1" flipV="1">
            <a:off x="4075112" y="2370138"/>
            <a:ext cx="1814511" cy="89852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Text Box 1061"/>
          <p:cNvSpPr txBox="1">
            <a:spLocks noChangeArrowheads="1"/>
          </p:cNvSpPr>
          <p:nvPr/>
        </p:nvSpPr>
        <p:spPr bwMode="auto">
          <a:xfrm>
            <a:off x="5889625" y="3244850"/>
            <a:ext cx="1103314" cy="33855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 smtClean="0">
                <a:solidFill>
                  <a:srgbClr val="FF0000"/>
                </a:solidFill>
                <a:latin typeface="Tahoma" charset="0"/>
              </a:rPr>
              <a:t>FIRE SYSTEM MAIN PANEL</a:t>
            </a:r>
            <a:endParaRPr lang="en-US" altLang="en-US" sz="800" b="1" dirty="0">
              <a:solidFill>
                <a:srgbClr val="FF0000"/>
              </a:solidFill>
              <a:latin typeface="Tahoma" charset="0"/>
            </a:endParaRPr>
          </a:p>
        </p:txBody>
      </p:sp>
      <p:sp>
        <p:nvSpPr>
          <p:cNvPr id="133" name="Line 1062"/>
          <p:cNvSpPr>
            <a:spLocks noChangeShapeType="1"/>
          </p:cNvSpPr>
          <p:nvPr/>
        </p:nvSpPr>
        <p:spPr bwMode="auto">
          <a:xfrm flipH="1" flipV="1">
            <a:off x="1547812" y="1200149"/>
            <a:ext cx="400843" cy="9524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Text Box 1061"/>
          <p:cNvSpPr txBox="1">
            <a:spLocks noChangeArrowheads="1"/>
          </p:cNvSpPr>
          <p:nvPr/>
        </p:nvSpPr>
        <p:spPr bwMode="auto">
          <a:xfrm>
            <a:off x="1970088" y="1177925"/>
            <a:ext cx="1861342" cy="21544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 smtClean="0">
                <a:solidFill>
                  <a:srgbClr val="FF0000"/>
                </a:solidFill>
                <a:latin typeface="Tahoma" charset="0"/>
              </a:rPr>
              <a:t>FIRE SYSTEM REMOTE PANEL</a:t>
            </a:r>
            <a:endParaRPr lang="en-US" altLang="en-US" sz="800" b="1" dirty="0">
              <a:solidFill>
                <a:srgbClr val="FF0000"/>
              </a:solidFill>
              <a:latin typeface="Tahoma" charset="0"/>
            </a:endParaRPr>
          </a:p>
        </p:txBody>
      </p:sp>
      <p:sp>
        <p:nvSpPr>
          <p:cNvPr id="135" name="Line 1062"/>
          <p:cNvSpPr>
            <a:spLocks noChangeShapeType="1"/>
          </p:cNvSpPr>
          <p:nvPr/>
        </p:nvSpPr>
        <p:spPr bwMode="auto">
          <a:xfrm flipH="1" flipV="1">
            <a:off x="4010023" y="5449093"/>
            <a:ext cx="1719264" cy="28495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Text Box 1061"/>
          <p:cNvSpPr txBox="1">
            <a:spLocks noChangeArrowheads="1"/>
          </p:cNvSpPr>
          <p:nvPr/>
        </p:nvSpPr>
        <p:spPr bwMode="auto">
          <a:xfrm>
            <a:off x="5694363" y="5593674"/>
            <a:ext cx="1690687" cy="215444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 smtClean="0">
                <a:latin typeface="Tahoma" charset="0"/>
              </a:rPr>
              <a:t>MAIN ELECTRICAL PANEL</a:t>
            </a:r>
            <a:endParaRPr lang="en-US" altLang="en-US" sz="800" b="1" dirty="0">
              <a:latin typeface="Tahoma" charset="0"/>
            </a:endParaRPr>
          </a:p>
        </p:txBody>
      </p:sp>
      <p:pic>
        <p:nvPicPr>
          <p:cNvPr id="137" name="Picture 10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485" y="5734050"/>
            <a:ext cx="182880" cy="15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" name="TextBox 137"/>
          <p:cNvSpPr txBox="1"/>
          <p:nvPr/>
        </p:nvSpPr>
        <p:spPr>
          <a:xfrm>
            <a:off x="3608386" y="6131980"/>
            <a:ext cx="8477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B-4</a:t>
            </a:r>
          </a:p>
        </p:txBody>
      </p:sp>
      <p:cxnSp>
        <p:nvCxnSpPr>
          <p:cNvPr id="139" name="Straight Arrow Connector 138"/>
          <p:cNvCxnSpPr/>
          <p:nvPr/>
        </p:nvCxnSpPr>
        <p:spPr bwMode="auto">
          <a:xfrm flipH="1" flipV="1">
            <a:off x="3751261" y="5827180"/>
            <a:ext cx="57150" cy="3429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2076976" y="6329624"/>
            <a:ext cx="1314784" cy="2154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800" b="1" dirty="0" smtClean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SEWER LIFT STATION</a:t>
            </a:r>
            <a:endParaRPr lang="en-US" sz="800" b="1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41" name="Straight Arrow Connector 140"/>
          <p:cNvCxnSpPr/>
          <p:nvPr/>
        </p:nvCxnSpPr>
        <p:spPr bwMode="auto">
          <a:xfrm flipV="1">
            <a:off x="2997994" y="5905500"/>
            <a:ext cx="421481" cy="411424"/>
          </a:xfrm>
          <a:prstGeom prst="straightConnector1">
            <a:avLst/>
          </a:prstGeom>
          <a:ln w="22225"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0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847725"/>
            <a:ext cx="8829675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6953250" y="4810125"/>
            <a:ext cx="495300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76" name="Text Box 1028"/>
          <p:cNvSpPr txBox="1">
            <a:spLocks noChangeArrowheads="1"/>
          </p:cNvSpPr>
          <p:nvPr/>
        </p:nvSpPr>
        <p:spPr bwMode="auto">
          <a:xfrm>
            <a:off x="6765925" y="4757738"/>
            <a:ext cx="8128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SANCTUARY</a:t>
            </a:r>
          </a:p>
        </p:txBody>
      </p:sp>
      <p:sp>
        <p:nvSpPr>
          <p:cNvPr id="3077" name="Text Box 1029"/>
          <p:cNvSpPr txBox="1">
            <a:spLocks noChangeArrowheads="1"/>
          </p:cNvSpPr>
          <p:nvPr/>
        </p:nvSpPr>
        <p:spPr bwMode="auto">
          <a:xfrm>
            <a:off x="4527551" y="3155158"/>
            <a:ext cx="5302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>
                <a:solidFill>
                  <a:srgbClr val="FF0000"/>
                </a:solidFill>
                <a:latin typeface="Tahoma" charset="0"/>
              </a:rPr>
              <a:t>OLD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>
                <a:solidFill>
                  <a:srgbClr val="FF0000"/>
                </a:solidFill>
                <a:latin typeface="Tahoma" charset="0"/>
              </a:rPr>
              <a:t>CHOIR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>
                <a:solidFill>
                  <a:srgbClr val="FF0000"/>
                </a:solidFill>
                <a:latin typeface="Tahoma" charset="0"/>
              </a:rPr>
              <a:t>ROOM</a:t>
            </a:r>
          </a:p>
        </p:txBody>
      </p:sp>
      <p:sp>
        <p:nvSpPr>
          <p:cNvPr id="3078" name="Rectangle 1030"/>
          <p:cNvSpPr>
            <a:spLocks noChangeArrowheads="1"/>
          </p:cNvSpPr>
          <p:nvPr/>
        </p:nvSpPr>
        <p:spPr bwMode="auto">
          <a:xfrm>
            <a:off x="600075" y="5057775"/>
            <a:ext cx="247650" cy="180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79" name="Rectangle 1031"/>
          <p:cNvSpPr>
            <a:spLocks noChangeArrowheads="1"/>
          </p:cNvSpPr>
          <p:nvPr/>
        </p:nvSpPr>
        <p:spPr bwMode="auto">
          <a:xfrm>
            <a:off x="304800" y="5391150"/>
            <a:ext cx="171450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0" name="Rectangle 1032"/>
          <p:cNvSpPr>
            <a:spLocks noChangeArrowheads="1"/>
          </p:cNvSpPr>
          <p:nvPr/>
        </p:nvSpPr>
        <p:spPr bwMode="auto">
          <a:xfrm>
            <a:off x="1152525" y="5543550"/>
            <a:ext cx="238125" cy="10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1" name="Rectangle 1033"/>
          <p:cNvSpPr>
            <a:spLocks noChangeArrowheads="1"/>
          </p:cNvSpPr>
          <p:nvPr/>
        </p:nvSpPr>
        <p:spPr bwMode="auto">
          <a:xfrm>
            <a:off x="1704975" y="5524500"/>
            <a:ext cx="209550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2" name="Rectangle 1034"/>
          <p:cNvSpPr>
            <a:spLocks noChangeArrowheads="1"/>
          </p:cNvSpPr>
          <p:nvPr/>
        </p:nvSpPr>
        <p:spPr bwMode="auto">
          <a:xfrm>
            <a:off x="1397000" y="4943475"/>
            <a:ext cx="88900" cy="657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3" name="Rectangle 1035"/>
          <p:cNvSpPr>
            <a:spLocks noChangeArrowheads="1"/>
          </p:cNvSpPr>
          <p:nvPr/>
        </p:nvSpPr>
        <p:spPr bwMode="auto">
          <a:xfrm>
            <a:off x="2066925" y="4924425"/>
            <a:ext cx="88900" cy="619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4" name="Rectangle 1036"/>
          <p:cNvSpPr>
            <a:spLocks noChangeArrowheads="1"/>
          </p:cNvSpPr>
          <p:nvPr/>
        </p:nvSpPr>
        <p:spPr bwMode="auto">
          <a:xfrm>
            <a:off x="1323975" y="5800725"/>
            <a:ext cx="895350" cy="161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5" name="Rectangle 1037"/>
          <p:cNvSpPr>
            <a:spLocks noChangeArrowheads="1"/>
          </p:cNvSpPr>
          <p:nvPr/>
        </p:nvSpPr>
        <p:spPr bwMode="auto">
          <a:xfrm>
            <a:off x="2286000" y="5429250"/>
            <a:ext cx="180975" cy="10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6" name="Rectangle 1038"/>
          <p:cNvSpPr>
            <a:spLocks noChangeArrowheads="1"/>
          </p:cNvSpPr>
          <p:nvPr/>
        </p:nvSpPr>
        <p:spPr bwMode="auto">
          <a:xfrm>
            <a:off x="2457450" y="2219325"/>
            <a:ext cx="209550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7" name="Rectangle 1039"/>
          <p:cNvSpPr>
            <a:spLocks noChangeArrowheads="1"/>
          </p:cNvSpPr>
          <p:nvPr/>
        </p:nvSpPr>
        <p:spPr bwMode="auto">
          <a:xfrm>
            <a:off x="2105025" y="1752600"/>
            <a:ext cx="152400" cy="114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8" name="Rectangle 1040"/>
          <p:cNvSpPr>
            <a:spLocks noChangeArrowheads="1"/>
          </p:cNvSpPr>
          <p:nvPr/>
        </p:nvSpPr>
        <p:spPr bwMode="auto">
          <a:xfrm>
            <a:off x="2762250" y="1733550"/>
            <a:ext cx="323850" cy="123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9" name="Rectangle 1041"/>
          <p:cNvSpPr>
            <a:spLocks noChangeArrowheads="1"/>
          </p:cNvSpPr>
          <p:nvPr/>
        </p:nvSpPr>
        <p:spPr bwMode="auto">
          <a:xfrm>
            <a:off x="3048000" y="2324100"/>
            <a:ext cx="152400" cy="95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90" name="Rectangle 1042"/>
          <p:cNvSpPr>
            <a:spLocks noChangeArrowheads="1"/>
          </p:cNvSpPr>
          <p:nvPr/>
        </p:nvSpPr>
        <p:spPr bwMode="auto">
          <a:xfrm>
            <a:off x="3438525" y="1762125"/>
            <a:ext cx="152400" cy="95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91" name="Rectangle 1043"/>
          <p:cNvSpPr>
            <a:spLocks noChangeArrowheads="1"/>
          </p:cNvSpPr>
          <p:nvPr/>
        </p:nvSpPr>
        <p:spPr bwMode="auto">
          <a:xfrm>
            <a:off x="3409950" y="2219325"/>
            <a:ext cx="152400" cy="133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92" name="Text Box 1045"/>
          <p:cNvSpPr txBox="1">
            <a:spLocks noChangeArrowheads="1"/>
          </p:cNvSpPr>
          <p:nvPr/>
        </p:nvSpPr>
        <p:spPr bwMode="auto">
          <a:xfrm>
            <a:off x="2314575" y="2133600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206</a:t>
            </a:r>
          </a:p>
        </p:txBody>
      </p:sp>
      <p:sp>
        <p:nvSpPr>
          <p:cNvPr id="3093" name="Text Box 1046"/>
          <p:cNvSpPr txBox="1">
            <a:spLocks noChangeArrowheads="1"/>
          </p:cNvSpPr>
          <p:nvPr/>
        </p:nvSpPr>
        <p:spPr bwMode="auto">
          <a:xfrm>
            <a:off x="3324225" y="2171700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207</a:t>
            </a:r>
          </a:p>
        </p:txBody>
      </p:sp>
      <p:sp>
        <p:nvSpPr>
          <p:cNvPr id="3094" name="Text Box 1047"/>
          <p:cNvSpPr txBox="1">
            <a:spLocks noChangeArrowheads="1"/>
          </p:cNvSpPr>
          <p:nvPr/>
        </p:nvSpPr>
        <p:spPr bwMode="auto">
          <a:xfrm>
            <a:off x="3314700" y="16668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203</a:t>
            </a:r>
          </a:p>
        </p:txBody>
      </p:sp>
      <p:sp>
        <p:nvSpPr>
          <p:cNvPr id="3095" name="Text Box 1048"/>
          <p:cNvSpPr txBox="1">
            <a:spLocks noChangeArrowheads="1"/>
          </p:cNvSpPr>
          <p:nvPr/>
        </p:nvSpPr>
        <p:spPr bwMode="auto">
          <a:xfrm>
            <a:off x="2676525" y="16668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202</a:t>
            </a:r>
          </a:p>
        </p:txBody>
      </p:sp>
      <p:sp>
        <p:nvSpPr>
          <p:cNvPr id="3096" name="Text Box 1049"/>
          <p:cNvSpPr txBox="1">
            <a:spLocks noChangeArrowheads="1"/>
          </p:cNvSpPr>
          <p:nvPr/>
        </p:nvSpPr>
        <p:spPr bwMode="auto">
          <a:xfrm>
            <a:off x="2000250" y="16668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201</a:t>
            </a:r>
          </a:p>
        </p:txBody>
      </p:sp>
      <p:sp>
        <p:nvSpPr>
          <p:cNvPr id="3097" name="Text Box 1050"/>
          <p:cNvSpPr txBox="1">
            <a:spLocks noChangeArrowheads="1"/>
          </p:cNvSpPr>
          <p:nvPr/>
        </p:nvSpPr>
        <p:spPr bwMode="auto">
          <a:xfrm>
            <a:off x="2924175" y="22383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206A</a:t>
            </a:r>
          </a:p>
        </p:txBody>
      </p:sp>
      <p:sp>
        <p:nvSpPr>
          <p:cNvPr id="3098" name="Text Box 1051"/>
          <p:cNvSpPr txBox="1">
            <a:spLocks noChangeArrowheads="1"/>
          </p:cNvSpPr>
          <p:nvPr/>
        </p:nvSpPr>
        <p:spPr bwMode="auto">
          <a:xfrm>
            <a:off x="447675" y="49815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211</a:t>
            </a:r>
          </a:p>
        </p:txBody>
      </p:sp>
      <p:sp>
        <p:nvSpPr>
          <p:cNvPr id="3099" name="Text Box 1052"/>
          <p:cNvSpPr txBox="1">
            <a:spLocks noChangeArrowheads="1"/>
          </p:cNvSpPr>
          <p:nvPr/>
        </p:nvSpPr>
        <p:spPr bwMode="auto">
          <a:xfrm>
            <a:off x="1047750" y="49815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210A</a:t>
            </a:r>
          </a:p>
        </p:txBody>
      </p:sp>
      <p:sp>
        <p:nvSpPr>
          <p:cNvPr id="3100" name="Text Box 1053"/>
          <p:cNvSpPr txBox="1">
            <a:spLocks noChangeArrowheads="1"/>
          </p:cNvSpPr>
          <p:nvPr/>
        </p:nvSpPr>
        <p:spPr bwMode="auto">
          <a:xfrm>
            <a:off x="1485900" y="49815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210B</a:t>
            </a:r>
          </a:p>
        </p:txBody>
      </p:sp>
      <p:sp>
        <p:nvSpPr>
          <p:cNvPr id="3101" name="Text Box 1054"/>
          <p:cNvSpPr txBox="1">
            <a:spLocks noChangeArrowheads="1"/>
          </p:cNvSpPr>
          <p:nvPr/>
        </p:nvSpPr>
        <p:spPr bwMode="auto">
          <a:xfrm>
            <a:off x="2076450" y="49815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210C</a:t>
            </a:r>
          </a:p>
        </p:txBody>
      </p:sp>
      <p:sp>
        <p:nvSpPr>
          <p:cNvPr id="3102" name="Text Box 1056"/>
          <p:cNvSpPr txBox="1">
            <a:spLocks noChangeArrowheads="1"/>
          </p:cNvSpPr>
          <p:nvPr/>
        </p:nvSpPr>
        <p:spPr bwMode="auto">
          <a:xfrm>
            <a:off x="171450" y="53244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211A</a:t>
            </a:r>
          </a:p>
        </p:txBody>
      </p:sp>
      <p:sp>
        <p:nvSpPr>
          <p:cNvPr id="3103" name="Text Box 1057"/>
          <p:cNvSpPr txBox="1">
            <a:spLocks noChangeArrowheads="1"/>
          </p:cNvSpPr>
          <p:nvPr/>
        </p:nvSpPr>
        <p:spPr bwMode="auto">
          <a:xfrm>
            <a:off x="2568575" y="1366838"/>
            <a:ext cx="12287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2</a:t>
            </a:r>
            <a:r>
              <a:rPr lang="en-US" altLang="en-US" sz="800" b="1" baseline="30000">
                <a:solidFill>
                  <a:srgbClr val="FF0000"/>
                </a:solidFill>
                <a:latin typeface="Tahoma" charset="0"/>
              </a:rPr>
              <a:t>nd</a:t>
            </a: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 FLOOR NARTHEX</a:t>
            </a:r>
          </a:p>
        </p:txBody>
      </p:sp>
      <p:sp>
        <p:nvSpPr>
          <p:cNvPr id="3104" name="Line 1062"/>
          <p:cNvSpPr>
            <a:spLocks noChangeShapeType="1"/>
          </p:cNvSpPr>
          <p:nvPr/>
        </p:nvSpPr>
        <p:spPr bwMode="auto">
          <a:xfrm flipH="1" flipV="1">
            <a:off x="5534025" y="1885950"/>
            <a:ext cx="314325" cy="4476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5" name="Rectangle 1063"/>
          <p:cNvSpPr>
            <a:spLocks noChangeArrowheads="1"/>
          </p:cNvSpPr>
          <p:nvPr/>
        </p:nvSpPr>
        <p:spPr bwMode="auto">
          <a:xfrm>
            <a:off x="6259513" y="990600"/>
            <a:ext cx="1970087" cy="600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latin typeface="Tahoma" charset="0"/>
              </a:rPr>
              <a:t>N </a:t>
            </a:r>
          </a:p>
        </p:txBody>
      </p:sp>
      <p:sp>
        <p:nvSpPr>
          <p:cNvPr id="3106" name="Line 1064"/>
          <p:cNvSpPr>
            <a:spLocks noChangeShapeType="1"/>
          </p:cNvSpPr>
          <p:nvPr/>
        </p:nvSpPr>
        <p:spPr bwMode="auto">
          <a:xfrm>
            <a:off x="7439025" y="1295400"/>
            <a:ext cx="74295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7" name="Text Box 1061"/>
          <p:cNvSpPr txBox="1">
            <a:spLocks noChangeArrowheads="1"/>
          </p:cNvSpPr>
          <p:nvPr/>
        </p:nvSpPr>
        <p:spPr bwMode="auto">
          <a:xfrm>
            <a:off x="5848350" y="2309813"/>
            <a:ext cx="766763" cy="2159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ELEVATOR</a:t>
            </a:r>
          </a:p>
        </p:txBody>
      </p:sp>
      <p:sp>
        <p:nvSpPr>
          <p:cNvPr id="3108" name="Rectangle 1065"/>
          <p:cNvSpPr>
            <a:spLocks noChangeArrowheads="1"/>
          </p:cNvSpPr>
          <p:nvPr/>
        </p:nvSpPr>
        <p:spPr bwMode="auto">
          <a:xfrm>
            <a:off x="3154363" y="161925"/>
            <a:ext cx="2833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latin typeface="Tahoma" charset="0"/>
              </a:rPr>
              <a:t>HISTORIC DRIVE</a:t>
            </a:r>
          </a:p>
        </p:txBody>
      </p:sp>
      <p:sp>
        <p:nvSpPr>
          <p:cNvPr id="3109" name="Rectangle 1066"/>
          <p:cNvSpPr>
            <a:spLocks noChangeArrowheads="1"/>
          </p:cNvSpPr>
          <p:nvPr/>
        </p:nvSpPr>
        <p:spPr bwMode="auto">
          <a:xfrm>
            <a:off x="6153150" y="1525588"/>
            <a:ext cx="2800350" cy="33855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u="sng" dirty="0">
                <a:latin typeface="Tahoma" charset="0"/>
              </a:rPr>
              <a:t>1</a:t>
            </a:r>
            <a:r>
              <a:rPr lang="en-US" altLang="en-US" sz="1600" b="1" u="sng" baseline="30000" dirty="0">
                <a:latin typeface="Tahoma" charset="0"/>
              </a:rPr>
              <a:t>ST</a:t>
            </a:r>
            <a:r>
              <a:rPr lang="en-US" altLang="en-US" sz="1600" b="1" u="sng" dirty="0">
                <a:latin typeface="Tahoma" charset="0"/>
              </a:rPr>
              <a:t> &amp; 2</a:t>
            </a:r>
            <a:r>
              <a:rPr lang="en-US" altLang="en-US" sz="1600" b="1" u="sng" baseline="30000" dirty="0">
                <a:latin typeface="Tahoma" charset="0"/>
              </a:rPr>
              <a:t>ND</a:t>
            </a:r>
            <a:r>
              <a:rPr lang="en-US" altLang="en-US" sz="1600" b="1" u="sng" dirty="0">
                <a:latin typeface="Tahoma" charset="0"/>
              </a:rPr>
              <a:t> </a:t>
            </a:r>
            <a:r>
              <a:rPr lang="en-US" altLang="en-US" sz="1600" b="1" u="sng" dirty="0" smtClean="0">
                <a:latin typeface="Tahoma" charset="0"/>
              </a:rPr>
              <a:t>FLOORS</a:t>
            </a:r>
            <a:endParaRPr lang="en-US" altLang="en-US" sz="1600" b="1" dirty="0">
              <a:latin typeface="Tahoma" charset="0"/>
            </a:endParaRPr>
          </a:p>
        </p:txBody>
      </p:sp>
      <p:sp>
        <p:nvSpPr>
          <p:cNvPr id="3110" name="Rectangle 1067"/>
          <p:cNvSpPr>
            <a:spLocks noChangeArrowheads="1"/>
          </p:cNvSpPr>
          <p:nvPr/>
        </p:nvSpPr>
        <p:spPr bwMode="auto">
          <a:xfrm rot="5430348">
            <a:off x="7600157" y="3322653"/>
            <a:ext cx="2497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 dirty="0">
                <a:latin typeface="Tahoma" charset="0"/>
              </a:rPr>
              <a:t>SIX MILE LANE</a:t>
            </a:r>
          </a:p>
        </p:txBody>
      </p:sp>
      <p:cxnSp>
        <p:nvCxnSpPr>
          <p:cNvPr id="3111" name="Straight Arrow Connector 40"/>
          <p:cNvCxnSpPr>
            <a:cxnSpLocks noChangeShapeType="1"/>
          </p:cNvCxnSpPr>
          <p:nvPr/>
        </p:nvCxnSpPr>
        <p:spPr bwMode="auto">
          <a:xfrm flipH="1">
            <a:off x="5895975" y="1009650"/>
            <a:ext cx="609600" cy="257175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</p:cxnSp>
      <p:sp>
        <p:nvSpPr>
          <p:cNvPr id="46" name="TextBox 45"/>
          <p:cNvSpPr txBox="1"/>
          <p:nvPr/>
        </p:nvSpPr>
        <p:spPr>
          <a:xfrm>
            <a:off x="8553450" y="5076825"/>
            <a:ext cx="5905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A-3</a:t>
            </a:r>
          </a:p>
        </p:txBody>
      </p:sp>
      <p:cxnSp>
        <p:nvCxnSpPr>
          <p:cNvPr id="48" name="Straight Arrow Connector 47"/>
          <p:cNvCxnSpPr/>
          <p:nvPr/>
        </p:nvCxnSpPr>
        <p:spPr bwMode="auto">
          <a:xfrm flipH="1" flipV="1">
            <a:off x="8515350" y="4857750"/>
            <a:ext cx="219075" cy="28575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381875" y="5667375"/>
            <a:ext cx="71437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B-1</a:t>
            </a:r>
          </a:p>
        </p:txBody>
      </p:sp>
      <p:cxnSp>
        <p:nvCxnSpPr>
          <p:cNvPr id="3115" name="Straight Arrow Connector 50"/>
          <p:cNvCxnSpPr>
            <a:cxnSpLocks noChangeShapeType="1"/>
            <a:stCxn id="49" idx="0"/>
          </p:cNvCxnSpPr>
          <p:nvPr/>
        </p:nvCxnSpPr>
        <p:spPr bwMode="auto">
          <a:xfrm flipV="1">
            <a:off x="7739063" y="5324475"/>
            <a:ext cx="128587" cy="342900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</p:cxnSp>
      <p:cxnSp>
        <p:nvCxnSpPr>
          <p:cNvPr id="53" name="Straight Arrow Connector 52"/>
          <p:cNvCxnSpPr/>
          <p:nvPr/>
        </p:nvCxnSpPr>
        <p:spPr bwMode="auto">
          <a:xfrm flipV="1">
            <a:off x="7924800" y="5619750"/>
            <a:ext cx="419100" cy="20955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 bwMode="auto">
          <a:xfrm>
            <a:off x="5172075" y="5543550"/>
            <a:ext cx="314325" cy="1809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118" name="Straight Connector 55"/>
          <p:cNvCxnSpPr>
            <a:cxnSpLocks noChangeShapeType="1"/>
            <a:stCxn id="54" idx="3"/>
          </p:cNvCxnSpPr>
          <p:nvPr/>
        </p:nvCxnSpPr>
        <p:spPr bwMode="auto">
          <a:xfrm>
            <a:off x="5438775" y="569595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cxnSp>
        <p:nvCxnSpPr>
          <p:cNvPr id="3119" name="Straight Connector 57"/>
          <p:cNvCxnSpPr>
            <a:cxnSpLocks noChangeShapeType="1"/>
            <a:stCxn id="54" idx="2"/>
            <a:endCxn id="54" idx="1"/>
          </p:cNvCxnSpPr>
          <p:nvPr/>
        </p:nvCxnSpPr>
        <p:spPr bwMode="auto">
          <a:xfrm flipH="1" flipV="1">
            <a:off x="5172075" y="5634038"/>
            <a:ext cx="157163" cy="904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cxnSp>
        <p:nvCxnSpPr>
          <p:cNvPr id="3120" name="Straight Connector 59"/>
          <p:cNvCxnSpPr>
            <a:cxnSpLocks noChangeShapeType="1"/>
            <a:stCxn id="54" idx="0"/>
            <a:endCxn id="54" idx="2"/>
          </p:cNvCxnSpPr>
          <p:nvPr/>
        </p:nvCxnSpPr>
        <p:spPr bwMode="auto">
          <a:xfrm>
            <a:off x="5329238" y="5543550"/>
            <a:ext cx="0" cy="18097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cxnSp>
        <p:nvCxnSpPr>
          <p:cNvPr id="3121" name="Straight Connector 61"/>
          <p:cNvCxnSpPr>
            <a:cxnSpLocks noChangeShapeType="1"/>
            <a:stCxn id="54" idx="0"/>
            <a:endCxn id="54" idx="2"/>
          </p:cNvCxnSpPr>
          <p:nvPr/>
        </p:nvCxnSpPr>
        <p:spPr bwMode="auto">
          <a:xfrm>
            <a:off x="5329238" y="5543550"/>
            <a:ext cx="0" cy="18097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cxnSp>
        <p:nvCxnSpPr>
          <p:cNvPr id="3122" name="Straight Connector 63"/>
          <p:cNvCxnSpPr>
            <a:cxnSpLocks noChangeShapeType="1"/>
          </p:cNvCxnSpPr>
          <p:nvPr/>
        </p:nvCxnSpPr>
        <p:spPr bwMode="auto">
          <a:xfrm>
            <a:off x="5362575" y="53340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68" name="Rectangle 67"/>
          <p:cNvSpPr/>
          <p:nvPr/>
        </p:nvSpPr>
        <p:spPr bwMode="auto">
          <a:xfrm>
            <a:off x="5257800" y="5534025"/>
            <a:ext cx="133350" cy="2000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524500" y="5810250"/>
            <a:ext cx="7715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B-3</a:t>
            </a:r>
          </a:p>
        </p:txBody>
      </p:sp>
      <p:cxnSp>
        <p:nvCxnSpPr>
          <p:cNvPr id="71" name="Straight Arrow Connector 70"/>
          <p:cNvCxnSpPr/>
          <p:nvPr/>
        </p:nvCxnSpPr>
        <p:spPr bwMode="auto">
          <a:xfrm flipH="1" flipV="1">
            <a:off x="5524500" y="5667375"/>
            <a:ext cx="257175" cy="20955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648075" y="5867400"/>
            <a:ext cx="8477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B-4</a:t>
            </a:r>
          </a:p>
        </p:txBody>
      </p:sp>
      <p:cxnSp>
        <p:nvCxnSpPr>
          <p:cNvPr id="74" name="Straight Arrow Connector 73"/>
          <p:cNvCxnSpPr/>
          <p:nvPr/>
        </p:nvCxnSpPr>
        <p:spPr bwMode="auto">
          <a:xfrm flipH="1" flipV="1">
            <a:off x="3790950" y="5562600"/>
            <a:ext cx="57150" cy="3429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28" name="Picture 5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3" y="5219700"/>
            <a:ext cx="3095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29" name="Picture 5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413" y="4675188"/>
            <a:ext cx="3111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30" name="Picture 5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725" y="2333625"/>
            <a:ext cx="30956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31" name="Picture 5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25" y="2333625"/>
            <a:ext cx="239713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32" name="Picture 6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988" y="4205288"/>
            <a:ext cx="307975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33" name="Picture 6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5657850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34" name="Picture 6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988" y="3948113"/>
            <a:ext cx="2571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" name="Picture 10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988" y="2888059"/>
            <a:ext cx="296863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Picture 10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562" y="3187333"/>
            <a:ext cx="239713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" name="Picture 1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562" y="3441303"/>
            <a:ext cx="25717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65"/>
          <p:cNvSpPr txBox="1"/>
          <p:nvPr/>
        </p:nvSpPr>
        <p:spPr>
          <a:xfrm>
            <a:off x="6541294" y="2938572"/>
            <a:ext cx="15454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ELECTRICAL PANEL(S)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41294" y="3203178"/>
            <a:ext cx="15454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 SHUTOFF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41294" y="3481447"/>
            <a:ext cx="15454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AID KIT</a:t>
            </a:r>
          </a:p>
        </p:txBody>
      </p:sp>
      <p:sp>
        <p:nvSpPr>
          <p:cNvPr id="73" name="Rectangle 72"/>
          <p:cNvSpPr/>
          <p:nvPr/>
        </p:nvSpPr>
        <p:spPr bwMode="auto">
          <a:xfrm>
            <a:off x="6136482" y="2830909"/>
            <a:ext cx="1788318" cy="91440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75" name="Line 1062"/>
          <p:cNvSpPr>
            <a:spLocks noChangeShapeType="1"/>
          </p:cNvSpPr>
          <p:nvPr/>
        </p:nvSpPr>
        <p:spPr bwMode="auto">
          <a:xfrm flipH="1" flipV="1">
            <a:off x="4695030" y="5148262"/>
            <a:ext cx="314325" cy="1028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Text Box 1061"/>
          <p:cNvSpPr txBox="1">
            <a:spLocks noChangeArrowheads="1"/>
          </p:cNvSpPr>
          <p:nvPr/>
        </p:nvSpPr>
        <p:spPr bwMode="auto">
          <a:xfrm>
            <a:off x="5009356" y="6153150"/>
            <a:ext cx="1315244" cy="33855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 smtClean="0">
                <a:solidFill>
                  <a:srgbClr val="FF0000"/>
                </a:solidFill>
                <a:latin typeface="Tahoma" charset="0"/>
              </a:rPr>
              <a:t>SECURITY SYSTEM MAIN PANEL</a:t>
            </a:r>
            <a:endParaRPr lang="en-US" altLang="en-US" sz="800" b="1" dirty="0">
              <a:solidFill>
                <a:srgbClr val="FF0000"/>
              </a:solidFill>
              <a:latin typeface="Tahom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154</Words>
  <Application>Microsoft Office PowerPoint</Application>
  <PresentationFormat>Letter Paper (8.5x11 in)</PresentationFormat>
  <Paragraphs>106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Times New Roman</vt:lpstr>
      <vt:lpstr>Arial</vt:lpstr>
      <vt:lpstr>Calibri</vt:lpstr>
      <vt:lpstr>Tahoma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Devon J Vaccaro</dc:creator>
  <cp:lastModifiedBy>Richard</cp:lastModifiedBy>
  <cp:revision>38</cp:revision>
  <cp:lastPrinted>2024-07-06T17:20:14Z</cp:lastPrinted>
  <dcterms:created xsi:type="dcterms:W3CDTF">2003-09-30T19:48:41Z</dcterms:created>
  <dcterms:modified xsi:type="dcterms:W3CDTF">2024-07-06T17:22:24Z</dcterms:modified>
</cp:coreProperties>
</file>