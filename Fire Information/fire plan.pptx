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32787"/>
    <p:restoredTop sz="90929"/>
  </p:normalViewPr>
  <p:slideViewPr>
    <p:cSldViewPr showGuides="1">
      <p:cViewPr>
        <p:scale>
          <a:sx n="80" d="100"/>
          <a:sy n="80" d="100"/>
        </p:scale>
        <p:origin x="-172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B581947F-9AFC-463A-9CC1-786C506146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4992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C917C08-284B-499D-946A-0702FE24C2B0}" type="datetimeFigureOut">
              <a:rPr lang="en-US"/>
              <a:pPr>
                <a:defRPr/>
              </a:pPr>
              <a:t>12/9/23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66A7BB6C-CF44-4E76-81EC-14CEAB19638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15728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E6D9D8-448F-48A7-9F6B-7ED4A0769284}" type="datetime1">
              <a:rPr lang="en-US"/>
              <a:pPr>
                <a:defRPr/>
              </a:pPr>
              <a:t>12/9/23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D377C5-BAB5-44F8-8910-4CD5567E20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371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B00529-AE46-484E-A5A9-8B2B2936576F}" type="datetime1">
              <a:rPr lang="en-US"/>
              <a:pPr>
                <a:defRPr/>
              </a:pPr>
              <a:t>12/9/23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D14D11-A65A-4855-BD1E-03E32D8A8A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86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D3B9B5-FBB3-45FC-9DC0-E2C59D86E134}" type="datetime1">
              <a:rPr lang="en-US"/>
              <a:pPr>
                <a:defRPr/>
              </a:pPr>
              <a:t>12/9/23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62EAFA-9E26-44A7-A4A1-B50999B4D47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611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84FF20-1C30-4FC7-86A2-8FE84DC231E8}" type="datetime1">
              <a:rPr lang="en-US"/>
              <a:pPr>
                <a:defRPr/>
              </a:pPr>
              <a:t>12/9/23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E41435-D797-4A83-A7FA-D05A10FFA25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920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965ACB-1EE3-42FD-A802-9A5A36471A40}" type="datetime1">
              <a:rPr lang="en-US"/>
              <a:pPr>
                <a:defRPr/>
              </a:pPr>
              <a:t>12/9/23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A58883-F61B-4D0C-9264-AE9FA42291E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331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7B9856-7CF8-4044-A7E2-DDAB8CBEC211}" type="datetime1">
              <a:rPr lang="en-US"/>
              <a:pPr>
                <a:defRPr/>
              </a:pPr>
              <a:t>12/9/23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4EA892-20D3-4318-9D71-996169AB37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273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4220DD-2534-4FD5-A661-848C19230267}" type="datetime1">
              <a:rPr lang="en-US"/>
              <a:pPr>
                <a:defRPr/>
              </a:pPr>
              <a:t>12/9/23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14B171-BC48-4822-A64D-DAB88834950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286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692ACE-ADB3-4882-A345-76D2A480B198}" type="datetime1">
              <a:rPr lang="en-US"/>
              <a:pPr>
                <a:defRPr/>
              </a:pPr>
              <a:t>12/9/23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8413C1-E269-42F5-AAD9-7826695DCB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194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47C9CA-7CF1-466F-83E4-ADC62DCCF872}" type="datetime1">
              <a:rPr lang="en-US"/>
              <a:pPr>
                <a:defRPr/>
              </a:pPr>
              <a:t>12/9/23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CAAE00-60E5-4FBA-9231-D0B0532A53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125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6AD06A-5BD7-40F6-AE5F-3B77F64C46C5}" type="datetime1">
              <a:rPr lang="en-US"/>
              <a:pPr>
                <a:defRPr/>
              </a:pPr>
              <a:t>12/9/23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92376C-93DA-424F-91B2-EFBDF33F0C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283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7FEA3E-F78A-436C-9F42-1092261D1F14}" type="datetime1">
              <a:rPr lang="en-US"/>
              <a:pPr>
                <a:defRPr/>
              </a:pPr>
              <a:t>12/9/23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F3ECAC-B759-429E-AE5B-2D52522AD4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606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fld id="{5246F212-6709-4BEF-BA4F-CF67962EE466}" type="datetime1">
              <a:rPr lang="en-US"/>
              <a:pPr>
                <a:defRPr/>
              </a:pPr>
              <a:t>12/9/23</a:t>
            </a:fld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BCD93221-7D5D-49D3-8CDF-D535EE33C0D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/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988" y="1031875"/>
            <a:ext cx="8967787" cy="504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Line 10"/>
          <p:cNvSpPr>
            <a:spLocks noChangeShapeType="1"/>
          </p:cNvSpPr>
          <p:nvPr/>
        </p:nvSpPr>
        <p:spPr bwMode="auto">
          <a:xfrm>
            <a:off x="4953000" y="6203950"/>
            <a:ext cx="838200" cy="0"/>
          </a:xfrm>
          <a:prstGeom prst="line">
            <a:avLst/>
          </a:prstGeom>
          <a:noFill/>
          <a:ln w="50800">
            <a:solidFill>
              <a:srgbClr val="FFC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2" name="Text Box 11"/>
          <p:cNvSpPr txBox="1">
            <a:spLocks noChangeArrowheads="1"/>
          </p:cNvSpPr>
          <p:nvPr/>
        </p:nvSpPr>
        <p:spPr bwMode="auto">
          <a:xfrm>
            <a:off x="5791200" y="6019800"/>
            <a:ext cx="10572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charset="0"/>
              </a:rPr>
              <a:t>Alternate </a:t>
            </a:r>
          </a:p>
        </p:txBody>
      </p:sp>
      <p:sp>
        <p:nvSpPr>
          <p:cNvPr id="2053" name="Line 12"/>
          <p:cNvSpPr>
            <a:spLocks noChangeShapeType="1"/>
          </p:cNvSpPr>
          <p:nvPr/>
        </p:nvSpPr>
        <p:spPr bwMode="auto">
          <a:xfrm>
            <a:off x="3962400" y="4800600"/>
            <a:ext cx="609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4" name="Line 14"/>
          <p:cNvSpPr>
            <a:spLocks noChangeShapeType="1"/>
          </p:cNvSpPr>
          <p:nvPr/>
        </p:nvSpPr>
        <p:spPr bwMode="auto">
          <a:xfrm flipH="1">
            <a:off x="3810000" y="4800600"/>
            <a:ext cx="152400" cy="228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5" name="Line 15"/>
          <p:cNvSpPr>
            <a:spLocks noChangeShapeType="1"/>
          </p:cNvSpPr>
          <p:nvPr/>
        </p:nvSpPr>
        <p:spPr bwMode="auto">
          <a:xfrm>
            <a:off x="3810000" y="5029200"/>
            <a:ext cx="0" cy="914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6" name="Line 16"/>
          <p:cNvSpPr>
            <a:spLocks noChangeShapeType="1"/>
          </p:cNvSpPr>
          <p:nvPr/>
        </p:nvSpPr>
        <p:spPr bwMode="auto">
          <a:xfrm>
            <a:off x="8305800" y="4800600"/>
            <a:ext cx="0" cy="685800"/>
          </a:xfrm>
          <a:prstGeom prst="line">
            <a:avLst/>
          </a:prstGeom>
          <a:noFill/>
          <a:ln w="38100">
            <a:solidFill>
              <a:srgbClr val="FFC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7" name="Line 17"/>
          <p:cNvSpPr>
            <a:spLocks noChangeShapeType="1"/>
          </p:cNvSpPr>
          <p:nvPr/>
        </p:nvSpPr>
        <p:spPr bwMode="auto">
          <a:xfrm>
            <a:off x="8305800" y="5486400"/>
            <a:ext cx="152400" cy="0"/>
          </a:xfrm>
          <a:prstGeom prst="line">
            <a:avLst/>
          </a:prstGeom>
          <a:noFill/>
          <a:ln w="38100">
            <a:solidFill>
              <a:srgbClr val="FFC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8" name="Line 18"/>
          <p:cNvSpPr>
            <a:spLocks noChangeShapeType="1"/>
          </p:cNvSpPr>
          <p:nvPr/>
        </p:nvSpPr>
        <p:spPr bwMode="auto">
          <a:xfrm>
            <a:off x="8458200" y="5486400"/>
            <a:ext cx="0" cy="381000"/>
          </a:xfrm>
          <a:prstGeom prst="line">
            <a:avLst/>
          </a:prstGeom>
          <a:noFill/>
          <a:ln w="38100">
            <a:solidFill>
              <a:srgbClr val="FFC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9" name="Line 19"/>
          <p:cNvSpPr>
            <a:spLocks noChangeShapeType="1"/>
          </p:cNvSpPr>
          <p:nvPr/>
        </p:nvSpPr>
        <p:spPr bwMode="auto">
          <a:xfrm>
            <a:off x="4953000" y="6432550"/>
            <a:ext cx="838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60" name="Text Box 20"/>
          <p:cNvSpPr txBox="1">
            <a:spLocks noChangeArrowheads="1"/>
          </p:cNvSpPr>
          <p:nvPr/>
        </p:nvSpPr>
        <p:spPr bwMode="auto">
          <a:xfrm>
            <a:off x="5791200" y="6248400"/>
            <a:ext cx="8683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charset="0"/>
              </a:rPr>
              <a:t>Primary</a:t>
            </a:r>
          </a:p>
        </p:txBody>
      </p:sp>
      <p:sp>
        <p:nvSpPr>
          <p:cNvPr id="2061" name="Line 21"/>
          <p:cNvSpPr>
            <a:spLocks noChangeShapeType="1"/>
          </p:cNvSpPr>
          <p:nvPr/>
        </p:nvSpPr>
        <p:spPr bwMode="auto">
          <a:xfrm>
            <a:off x="4572000" y="4800600"/>
            <a:ext cx="3733800" cy="0"/>
          </a:xfrm>
          <a:prstGeom prst="line">
            <a:avLst/>
          </a:prstGeom>
          <a:noFill/>
          <a:ln w="38100">
            <a:solidFill>
              <a:srgbClr val="FFC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62" name="Line 22"/>
          <p:cNvSpPr>
            <a:spLocks noChangeShapeType="1"/>
          </p:cNvSpPr>
          <p:nvPr/>
        </p:nvSpPr>
        <p:spPr bwMode="auto">
          <a:xfrm>
            <a:off x="4572000" y="4572000"/>
            <a:ext cx="0" cy="228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63" name="Line 23"/>
          <p:cNvSpPr>
            <a:spLocks noChangeShapeType="1"/>
          </p:cNvSpPr>
          <p:nvPr/>
        </p:nvSpPr>
        <p:spPr bwMode="auto">
          <a:xfrm>
            <a:off x="76200" y="4800600"/>
            <a:ext cx="3657600" cy="0"/>
          </a:xfrm>
          <a:prstGeom prst="line">
            <a:avLst/>
          </a:prstGeom>
          <a:noFill/>
          <a:ln w="38100">
            <a:solidFill>
              <a:srgbClr val="FFC000"/>
            </a:solidFill>
            <a:prstDash val="dash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64" name="Line 24"/>
          <p:cNvSpPr>
            <a:spLocks noChangeShapeType="1"/>
          </p:cNvSpPr>
          <p:nvPr/>
        </p:nvSpPr>
        <p:spPr bwMode="auto">
          <a:xfrm>
            <a:off x="3733800" y="4800600"/>
            <a:ext cx="76200" cy="228600"/>
          </a:xfrm>
          <a:prstGeom prst="line">
            <a:avLst/>
          </a:prstGeom>
          <a:noFill/>
          <a:ln w="38100">
            <a:solidFill>
              <a:srgbClr val="FFC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65" name="Rectangle 25"/>
          <p:cNvSpPr>
            <a:spLocks noChangeArrowheads="1"/>
          </p:cNvSpPr>
          <p:nvPr/>
        </p:nvSpPr>
        <p:spPr bwMode="auto">
          <a:xfrm>
            <a:off x="6324600" y="990600"/>
            <a:ext cx="2819400" cy="762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2066" name="Text Box 26"/>
          <p:cNvSpPr txBox="1">
            <a:spLocks noChangeArrowheads="1"/>
          </p:cNvSpPr>
          <p:nvPr/>
        </p:nvSpPr>
        <p:spPr bwMode="auto">
          <a:xfrm>
            <a:off x="5105400" y="5867400"/>
            <a:ext cx="13255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charset="0"/>
              </a:rPr>
              <a:t>Escape Routes</a:t>
            </a:r>
          </a:p>
        </p:txBody>
      </p:sp>
      <p:sp>
        <p:nvSpPr>
          <p:cNvPr id="2067" name="Rectangle 27"/>
          <p:cNvSpPr>
            <a:spLocks noChangeArrowheads="1"/>
          </p:cNvSpPr>
          <p:nvPr/>
        </p:nvSpPr>
        <p:spPr bwMode="auto">
          <a:xfrm>
            <a:off x="4800600" y="5867400"/>
            <a:ext cx="1981200" cy="762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2068" name="Text Box 28"/>
          <p:cNvSpPr txBox="1">
            <a:spLocks noChangeArrowheads="1"/>
          </p:cNvSpPr>
          <p:nvPr/>
        </p:nvSpPr>
        <p:spPr bwMode="auto">
          <a:xfrm>
            <a:off x="6019800" y="511175"/>
            <a:ext cx="3124200" cy="307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latin typeface="Tahoma" charset="0"/>
              </a:rPr>
              <a:t>Tornado Routine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charset="0"/>
              </a:rPr>
              <a:t>All children will remain in the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charset="0"/>
              </a:rPr>
              <a:t>basement and move to a safe area.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charset="0"/>
              </a:rPr>
              <a:t>The Director or Assistant Director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charset="0"/>
              </a:rPr>
              <a:t>will monitor the battery powered radio in the school office.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400">
              <a:latin typeface="Tahoma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400">
              <a:latin typeface="Tahoma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latin typeface="Tahoma" charset="0"/>
              </a:rPr>
              <a:t>Earthquake Routine</a:t>
            </a:r>
            <a:endParaRPr lang="en-US" altLang="en-US" sz="1400">
              <a:latin typeface="Tahoma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charset="0"/>
              </a:rPr>
              <a:t>The children will go under tables and remain until all clear is given by the teacher.  The teacher and teaching assistant will stand in doorway until danger has past.</a:t>
            </a:r>
            <a:endParaRPr lang="en-US" altLang="en-US" sz="1400" b="1">
              <a:latin typeface="Tahoma" charset="0"/>
            </a:endParaRPr>
          </a:p>
        </p:txBody>
      </p:sp>
      <p:sp>
        <p:nvSpPr>
          <p:cNvPr id="2069" name="Rectangle 29"/>
          <p:cNvSpPr>
            <a:spLocks noChangeArrowheads="1"/>
          </p:cNvSpPr>
          <p:nvPr/>
        </p:nvSpPr>
        <p:spPr bwMode="auto">
          <a:xfrm>
            <a:off x="4038600" y="2590800"/>
            <a:ext cx="533400" cy="16002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2070" name="Rectangle 30"/>
          <p:cNvSpPr>
            <a:spLocks noChangeArrowheads="1"/>
          </p:cNvSpPr>
          <p:nvPr/>
        </p:nvSpPr>
        <p:spPr bwMode="auto">
          <a:xfrm>
            <a:off x="4572000" y="3962400"/>
            <a:ext cx="381000" cy="2286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2071" name="Rectangle 31"/>
          <p:cNvSpPr>
            <a:spLocks noChangeArrowheads="1"/>
          </p:cNvSpPr>
          <p:nvPr/>
        </p:nvSpPr>
        <p:spPr bwMode="auto">
          <a:xfrm>
            <a:off x="4038600" y="4191000"/>
            <a:ext cx="914400" cy="5334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2072" name="Rectangle 33"/>
          <p:cNvSpPr>
            <a:spLocks noChangeArrowheads="1"/>
          </p:cNvSpPr>
          <p:nvPr/>
        </p:nvSpPr>
        <p:spPr bwMode="auto">
          <a:xfrm>
            <a:off x="4572000" y="4876800"/>
            <a:ext cx="533400" cy="6096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2073" name="Text Box 34"/>
          <p:cNvSpPr txBox="1">
            <a:spLocks noChangeArrowheads="1"/>
          </p:cNvSpPr>
          <p:nvPr/>
        </p:nvSpPr>
        <p:spPr bwMode="auto">
          <a:xfrm>
            <a:off x="4038600" y="30321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00" b="1">
                <a:solidFill>
                  <a:srgbClr val="FF3300"/>
                </a:solidFill>
                <a:latin typeface="Tahoma" charset="0"/>
              </a:rPr>
              <a:t>SAFE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00" b="1">
                <a:solidFill>
                  <a:srgbClr val="FF3300"/>
                </a:solidFill>
                <a:latin typeface="Tahoma" charset="0"/>
              </a:rPr>
              <a:t>AREA</a:t>
            </a:r>
          </a:p>
        </p:txBody>
      </p:sp>
      <p:sp>
        <p:nvSpPr>
          <p:cNvPr id="2074" name="Rectangle 35"/>
          <p:cNvSpPr>
            <a:spLocks noChangeArrowheads="1"/>
          </p:cNvSpPr>
          <p:nvPr/>
        </p:nvSpPr>
        <p:spPr bwMode="auto">
          <a:xfrm>
            <a:off x="4038600" y="4191000"/>
            <a:ext cx="533400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000" b="1">
                <a:solidFill>
                  <a:srgbClr val="FF3300"/>
                </a:solidFill>
                <a:latin typeface="Tahoma" charset="0"/>
              </a:rPr>
              <a:t>SAFE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000" b="1">
                <a:solidFill>
                  <a:srgbClr val="FF3300"/>
                </a:solidFill>
                <a:latin typeface="Tahoma" charset="0"/>
              </a:rPr>
              <a:t>AREA</a:t>
            </a:r>
          </a:p>
        </p:txBody>
      </p:sp>
      <p:sp>
        <p:nvSpPr>
          <p:cNvPr id="2075" name="Rectangle 36"/>
          <p:cNvSpPr>
            <a:spLocks noChangeArrowheads="1"/>
          </p:cNvSpPr>
          <p:nvPr/>
        </p:nvSpPr>
        <p:spPr bwMode="auto">
          <a:xfrm>
            <a:off x="4572000" y="4953000"/>
            <a:ext cx="666750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000" b="1">
                <a:solidFill>
                  <a:srgbClr val="FF3300"/>
                </a:solidFill>
                <a:latin typeface="Tahoma" charset="0"/>
              </a:rPr>
              <a:t>SAFE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000" b="1">
                <a:solidFill>
                  <a:srgbClr val="FF3300"/>
                </a:solidFill>
                <a:latin typeface="Tahoma" charset="0"/>
              </a:rPr>
              <a:t>AREA</a:t>
            </a:r>
          </a:p>
        </p:txBody>
      </p:sp>
      <p:sp>
        <p:nvSpPr>
          <p:cNvPr id="2076" name="TextBox 27"/>
          <p:cNvSpPr txBox="1">
            <a:spLocks noChangeArrowheads="1"/>
          </p:cNvSpPr>
          <p:nvPr/>
        </p:nvSpPr>
        <p:spPr bwMode="auto">
          <a:xfrm>
            <a:off x="228600" y="20574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D-1</a:t>
            </a:r>
          </a:p>
        </p:txBody>
      </p:sp>
      <p:sp>
        <p:nvSpPr>
          <p:cNvPr id="2077" name="TextBox 28"/>
          <p:cNvSpPr txBox="1">
            <a:spLocks noChangeArrowheads="1"/>
          </p:cNvSpPr>
          <p:nvPr/>
        </p:nvSpPr>
        <p:spPr bwMode="auto">
          <a:xfrm>
            <a:off x="2438400" y="990600"/>
            <a:ext cx="609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D-2</a:t>
            </a:r>
          </a:p>
        </p:txBody>
      </p:sp>
      <p:sp>
        <p:nvSpPr>
          <p:cNvPr id="2078" name="TextBox 29"/>
          <p:cNvSpPr txBox="1">
            <a:spLocks noChangeArrowheads="1"/>
          </p:cNvSpPr>
          <p:nvPr/>
        </p:nvSpPr>
        <p:spPr bwMode="auto">
          <a:xfrm>
            <a:off x="4038600" y="838200"/>
            <a:ext cx="762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D-3</a:t>
            </a:r>
          </a:p>
        </p:txBody>
      </p:sp>
      <p:sp>
        <p:nvSpPr>
          <p:cNvPr id="2079" name="TextBox 30"/>
          <p:cNvSpPr txBox="1">
            <a:spLocks noChangeArrowheads="1"/>
          </p:cNvSpPr>
          <p:nvPr/>
        </p:nvSpPr>
        <p:spPr bwMode="auto">
          <a:xfrm>
            <a:off x="5486400" y="609600"/>
            <a:ext cx="762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A-1</a:t>
            </a:r>
          </a:p>
        </p:txBody>
      </p:sp>
      <p:cxnSp>
        <p:nvCxnSpPr>
          <p:cNvPr id="2080" name="Straight Arrow Connector 32"/>
          <p:cNvCxnSpPr>
            <a:cxnSpLocks noChangeShapeType="1"/>
          </p:cNvCxnSpPr>
          <p:nvPr/>
        </p:nvCxnSpPr>
        <p:spPr bwMode="auto">
          <a:xfrm>
            <a:off x="5943600" y="838200"/>
            <a:ext cx="76200" cy="304800"/>
          </a:xfrm>
          <a:prstGeom prst="straightConnector1">
            <a:avLst/>
          </a:prstGeom>
          <a:noFill/>
          <a:ln w="381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81" name="TextBox 33"/>
          <p:cNvSpPr txBox="1">
            <a:spLocks noChangeArrowheads="1"/>
          </p:cNvSpPr>
          <p:nvPr/>
        </p:nvSpPr>
        <p:spPr bwMode="auto">
          <a:xfrm>
            <a:off x="6019800" y="19812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A-2</a:t>
            </a:r>
          </a:p>
        </p:txBody>
      </p:sp>
      <p:cxnSp>
        <p:nvCxnSpPr>
          <p:cNvPr id="2082" name="Straight Arrow Connector 35"/>
          <p:cNvCxnSpPr>
            <a:cxnSpLocks noChangeShapeType="1"/>
          </p:cNvCxnSpPr>
          <p:nvPr/>
        </p:nvCxnSpPr>
        <p:spPr bwMode="auto">
          <a:xfrm flipH="1" flipV="1">
            <a:off x="6019800" y="1828800"/>
            <a:ext cx="228600" cy="228600"/>
          </a:xfrm>
          <a:prstGeom prst="straightConnector1">
            <a:avLst/>
          </a:prstGeom>
          <a:noFill/>
          <a:ln w="381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83" name="TextBox 36"/>
          <p:cNvSpPr txBox="1">
            <a:spLocks noChangeArrowheads="1"/>
          </p:cNvSpPr>
          <p:nvPr/>
        </p:nvSpPr>
        <p:spPr bwMode="auto">
          <a:xfrm>
            <a:off x="8229600" y="58674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B-1</a:t>
            </a:r>
          </a:p>
        </p:txBody>
      </p:sp>
      <p:sp>
        <p:nvSpPr>
          <p:cNvPr id="2084" name="TextBox 37"/>
          <p:cNvSpPr txBox="1">
            <a:spLocks noChangeArrowheads="1"/>
          </p:cNvSpPr>
          <p:nvPr/>
        </p:nvSpPr>
        <p:spPr bwMode="auto">
          <a:xfrm>
            <a:off x="7543800" y="59436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B-2</a:t>
            </a:r>
          </a:p>
        </p:txBody>
      </p:sp>
      <p:sp>
        <p:nvSpPr>
          <p:cNvPr id="2085" name="TextBox 38"/>
          <p:cNvSpPr txBox="1">
            <a:spLocks noChangeArrowheads="1"/>
          </p:cNvSpPr>
          <p:nvPr/>
        </p:nvSpPr>
        <p:spPr bwMode="auto">
          <a:xfrm>
            <a:off x="3505200" y="5943600"/>
            <a:ext cx="762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B-4</a:t>
            </a:r>
          </a:p>
        </p:txBody>
      </p:sp>
      <p:sp>
        <p:nvSpPr>
          <p:cNvPr id="2086" name="TextBox 39"/>
          <p:cNvSpPr txBox="1">
            <a:spLocks noChangeArrowheads="1"/>
          </p:cNvSpPr>
          <p:nvPr/>
        </p:nvSpPr>
        <p:spPr bwMode="auto">
          <a:xfrm>
            <a:off x="152400" y="5791200"/>
            <a:ext cx="609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C-1</a:t>
            </a:r>
          </a:p>
        </p:txBody>
      </p:sp>
      <p:cxnSp>
        <p:nvCxnSpPr>
          <p:cNvPr id="2087" name="Straight Arrow Connector 41"/>
          <p:cNvCxnSpPr>
            <a:cxnSpLocks noChangeShapeType="1"/>
          </p:cNvCxnSpPr>
          <p:nvPr/>
        </p:nvCxnSpPr>
        <p:spPr bwMode="auto">
          <a:xfrm flipH="1">
            <a:off x="1066800" y="4876800"/>
            <a:ext cx="76200" cy="76200"/>
          </a:xfrm>
          <a:prstGeom prst="straightConnector1">
            <a:avLst/>
          </a:prstGeom>
          <a:noFill/>
          <a:ln w="381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88" name="Straight Arrow Connector 43"/>
          <p:cNvCxnSpPr>
            <a:cxnSpLocks noChangeShapeType="1"/>
          </p:cNvCxnSpPr>
          <p:nvPr/>
        </p:nvCxnSpPr>
        <p:spPr bwMode="auto">
          <a:xfrm flipH="1" flipV="1">
            <a:off x="152400" y="5410200"/>
            <a:ext cx="76200" cy="457200"/>
          </a:xfrm>
          <a:prstGeom prst="straightConnector1">
            <a:avLst/>
          </a:prstGeom>
          <a:noFill/>
          <a:ln w="381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89" name="TextBox 44"/>
          <p:cNvSpPr txBox="1">
            <a:spLocks noChangeArrowheads="1"/>
          </p:cNvSpPr>
          <p:nvPr/>
        </p:nvSpPr>
        <p:spPr bwMode="auto">
          <a:xfrm>
            <a:off x="228600" y="4343400"/>
            <a:ext cx="762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C-2</a:t>
            </a:r>
          </a:p>
        </p:txBody>
      </p:sp>
      <p:cxnSp>
        <p:nvCxnSpPr>
          <p:cNvPr id="2090" name="Straight Arrow Connector 46"/>
          <p:cNvCxnSpPr>
            <a:cxnSpLocks noChangeShapeType="1"/>
          </p:cNvCxnSpPr>
          <p:nvPr/>
        </p:nvCxnSpPr>
        <p:spPr bwMode="auto">
          <a:xfrm flipH="1">
            <a:off x="381000" y="4648200"/>
            <a:ext cx="152400" cy="152400"/>
          </a:xfrm>
          <a:prstGeom prst="straightConnector1">
            <a:avLst/>
          </a:prstGeom>
          <a:noFill/>
          <a:ln w="381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91" name="TextBox 47"/>
          <p:cNvSpPr txBox="1">
            <a:spLocks noChangeArrowheads="1"/>
          </p:cNvSpPr>
          <p:nvPr/>
        </p:nvSpPr>
        <p:spPr bwMode="auto">
          <a:xfrm>
            <a:off x="914400" y="22098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C-3</a:t>
            </a:r>
          </a:p>
        </p:txBody>
      </p:sp>
      <p:sp>
        <p:nvSpPr>
          <p:cNvPr id="2092" name="TextBox 48"/>
          <p:cNvSpPr txBox="1">
            <a:spLocks noChangeArrowheads="1"/>
          </p:cNvSpPr>
          <p:nvPr/>
        </p:nvSpPr>
        <p:spPr bwMode="auto">
          <a:xfrm>
            <a:off x="685800" y="1524000"/>
            <a:ext cx="533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C-4</a:t>
            </a:r>
          </a:p>
        </p:txBody>
      </p:sp>
      <p:pic>
        <p:nvPicPr>
          <p:cNvPr id="2093" name="Picture 44" descr="Fire extinguisher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2286000"/>
            <a:ext cx="29051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94" name="Picture 45" descr="Fire extinguisher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2133600"/>
            <a:ext cx="29051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95" name="Picture 45" descr="C:\Users\Fekete 2014\Documents\John\WBBC\Trustee Information\Diagrams\Fire extinguisher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2057400"/>
            <a:ext cx="217488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96" name="Picture 46" descr="C:\Users\Fekete 2014\Documents\John\WBBC\Trustee Information\Diagrams\Fire extinguisher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2133600"/>
            <a:ext cx="27622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97" name="Picture 47" descr="C:\Users\Fekete 2014\Documents\John\WBBC\Trustee Information\Diagrams\Fire extinguisher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1752600"/>
            <a:ext cx="300038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98" name="Picture 48" descr="C:\Users\Fekete 2014\Documents\John\WBBC\Trustee Information\Diagrams\Fire extinguisher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5257800"/>
            <a:ext cx="304800" cy="319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99" name="Picture 49" descr="C:\Users\Fekete 2014\Documents\John\WBBC\Trustee Information\Diagrams\Fire extinguisher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4953000"/>
            <a:ext cx="27622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00" name="Picture 50" descr="C:\Users\Fekete 2014\Documents\John\WBBC\Trustee Information\Diagrams\Fire extinguisher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5334000"/>
            <a:ext cx="27622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01" name="Picture 51" descr="C:\Users\Fekete 2014\Documents\John\WBBC\Trustee Information\Diagrams\Fire extinguisher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938" y="5154613"/>
            <a:ext cx="301625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02" name="Picture 52" descr="C:\Users\Fekete 2014\Documents\John\WBBC\Trustee Information\Diagrams\Fire extinguisher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9225" y="5029200"/>
            <a:ext cx="227013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03" name="Picture 53" descr="C:\Users\Fekete 2014\Documents\John\WBBC\Trustee Information\Diagrams\Fire extinguisher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3733800"/>
            <a:ext cx="227013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04" name="Picture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4363" y="1800225"/>
            <a:ext cx="244475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05" name="Picture 5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550" y="5256213"/>
            <a:ext cx="249238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06" name="Picture 5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9563" y="4960938"/>
            <a:ext cx="247650" cy="249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07" name="Picture 5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188" y="322263"/>
            <a:ext cx="249237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108" name="Rectangle 2"/>
          <p:cNvSpPr>
            <a:spLocks noChangeArrowheads="1"/>
          </p:cNvSpPr>
          <p:nvPr/>
        </p:nvSpPr>
        <p:spPr bwMode="auto">
          <a:xfrm>
            <a:off x="839788" y="333375"/>
            <a:ext cx="7270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/>
              <a:t>First Aid</a:t>
            </a:r>
          </a:p>
        </p:txBody>
      </p:sp>
      <p:pic>
        <p:nvPicPr>
          <p:cNvPr id="2109" name="Picture 6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2303463"/>
            <a:ext cx="249238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10" name="Picture 6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363" y="631825"/>
            <a:ext cx="244475" cy="249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988" y="1031875"/>
            <a:ext cx="8967787" cy="504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Line 3"/>
          <p:cNvSpPr>
            <a:spLocks noChangeShapeType="1"/>
          </p:cNvSpPr>
          <p:nvPr/>
        </p:nvSpPr>
        <p:spPr bwMode="auto">
          <a:xfrm>
            <a:off x="4953000" y="6203950"/>
            <a:ext cx="838200" cy="0"/>
          </a:xfrm>
          <a:prstGeom prst="line">
            <a:avLst/>
          </a:prstGeom>
          <a:noFill/>
          <a:ln w="50800">
            <a:solidFill>
              <a:srgbClr val="FFC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6" name="Text Box 4"/>
          <p:cNvSpPr txBox="1">
            <a:spLocks noChangeArrowheads="1"/>
          </p:cNvSpPr>
          <p:nvPr/>
        </p:nvSpPr>
        <p:spPr bwMode="auto">
          <a:xfrm>
            <a:off x="5791200" y="6019800"/>
            <a:ext cx="10572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charset="0"/>
              </a:rPr>
              <a:t>Alternate </a:t>
            </a:r>
          </a:p>
        </p:txBody>
      </p:sp>
      <p:sp>
        <p:nvSpPr>
          <p:cNvPr id="3077" name="Line 5"/>
          <p:cNvSpPr>
            <a:spLocks noChangeShapeType="1"/>
          </p:cNvSpPr>
          <p:nvPr/>
        </p:nvSpPr>
        <p:spPr bwMode="auto">
          <a:xfrm>
            <a:off x="3962400" y="4800600"/>
            <a:ext cx="2133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8" name="Line 6"/>
          <p:cNvSpPr>
            <a:spLocks noChangeShapeType="1"/>
          </p:cNvSpPr>
          <p:nvPr/>
        </p:nvSpPr>
        <p:spPr bwMode="auto">
          <a:xfrm flipH="1">
            <a:off x="3810000" y="4800600"/>
            <a:ext cx="152400" cy="228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9" name="Line 7"/>
          <p:cNvSpPr>
            <a:spLocks noChangeShapeType="1"/>
          </p:cNvSpPr>
          <p:nvPr/>
        </p:nvSpPr>
        <p:spPr bwMode="auto">
          <a:xfrm>
            <a:off x="3810000" y="5029200"/>
            <a:ext cx="0" cy="914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0" name="Line 8"/>
          <p:cNvSpPr>
            <a:spLocks noChangeShapeType="1"/>
          </p:cNvSpPr>
          <p:nvPr/>
        </p:nvSpPr>
        <p:spPr bwMode="auto">
          <a:xfrm>
            <a:off x="8305800" y="4800600"/>
            <a:ext cx="0" cy="685800"/>
          </a:xfrm>
          <a:prstGeom prst="line">
            <a:avLst/>
          </a:prstGeom>
          <a:noFill/>
          <a:ln w="38100">
            <a:solidFill>
              <a:srgbClr val="FFC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1" name="Line 9"/>
          <p:cNvSpPr>
            <a:spLocks noChangeShapeType="1"/>
          </p:cNvSpPr>
          <p:nvPr/>
        </p:nvSpPr>
        <p:spPr bwMode="auto">
          <a:xfrm>
            <a:off x="8305800" y="5486400"/>
            <a:ext cx="152400" cy="0"/>
          </a:xfrm>
          <a:prstGeom prst="line">
            <a:avLst/>
          </a:prstGeom>
          <a:noFill/>
          <a:ln w="38100">
            <a:solidFill>
              <a:srgbClr val="FFC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2" name="Line 10"/>
          <p:cNvSpPr>
            <a:spLocks noChangeShapeType="1"/>
          </p:cNvSpPr>
          <p:nvPr/>
        </p:nvSpPr>
        <p:spPr bwMode="auto">
          <a:xfrm>
            <a:off x="8458200" y="5486400"/>
            <a:ext cx="0" cy="381000"/>
          </a:xfrm>
          <a:prstGeom prst="line">
            <a:avLst/>
          </a:prstGeom>
          <a:noFill/>
          <a:ln w="38100">
            <a:solidFill>
              <a:srgbClr val="FFC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3" name="Line 11"/>
          <p:cNvSpPr>
            <a:spLocks noChangeShapeType="1"/>
          </p:cNvSpPr>
          <p:nvPr/>
        </p:nvSpPr>
        <p:spPr bwMode="auto">
          <a:xfrm>
            <a:off x="4953000" y="6432550"/>
            <a:ext cx="838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4" name="Text Box 12"/>
          <p:cNvSpPr txBox="1">
            <a:spLocks noChangeArrowheads="1"/>
          </p:cNvSpPr>
          <p:nvPr/>
        </p:nvSpPr>
        <p:spPr bwMode="auto">
          <a:xfrm>
            <a:off x="5791200" y="6248400"/>
            <a:ext cx="8683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charset="0"/>
              </a:rPr>
              <a:t>Primary</a:t>
            </a:r>
          </a:p>
        </p:txBody>
      </p:sp>
      <p:sp>
        <p:nvSpPr>
          <p:cNvPr id="3085" name="Line 13"/>
          <p:cNvSpPr>
            <a:spLocks noChangeShapeType="1"/>
          </p:cNvSpPr>
          <p:nvPr/>
        </p:nvSpPr>
        <p:spPr bwMode="auto">
          <a:xfrm>
            <a:off x="6019800" y="4800600"/>
            <a:ext cx="2286000" cy="0"/>
          </a:xfrm>
          <a:prstGeom prst="line">
            <a:avLst/>
          </a:prstGeom>
          <a:noFill/>
          <a:ln w="38100">
            <a:solidFill>
              <a:srgbClr val="FFC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6" name="Line 15"/>
          <p:cNvSpPr>
            <a:spLocks noChangeShapeType="1"/>
          </p:cNvSpPr>
          <p:nvPr/>
        </p:nvSpPr>
        <p:spPr bwMode="auto">
          <a:xfrm>
            <a:off x="76200" y="4800600"/>
            <a:ext cx="3657600" cy="0"/>
          </a:xfrm>
          <a:prstGeom prst="line">
            <a:avLst/>
          </a:prstGeom>
          <a:noFill/>
          <a:ln w="38100">
            <a:solidFill>
              <a:srgbClr val="FFC000"/>
            </a:solidFill>
            <a:prstDash val="dash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7" name="Line 16"/>
          <p:cNvSpPr>
            <a:spLocks noChangeShapeType="1"/>
          </p:cNvSpPr>
          <p:nvPr/>
        </p:nvSpPr>
        <p:spPr bwMode="auto">
          <a:xfrm>
            <a:off x="3733800" y="4800600"/>
            <a:ext cx="76200" cy="228600"/>
          </a:xfrm>
          <a:prstGeom prst="line">
            <a:avLst/>
          </a:prstGeom>
          <a:noFill/>
          <a:ln w="38100">
            <a:solidFill>
              <a:srgbClr val="FFC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8" name="Rectangle 17"/>
          <p:cNvSpPr>
            <a:spLocks noChangeArrowheads="1"/>
          </p:cNvSpPr>
          <p:nvPr/>
        </p:nvSpPr>
        <p:spPr bwMode="auto">
          <a:xfrm>
            <a:off x="6324600" y="990600"/>
            <a:ext cx="2819400" cy="762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3089" name="Text Box 18"/>
          <p:cNvSpPr txBox="1">
            <a:spLocks noChangeArrowheads="1"/>
          </p:cNvSpPr>
          <p:nvPr/>
        </p:nvSpPr>
        <p:spPr bwMode="auto">
          <a:xfrm>
            <a:off x="5105400" y="5867400"/>
            <a:ext cx="13255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charset="0"/>
              </a:rPr>
              <a:t>Escape Routes</a:t>
            </a:r>
          </a:p>
        </p:txBody>
      </p:sp>
      <p:sp>
        <p:nvSpPr>
          <p:cNvPr id="3090" name="Rectangle 19"/>
          <p:cNvSpPr>
            <a:spLocks noChangeArrowheads="1"/>
          </p:cNvSpPr>
          <p:nvPr/>
        </p:nvSpPr>
        <p:spPr bwMode="auto">
          <a:xfrm>
            <a:off x="4800600" y="5867400"/>
            <a:ext cx="1981200" cy="762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3091" name="Text Box 20"/>
          <p:cNvSpPr txBox="1">
            <a:spLocks noChangeArrowheads="1"/>
          </p:cNvSpPr>
          <p:nvPr/>
        </p:nvSpPr>
        <p:spPr bwMode="auto">
          <a:xfrm>
            <a:off x="6019800" y="511175"/>
            <a:ext cx="3124200" cy="307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latin typeface="Tahoma" charset="0"/>
              </a:rPr>
              <a:t>Tornado Routine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charset="0"/>
              </a:rPr>
              <a:t>All children will remain in the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charset="0"/>
              </a:rPr>
              <a:t>basement and move to a safe area.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charset="0"/>
              </a:rPr>
              <a:t>The Director or Assistant Director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charset="0"/>
              </a:rPr>
              <a:t>will monitor the battery powered radio in the school office.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400">
              <a:latin typeface="Tahoma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400">
              <a:latin typeface="Tahoma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latin typeface="Tahoma" charset="0"/>
              </a:rPr>
              <a:t>Earthquake Routine</a:t>
            </a:r>
            <a:endParaRPr lang="en-US" altLang="en-US" sz="1400">
              <a:latin typeface="Tahoma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charset="0"/>
              </a:rPr>
              <a:t>The children will go under tables and remain until all clear is given by the teacher.  The teacher and teaching assistant will stand in doorway until danger has past.</a:t>
            </a:r>
            <a:endParaRPr lang="en-US" altLang="en-US" sz="1400" b="1">
              <a:latin typeface="Tahoma" charset="0"/>
            </a:endParaRPr>
          </a:p>
        </p:txBody>
      </p:sp>
      <p:sp>
        <p:nvSpPr>
          <p:cNvPr id="3092" name="Rectangle 21"/>
          <p:cNvSpPr>
            <a:spLocks noChangeArrowheads="1"/>
          </p:cNvSpPr>
          <p:nvPr/>
        </p:nvSpPr>
        <p:spPr bwMode="auto">
          <a:xfrm>
            <a:off x="4038600" y="2590800"/>
            <a:ext cx="533400" cy="16002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3093" name="Rectangle 22"/>
          <p:cNvSpPr>
            <a:spLocks noChangeArrowheads="1"/>
          </p:cNvSpPr>
          <p:nvPr/>
        </p:nvSpPr>
        <p:spPr bwMode="auto">
          <a:xfrm>
            <a:off x="4572000" y="3962400"/>
            <a:ext cx="381000" cy="2286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3094" name="Rectangle 23"/>
          <p:cNvSpPr>
            <a:spLocks noChangeArrowheads="1"/>
          </p:cNvSpPr>
          <p:nvPr/>
        </p:nvSpPr>
        <p:spPr bwMode="auto">
          <a:xfrm>
            <a:off x="4038600" y="4191000"/>
            <a:ext cx="914400" cy="5334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3095" name="Rectangle 24"/>
          <p:cNvSpPr>
            <a:spLocks noChangeArrowheads="1"/>
          </p:cNvSpPr>
          <p:nvPr/>
        </p:nvSpPr>
        <p:spPr bwMode="auto">
          <a:xfrm>
            <a:off x="4572000" y="4876800"/>
            <a:ext cx="533400" cy="6096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3096" name="Text Box 25"/>
          <p:cNvSpPr txBox="1">
            <a:spLocks noChangeArrowheads="1"/>
          </p:cNvSpPr>
          <p:nvPr/>
        </p:nvSpPr>
        <p:spPr bwMode="auto">
          <a:xfrm>
            <a:off x="4038600" y="30321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00" b="1">
                <a:solidFill>
                  <a:srgbClr val="FF3300"/>
                </a:solidFill>
                <a:latin typeface="Tahoma" charset="0"/>
              </a:rPr>
              <a:t>SAFE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00" b="1">
                <a:solidFill>
                  <a:srgbClr val="FF3300"/>
                </a:solidFill>
                <a:latin typeface="Tahoma" charset="0"/>
              </a:rPr>
              <a:t>AREA</a:t>
            </a:r>
          </a:p>
        </p:txBody>
      </p:sp>
      <p:sp>
        <p:nvSpPr>
          <p:cNvPr id="3097" name="Rectangle 26"/>
          <p:cNvSpPr>
            <a:spLocks noChangeArrowheads="1"/>
          </p:cNvSpPr>
          <p:nvPr/>
        </p:nvSpPr>
        <p:spPr bwMode="auto">
          <a:xfrm>
            <a:off x="4038600" y="4191000"/>
            <a:ext cx="533400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000" b="1">
                <a:solidFill>
                  <a:srgbClr val="FF3300"/>
                </a:solidFill>
                <a:latin typeface="Tahoma" charset="0"/>
              </a:rPr>
              <a:t>SAFE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000" b="1">
                <a:solidFill>
                  <a:srgbClr val="FF3300"/>
                </a:solidFill>
                <a:latin typeface="Tahoma" charset="0"/>
              </a:rPr>
              <a:t>AREA</a:t>
            </a:r>
          </a:p>
        </p:txBody>
      </p:sp>
      <p:sp>
        <p:nvSpPr>
          <p:cNvPr id="3098" name="Rectangle 27"/>
          <p:cNvSpPr>
            <a:spLocks noChangeArrowheads="1"/>
          </p:cNvSpPr>
          <p:nvPr/>
        </p:nvSpPr>
        <p:spPr bwMode="auto">
          <a:xfrm>
            <a:off x="4572000" y="4953000"/>
            <a:ext cx="666750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000" b="1">
                <a:solidFill>
                  <a:srgbClr val="FF3300"/>
                </a:solidFill>
                <a:latin typeface="Tahoma" charset="0"/>
              </a:rPr>
              <a:t>SAFE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000" b="1">
                <a:solidFill>
                  <a:srgbClr val="FF3300"/>
                </a:solidFill>
                <a:latin typeface="Tahoma" charset="0"/>
              </a:rPr>
              <a:t>AREA</a:t>
            </a:r>
          </a:p>
        </p:txBody>
      </p:sp>
      <p:sp>
        <p:nvSpPr>
          <p:cNvPr id="3099" name="Line 28"/>
          <p:cNvSpPr>
            <a:spLocks noChangeShapeType="1"/>
          </p:cNvSpPr>
          <p:nvPr/>
        </p:nvSpPr>
        <p:spPr bwMode="auto">
          <a:xfrm>
            <a:off x="6019800" y="4572000"/>
            <a:ext cx="0" cy="228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00" name="Line 30"/>
          <p:cNvSpPr>
            <a:spLocks noChangeShapeType="1"/>
          </p:cNvSpPr>
          <p:nvPr/>
        </p:nvSpPr>
        <p:spPr bwMode="auto">
          <a:xfrm>
            <a:off x="5410200" y="4572000"/>
            <a:ext cx="0" cy="228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01" name="TextBox 28"/>
          <p:cNvSpPr txBox="1">
            <a:spLocks noChangeArrowheads="1"/>
          </p:cNvSpPr>
          <p:nvPr/>
        </p:nvSpPr>
        <p:spPr bwMode="auto">
          <a:xfrm>
            <a:off x="5562600" y="457200"/>
            <a:ext cx="609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A-1</a:t>
            </a:r>
          </a:p>
        </p:txBody>
      </p:sp>
      <p:cxnSp>
        <p:nvCxnSpPr>
          <p:cNvPr id="3102" name="Straight Arrow Connector 30"/>
          <p:cNvCxnSpPr>
            <a:cxnSpLocks noChangeShapeType="1"/>
            <a:stCxn id="3101" idx="2"/>
          </p:cNvCxnSpPr>
          <p:nvPr/>
        </p:nvCxnSpPr>
        <p:spPr bwMode="auto">
          <a:xfrm>
            <a:off x="5867400" y="827088"/>
            <a:ext cx="152400" cy="315912"/>
          </a:xfrm>
          <a:prstGeom prst="straightConnector1">
            <a:avLst/>
          </a:prstGeom>
          <a:noFill/>
          <a:ln w="381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03" name="TextBox 31"/>
          <p:cNvSpPr txBox="1">
            <a:spLocks noChangeArrowheads="1"/>
          </p:cNvSpPr>
          <p:nvPr/>
        </p:nvSpPr>
        <p:spPr bwMode="auto">
          <a:xfrm>
            <a:off x="6096000" y="1905000"/>
            <a:ext cx="609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A-2</a:t>
            </a:r>
          </a:p>
        </p:txBody>
      </p:sp>
      <p:cxnSp>
        <p:nvCxnSpPr>
          <p:cNvPr id="3104" name="Straight Arrow Connector 33"/>
          <p:cNvCxnSpPr>
            <a:cxnSpLocks noChangeShapeType="1"/>
            <a:stCxn id="3103" idx="0"/>
          </p:cNvCxnSpPr>
          <p:nvPr/>
        </p:nvCxnSpPr>
        <p:spPr bwMode="auto">
          <a:xfrm flipH="1" flipV="1">
            <a:off x="6019800" y="1752600"/>
            <a:ext cx="381000" cy="152400"/>
          </a:xfrm>
          <a:prstGeom prst="straightConnector1">
            <a:avLst/>
          </a:prstGeom>
          <a:noFill/>
          <a:ln w="381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05" name="TextBox 34"/>
          <p:cNvSpPr txBox="1">
            <a:spLocks noChangeArrowheads="1"/>
          </p:cNvSpPr>
          <p:nvPr/>
        </p:nvSpPr>
        <p:spPr bwMode="auto">
          <a:xfrm>
            <a:off x="8153400" y="5791200"/>
            <a:ext cx="762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B-1</a:t>
            </a:r>
          </a:p>
        </p:txBody>
      </p:sp>
      <p:sp>
        <p:nvSpPr>
          <p:cNvPr id="3106" name="TextBox 35"/>
          <p:cNvSpPr txBox="1">
            <a:spLocks noChangeArrowheads="1"/>
          </p:cNvSpPr>
          <p:nvPr/>
        </p:nvSpPr>
        <p:spPr bwMode="auto">
          <a:xfrm>
            <a:off x="7543800" y="5943600"/>
            <a:ext cx="533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B-2</a:t>
            </a:r>
          </a:p>
        </p:txBody>
      </p:sp>
      <p:sp>
        <p:nvSpPr>
          <p:cNvPr id="3107" name="TextBox 36"/>
          <p:cNvSpPr txBox="1">
            <a:spLocks noChangeArrowheads="1"/>
          </p:cNvSpPr>
          <p:nvPr/>
        </p:nvSpPr>
        <p:spPr bwMode="auto">
          <a:xfrm>
            <a:off x="3657600" y="5943600"/>
            <a:ext cx="533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B-4</a:t>
            </a:r>
          </a:p>
        </p:txBody>
      </p:sp>
      <p:sp>
        <p:nvSpPr>
          <p:cNvPr id="3108" name="TextBox 37"/>
          <p:cNvSpPr txBox="1">
            <a:spLocks noChangeArrowheads="1"/>
          </p:cNvSpPr>
          <p:nvPr/>
        </p:nvSpPr>
        <p:spPr bwMode="auto">
          <a:xfrm>
            <a:off x="0" y="56388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C-1</a:t>
            </a:r>
          </a:p>
        </p:txBody>
      </p:sp>
      <p:cxnSp>
        <p:nvCxnSpPr>
          <p:cNvPr id="3109" name="Straight Arrow Connector 39"/>
          <p:cNvCxnSpPr>
            <a:cxnSpLocks noChangeShapeType="1"/>
          </p:cNvCxnSpPr>
          <p:nvPr/>
        </p:nvCxnSpPr>
        <p:spPr bwMode="auto">
          <a:xfrm flipV="1">
            <a:off x="152400" y="5334000"/>
            <a:ext cx="0" cy="304800"/>
          </a:xfrm>
          <a:prstGeom prst="straightConnector1">
            <a:avLst/>
          </a:prstGeom>
          <a:noFill/>
          <a:ln w="381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10" name="TextBox 40"/>
          <p:cNvSpPr txBox="1">
            <a:spLocks noChangeArrowheads="1"/>
          </p:cNvSpPr>
          <p:nvPr/>
        </p:nvSpPr>
        <p:spPr bwMode="auto">
          <a:xfrm>
            <a:off x="152400" y="4267200"/>
            <a:ext cx="533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C-2</a:t>
            </a:r>
          </a:p>
        </p:txBody>
      </p:sp>
      <p:cxnSp>
        <p:nvCxnSpPr>
          <p:cNvPr id="3111" name="Straight Arrow Connector 42"/>
          <p:cNvCxnSpPr>
            <a:cxnSpLocks noChangeShapeType="1"/>
          </p:cNvCxnSpPr>
          <p:nvPr/>
        </p:nvCxnSpPr>
        <p:spPr bwMode="auto">
          <a:xfrm flipH="1">
            <a:off x="304800" y="4572000"/>
            <a:ext cx="228600" cy="152400"/>
          </a:xfrm>
          <a:prstGeom prst="straightConnector1">
            <a:avLst/>
          </a:prstGeom>
          <a:noFill/>
          <a:ln w="381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12" name="TextBox 43"/>
          <p:cNvSpPr txBox="1">
            <a:spLocks noChangeArrowheads="1"/>
          </p:cNvSpPr>
          <p:nvPr/>
        </p:nvSpPr>
        <p:spPr bwMode="auto">
          <a:xfrm>
            <a:off x="914400" y="2133600"/>
            <a:ext cx="609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C-3</a:t>
            </a:r>
          </a:p>
        </p:txBody>
      </p:sp>
      <p:cxnSp>
        <p:nvCxnSpPr>
          <p:cNvPr id="3113" name="Straight Arrow Connector 45"/>
          <p:cNvCxnSpPr>
            <a:cxnSpLocks noChangeShapeType="1"/>
          </p:cNvCxnSpPr>
          <p:nvPr/>
        </p:nvCxnSpPr>
        <p:spPr bwMode="auto">
          <a:xfrm>
            <a:off x="1371600" y="2286000"/>
            <a:ext cx="76200" cy="228600"/>
          </a:xfrm>
          <a:prstGeom prst="straightConnector1">
            <a:avLst/>
          </a:prstGeom>
          <a:noFill/>
          <a:ln w="381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14" name="TextBox 46"/>
          <p:cNvSpPr txBox="1">
            <a:spLocks noChangeArrowheads="1"/>
          </p:cNvSpPr>
          <p:nvPr/>
        </p:nvSpPr>
        <p:spPr bwMode="auto">
          <a:xfrm>
            <a:off x="533400" y="13716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C-4</a:t>
            </a:r>
          </a:p>
        </p:txBody>
      </p:sp>
      <p:cxnSp>
        <p:nvCxnSpPr>
          <p:cNvPr id="3115" name="Straight Arrow Connector 48"/>
          <p:cNvCxnSpPr>
            <a:cxnSpLocks noChangeShapeType="1"/>
          </p:cNvCxnSpPr>
          <p:nvPr/>
        </p:nvCxnSpPr>
        <p:spPr bwMode="auto">
          <a:xfrm>
            <a:off x="1066800" y="1600200"/>
            <a:ext cx="381000" cy="152400"/>
          </a:xfrm>
          <a:prstGeom prst="straightConnector1">
            <a:avLst/>
          </a:prstGeom>
          <a:noFill/>
          <a:ln w="381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16" name="TextBox 49"/>
          <p:cNvSpPr txBox="1">
            <a:spLocks noChangeArrowheads="1"/>
          </p:cNvSpPr>
          <p:nvPr/>
        </p:nvSpPr>
        <p:spPr bwMode="auto">
          <a:xfrm>
            <a:off x="304800" y="1905000"/>
            <a:ext cx="838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D-1</a:t>
            </a:r>
          </a:p>
        </p:txBody>
      </p:sp>
      <p:cxnSp>
        <p:nvCxnSpPr>
          <p:cNvPr id="3117" name="Straight Arrow Connector 51"/>
          <p:cNvCxnSpPr>
            <a:cxnSpLocks noChangeShapeType="1"/>
          </p:cNvCxnSpPr>
          <p:nvPr/>
        </p:nvCxnSpPr>
        <p:spPr bwMode="auto">
          <a:xfrm>
            <a:off x="533400" y="2209800"/>
            <a:ext cx="0" cy="304800"/>
          </a:xfrm>
          <a:prstGeom prst="straightConnector1">
            <a:avLst/>
          </a:prstGeom>
          <a:noFill/>
          <a:ln w="381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18" name="TextBox 52"/>
          <p:cNvSpPr txBox="1">
            <a:spLocks noChangeArrowheads="1"/>
          </p:cNvSpPr>
          <p:nvPr/>
        </p:nvSpPr>
        <p:spPr bwMode="auto">
          <a:xfrm>
            <a:off x="2362200" y="9906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D-2</a:t>
            </a:r>
          </a:p>
        </p:txBody>
      </p:sp>
      <p:sp>
        <p:nvSpPr>
          <p:cNvPr id="3119" name="TextBox 53"/>
          <p:cNvSpPr txBox="1">
            <a:spLocks noChangeArrowheads="1"/>
          </p:cNvSpPr>
          <p:nvPr/>
        </p:nvSpPr>
        <p:spPr bwMode="auto">
          <a:xfrm>
            <a:off x="4038600" y="8382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D-3</a:t>
            </a:r>
          </a:p>
        </p:txBody>
      </p:sp>
      <p:pic>
        <p:nvPicPr>
          <p:cNvPr id="3120" name="Picture 4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163" y="5227638"/>
            <a:ext cx="249237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21" name="Picture 4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3363" y="4994275"/>
            <a:ext cx="249237" cy="249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22" name="Picture 5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73063"/>
            <a:ext cx="249238" cy="249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123" name="Rectangle 1"/>
          <p:cNvSpPr>
            <a:spLocks noChangeArrowheads="1"/>
          </p:cNvSpPr>
          <p:nvPr/>
        </p:nvSpPr>
        <p:spPr bwMode="auto">
          <a:xfrm>
            <a:off x="893763" y="384175"/>
            <a:ext cx="72707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/>
              <a:t>First Aid</a:t>
            </a:r>
          </a:p>
        </p:txBody>
      </p:sp>
      <p:pic>
        <p:nvPicPr>
          <p:cNvPr id="3124" name="Picture 5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2286000"/>
            <a:ext cx="249238" cy="249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25" name="Picture 5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9125" y="1808163"/>
            <a:ext cx="244475" cy="249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26" name="Picture 5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9763" y="2913063"/>
            <a:ext cx="244475" cy="249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988" y="1031875"/>
            <a:ext cx="8967787" cy="504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Line 3"/>
          <p:cNvSpPr>
            <a:spLocks noChangeShapeType="1"/>
          </p:cNvSpPr>
          <p:nvPr/>
        </p:nvSpPr>
        <p:spPr bwMode="auto">
          <a:xfrm>
            <a:off x="4953000" y="6203950"/>
            <a:ext cx="838200" cy="0"/>
          </a:xfrm>
          <a:prstGeom prst="line">
            <a:avLst/>
          </a:prstGeom>
          <a:noFill/>
          <a:ln w="50800">
            <a:solidFill>
              <a:srgbClr val="FFC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0" name="Text Box 4"/>
          <p:cNvSpPr txBox="1">
            <a:spLocks noChangeArrowheads="1"/>
          </p:cNvSpPr>
          <p:nvPr/>
        </p:nvSpPr>
        <p:spPr bwMode="auto">
          <a:xfrm>
            <a:off x="5791200" y="6019800"/>
            <a:ext cx="10572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charset="0"/>
              </a:rPr>
              <a:t>Alternate </a:t>
            </a:r>
          </a:p>
        </p:txBody>
      </p:sp>
      <p:sp>
        <p:nvSpPr>
          <p:cNvPr id="4101" name="Line 5"/>
          <p:cNvSpPr>
            <a:spLocks noChangeShapeType="1"/>
          </p:cNvSpPr>
          <p:nvPr/>
        </p:nvSpPr>
        <p:spPr bwMode="auto">
          <a:xfrm>
            <a:off x="3962400" y="4800600"/>
            <a:ext cx="2133600" cy="0"/>
          </a:xfrm>
          <a:prstGeom prst="line">
            <a:avLst/>
          </a:prstGeom>
          <a:noFill/>
          <a:ln w="38100">
            <a:solidFill>
              <a:srgbClr val="FFC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2" name="Line 6"/>
          <p:cNvSpPr>
            <a:spLocks noChangeShapeType="1"/>
          </p:cNvSpPr>
          <p:nvPr/>
        </p:nvSpPr>
        <p:spPr bwMode="auto">
          <a:xfrm flipH="1">
            <a:off x="3810000" y="4800600"/>
            <a:ext cx="152400" cy="228600"/>
          </a:xfrm>
          <a:prstGeom prst="line">
            <a:avLst/>
          </a:prstGeom>
          <a:noFill/>
          <a:ln w="38100">
            <a:solidFill>
              <a:srgbClr val="FFC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3" name="Line 7"/>
          <p:cNvSpPr>
            <a:spLocks noChangeShapeType="1"/>
          </p:cNvSpPr>
          <p:nvPr/>
        </p:nvSpPr>
        <p:spPr bwMode="auto">
          <a:xfrm>
            <a:off x="3810000" y="5029200"/>
            <a:ext cx="0" cy="914400"/>
          </a:xfrm>
          <a:prstGeom prst="line">
            <a:avLst/>
          </a:prstGeom>
          <a:noFill/>
          <a:ln w="38100">
            <a:solidFill>
              <a:srgbClr val="FFC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4" name="Line 8"/>
          <p:cNvSpPr>
            <a:spLocks noChangeShapeType="1"/>
          </p:cNvSpPr>
          <p:nvPr/>
        </p:nvSpPr>
        <p:spPr bwMode="auto">
          <a:xfrm>
            <a:off x="8305800" y="4800600"/>
            <a:ext cx="0" cy="685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5" name="Line 9"/>
          <p:cNvSpPr>
            <a:spLocks noChangeShapeType="1"/>
          </p:cNvSpPr>
          <p:nvPr/>
        </p:nvSpPr>
        <p:spPr bwMode="auto">
          <a:xfrm>
            <a:off x="8305800" y="5486400"/>
            <a:ext cx="152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6" name="Line 10"/>
          <p:cNvSpPr>
            <a:spLocks noChangeShapeType="1"/>
          </p:cNvSpPr>
          <p:nvPr/>
        </p:nvSpPr>
        <p:spPr bwMode="auto">
          <a:xfrm>
            <a:off x="8458200" y="5486400"/>
            <a:ext cx="0" cy="381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7" name="Line 11"/>
          <p:cNvSpPr>
            <a:spLocks noChangeShapeType="1"/>
          </p:cNvSpPr>
          <p:nvPr/>
        </p:nvSpPr>
        <p:spPr bwMode="auto">
          <a:xfrm>
            <a:off x="4953000" y="6432550"/>
            <a:ext cx="838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8" name="Text Box 12"/>
          <p:cNvSpPr txBox="1">
            <a:spLocks noChangeArrowheads="1"/>
          </p:cNvSpPr>
          <p:nvPr/>
        </p:nvSpPr>
        <p:spPr bwMode="auto">
          <a:xfrm>
            <a:off x="5791200" y="6248400"/>
            <a:ext cx="8683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charset="0"/>
              </a:rPr>
              <a:t>Primary</a:t>
            </a:r>
          </a:p>
        </p:txBody>
      </p:sp>
      <p:sp>
        <p:nvSpPr>
          <p:cNvPr id="4109" name="Line 13"/>
          <p:cNvSpPr>
            <a:spLocks noChangeShapeType="1"/>
          </p:cNvSpPr>
          <p:nvPr/>
        </p:nvSpPr>
        <p:spPr bwMode="auto">
          <a:xfrm>
            <a:off x="6019800" y="4800600"/>
            <a:ext cx="2286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10" name="Line 14"/>
          <p:cNvSpPr>
            <a:spLocks noChangeShapeType="1"/>
          </p:cNvSpPr>
          <p:nvPr/>
        </p:nvSpPr>
        <p:spPr bwMode="auto">
          <a:xfrm>
            <a:off x="76200" y="4800600"/>
            <a:ext cx="3657600" cy="0"/>
          </a:xfrm>
          <a:prstGeom prst="line">
            <a:avLst/>
          </a:prstGeom>
          <a:noFill/>
          <a:ln w="38100">
            <a:solidFill>
              <a:srgbClr val="FFC000"/>
            </a:solidFill>
            <a:prstDash val="dash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11" name="Line 15"/>
          <p:cNvSpPr>
            <a:spLocks noChangeShapeType="1"/>
          </p:cNvSpPr>
          <p:nvPr/>
        </p:nvSpPr>
        <p:spPr bwMode="auto">
          <a:xfrm>
            <a:off x="3733800" y="4800600"/>
            <a:ext cx="76200" cy="228600"/>
          </a:xfrm>
          <a:prstGeom prst="line">
            <a:avLst/>
          </a:prstGeom>
          <a:noFill/>
          <a:ln w="38100">
            <a:solidFill>
              <a:srgbClr val="FFC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12" name="Rectangle 16"/>
          <p:cNvSpPr>
            <a:spLocks noChangeArrowheads="1"/>
          </p:cNvSpPr>
          <p:nvPr/>
        </p:nvSpPr>
        <p:spPr bwMode="auto">
          <a:xfrm>
            <a:off x="6324600" y="990600"/>
            <a:ext cx="2819400" cy="762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4113" name="Text Box 17"/>
          <p:cNvSpPr txBox="1">
            <a:spLocks noChangeArrowheads="1"/>
          </p:cNvSpPr>
          <p:nvPr/>
        </p:nvSpPr>
        <p:spPr bwMode="auto">
          <a:xfrm>
            <a:off x="5105400" y="5867400"/>
            <a:ext cx="13255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charset="0"/>
              </a:rPr>
              <a:t>Escape Routes</a:t>
            </a:r>
          </a:p>
        </p:txBody>
      </p:sp>
      <p:sp>
        <p:nvSpPr>
          <p:cNvPr id="4114" name="Rectangle 18"/>
          <p:cNvSpPr>
            <a:spLocks noChangeArrowheads="1"/>
          </p:cNvSpPr>
          <p:nvPr/>
        </p:nvSpPr>
        <p:spPr bwMode="auto">
          <a:xfrm>
            <a:off x="4800600" y="5867400"/>
            <a:ext cx="1981200" cy="762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4115" name="Text Box 19"/>
          <p:cNvSpPr txBox="1">
            <a:spLocks noChangeArrowheads="1"/>
          </p:cNvSpPr>
          <p:nvPr/>
        </p:nvSpPr>
        <p:spPr bwMode="auto">
          <a:xfrm>
            <a:off x="6019800" y="511175"/>
            <a:ext cx="3124200" cy="317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latin typeface="Tahoma" charset="0"/>
              </a:rPr>
              <a:t>Tornado Routine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charset="0"/>
              </a:rPr>
              <a:t>All children will remain in the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charset="0"/>
              </a:rPr>
              <a:t>basement and move to a safe area.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charset="0"/>
              </a:rPr>
              <a:t>The Director or Assistant Director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charset="0"/>
              </a:rPr>
              <a:t>will monitor the battery powered radio in the school office.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Tahoma" charset="0"/>
              </a:rPr>
              <a:t> A-2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400">
              <a:latin typeface="Tahoma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latin typeface="Tahoma" charset="0"/>
              </a:rPr>
              <a:t>Earthquake Routine</a:t>
            </a:r>
            <a:endParaRPr lang="en-US" altLang="en-US" sz="1400">
              <a:latin typeface="Tahoma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charset="0"/>
              </a:rPr>
              <a:t>The children will go under tables and remain until all clear is given by the teacher.  The teacher and teaching assistant will stand in doorway until danger has past.</a:t>
            </a:r>
            <a:endParaRPr lang="en-US" altLang="en-US" sz="1400" b="1">
              <a:latin typeface="Tahoma" charset="0"/>
            </a:endParaRPr>
          </a:p>
        </p:txBody>
      </p:sp>
      <p:sp>
        <p:nvSpPr>
          <p:cNvPr id="4116" name="Rectangle 20"/>
          <p:cNvSpPr>
            <a:spLocks noChangeArrowheads="1"/>
          </p:cNvSpPr>
          <p:nvPr/>
        </p:nvSpPr>
        <p:spPr bwMode="auto">
          <a:xfrm>
            <a:off x="4038600" y="2590800"/>
            <a:ext cx="533400" cy="16002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4117" name="Rectangle 21"/>
          <p:cNvSpPr>
            <a:spLocks noChangeArrowheads="1"/>
          </p:cNvSpPr>
          <p:nvPr/>
        </p:nvSpPr>
        <p:spPr bwMode="auto">
          <a:xfrm>
            <a:off x="4572000" y="3962400"/>
            <a:ext cx="381000" cy="2286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4038600" y="4191000"/>
            <a:ext cx="914400" cy="5334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4119" name="Rectangle 23"/>
          <p:cNvSpPr>
            <a:spLocks noChangeArrowheads="1"/>
          </p:cNvSpPr>
          <p:nvPr/>
        </p:nvSpPr>
        <p:spPr bwMode="auto">
          <a:xfrm>
            <a:off x="4572000" y="4876800"/>
            <a:ext cx="533400" cy="6096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4120" name="Text Box 24"/>
          <p:cNvSpPr txBox="1">
            <a:spLocks noChangeArrowheads="1"/>
          </p:cNvSpPr>
          <p:nvPr/>
        </p:nvSpPr>
        <p:spPr bwMode="auto">
          <a:xfrm>
            <a:off x="4038600" y="30321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00" b="1">
                <a:solidFill>
                  <a:srgbClr val="FF3300"/>
                </a:solidFill>
                <a:latin typeface="Tahoma" charset="0"/>
              </a:rPr>
              <a:t>SAFE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00" b="1">
                <a:solidFill>
                  <a:srgbClr val="FF3300"/>
                </a:solidFill>
                <a:latin typeface="Tahoma" charset="0"/>
              </a:rPr>
              <a:t>AREA</a:t>
            </a:r>
          </a:p>
        </p:txBody>
      </p:sp>
      <p:sp>
        <p:nvSpPr>
          <p:cNvPr id="4121" name="Rectangle 25"/>
          <p:cNvSpPr>
            <a:spLocks noChangeArrowheads="1"/>
          </p:cNvSpPr>
          <p:nvPr/>
        </p:nvSpPr>
        <p:spPr bwMode="auto">
          <a:xfrm>
            <a:off x="4038600" y="4191000"/>
            <a:ext cx="533400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000" b="1">
                <a:solidFill>
                  <a:srgbClr val="FF3300"/>
                </a:solidFill>
                <a:latin typeface="Tahoma" charset="0"/>
              </a:rPr>
              <a:t>SAFE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000" b="1">
                <a:solidFill>
                  <a:srgbClr val="FF3300"/>
                </a:solidFill>
                <a:latin typeface="Tahoma" charset="0"/>
              </a:rPr>
              <a:t>AREA</a:t>
            </a:r>
          </a:p>
        </p:txBody>
      </p:sp>
      <p:sp>
        <p:nvSpPr>
          <p:cNvPr id="4122" name="Rectangle 26"/>
          <p:cNvSpPr>
            <a:spLocks noChangeArrowheads="1"/>
          </p:cNvSpPr>
          <p:nvPr/>
        </p:nvSpPr>
        <p:spPr bwMode="auto">
          <a:xfrm>
            <a:off x="4572000" y="4953000"/>
            <a:ext cx="666750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000" b="1">
                <a:solidFill>
                  <a:srgbClr val="FF3300"/>
                </a:solidFill>
                <a:latin typeface="Tahoma" charset="0"/>
              </a:rPr>
              <a:t>SAFE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000" b="1">
                <a:solidFill>
                  <a:srgbClr val="FF3300"/>
                </a:solidFill>
                <a:latin typeface="Tahoma" charset="0"/>
              </a:rPr>
              <a:t>AREA</a:t>
            </a:r>
          </a:p>
        </p:txBody>
      </p:sp>
      <p:sp>
        <p:nvSpPr>
          <p:cNvPr id="4123" name="Line 29"/>
          <p:cNvSpPr>
            <a:spLocks noChangeShapeType="1"/>
          </p:cNvSpPr>
          <p:nvPr/>
        </p:nvSpPr>
        <p:spPr bwMode="auto">
          <a:xfrm>
            <a:off x="6172200" y="4572000"/>
            <a:ext cx="0" cy="228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24" name="Line 30"/>
          <p:cNvSpPr>
            <a:spLocks noChangeShapeType="1"/>
          </p:cNvSpPr>
          <p:nvPr/>
        </p:nvSpPr>
        <p:spPr bwMode="auto">
          <a:xfrm>
            <a:off x="6781800" y="4572000"/>
            <a:ext cx="0" cy="228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25" name="TextBox 28"/>
          <p:cNvSpPr txBox="1">
            <a:spLocks noChangeArrowheads="1"/>
          </p:cNvSpPr>
          <p:nvPr/>
        </p:nvSpPr>
        <p:spPr bwMode="auto">
          <a:xfrm>
            <a:off x="5791200" y="609600"/>
            <a:ext cx="609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A-1</a:t>
            </a:r>
          </a:p>
        </p:txBody>
      </p:sp>
      <p:cxnSp>
        <p:nvCxnSpPr>
          <p:cNvPr id="4126" name="Straight Arrow Connector 30"/>
          <p:cNvCxnSpPr>
            <a:cxnSpLocks noChangeShapeType="1"/>
            <a:stCxn id="4125" idx="2"/>
          </p:cNvCxnSpPr>
          <p:nvPr/>
        </p:nvCxnSpPr>
        <p:spPr bwMode="auto">
          <a:xfrm flipH="1">
            <a:off x="6019800" y="979488"/>
            <a:ext cx="76200" cy="163512"/>
          </a:xfrm>
          <a:prstGeom prst="straightConnector1">
            <a:avLst/>
          </a:prstGeom>
          <a:noFill/>
          <a:ln w="381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27" name="Straight Arrow Connector 32"/>
          <p:cNvCxnSpPr>
            <a:cxnSpLocks noChangeShapeType="1"/>
          </p:cNvCxnSpPr>
          <p:nvPr/>
        </p:nvCxnSpPr>
        <p:spPr bwMode="auto">
          <a:xfrm flipH="1" flipV="1">
            <a:off x="6019800" y="1752600"/>
            <a:ext cx="152400" cy="152400"/>
          </a:xfrm>
          <a:prstGeom prst="straightConnector1">
            <a:avLst/>
          </a:prstGeom>
          <a:noFill/>
          <a:ln w="381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28" name="TextBox 34"/>
          <p:cNvSpPr txBox="1">
            <a:spLocks noChangeArrowheads="1"/>
          </p:cNvSpPr>
          <p:nvPr/>
        </p:nvSpPr>
        <p:spPr bwMode="auto">
          <a:xfrm>
            <a:off x="8153400" y="59436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B-1</a:t>
            </a:r>
          </a:p>
        </p:txBody>
      </p:sp>
      <p:sp>
        <p:nvSpPr>
          <p:cNvPr id="4129" name="TextBox 35"/>
          <p:cNvSpPr txBox="1">
            <a:spLocks noChangeArrowheads="1"/>
          </p:cNvSpPr>
          <p:nvPr/>
        </p:nvSpPr>
        <p:spPr bwMode="auto">
          <a:xfrm>
            <a:off x="7543800" y="59436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B-2</a:t>
            </a:r>
          </a:p>
        </p:txBody>
      </p:sp>
      <p:sp>
        <p:nvSpPr>
          <p:cNvPr id="4130" name="TextBox 36"/>
          <p:cNvSpPr txBox="1">
            <a:spLocks noChangeArrowheads="1"/>
          </p:cNvSpPr>
          <p:nvPr/>
        </p:nvSpPr>
        <p:spPr bwMode="auto">
          <a:xfrm>
            <a:off x="3505200" y="6019800"/>
            <a:ext cx="762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B-4</a:t>
            </a:r>
          </a:p>
        </p:txBody>
      </p:sp>
      <p:sp>
        <p:nvSpPr>
          <p:cNvPr id="4131" name="TextBox 37"/>
          <p:cNvSpPr txBox="1">
            <a:spLocks noChangeArrowheads="1"/>
          </p:cNvSpPr>
          <p:nvPr/>
        </p:nvSpPr>
        <p:spPr bwMode="auto">
          <a:xfrm>
            <a:off x="152400" y="5791200"/>
            <a:ext cx="762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C-1</a:t>
            </a:r>
          </a:p>
        </p:txBody>
      </p:sp>
      <p:cxnSp>
        <p:nvCxnSpPr>
          <p:cNvPr id="4132" name="Straight Arrow Connector 39"/>
          <p:cNvCxnSpPr>
            <a:cxnSpLocks noChangeShapeType="1"/>
          </p:cNvCxnSpPr>
          <p:nvPr/>
        </p:nvCxnSpPr>
        <p:spPr bwMode="auto">
          <a:xfrm flipH="1" flipV="1">
            <a:off x="152400" y="5410200"/>
            <a:ext cx="152400" cy="381000"/>
          </a:xfrm>
          <a:prstGeom prst="straightConnector1">
            <a:avLst/>
          </a:prstGeom>
          <a:noFill/>
          <a:ln w="381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33" name="TextBox 40"/>
          <p:cNvSpPr txBox="1">
            <a:spLocks noChangeArrowheads="1"/>
          </p:cNvSpPr>
          <p:nvPr/>
        </p:nvSpPr>
        <p:spPr bwMode="auto">
          <a:xfrm>
            <a:off x="304800" y="44196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C-2</a:t>
            </a:r>
          </a:p>
        </p:txBody>
      </p:sp>
      <p:cxnSp>
        <p:nvCxnSpPr>
          <p:cNvPr id="4134" name="Straight Arrow Connector 42"/>
          <p:cNvCxnSpPr>
            <a:cxnSpLocks noChangeShapeType="1"/>
          </p:cNvCxnSpPr>
          <p:nvPr/>
        </p:nvCxnSpPr>
        <p:spPr bwMode="auto">
          <a:xfrm flipH="1">
            <a:off x="381000" y="4648200"/>
            <a:ext cx="228600" cy="152400"/>
          </a:xfrm>
          <a:prstGeom prst="straightConnector1">
            <a:avLst/>
          </a:prstGeom>
          <a:noFill/>
          <a:ln w="381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35" name="TextBox 43"/>
          <p:cNvSpPr txBox="1">
            <a:spLocks noChangeArrowheads="1"/>
          </p:cNvSpPr>
          <p:nvPr/>
        </p:nvSpPr>
        <p:spPr bwMode="auto">
          <a:xfrm>
            <a:off x="228600" y="20574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D-1</a:t>
            </a:r>
          </a:p>
        </p:txBody>
      </p:sp>
      <p:sp>
        <p:nvSpPr>
          <p:cNvPr id="4136" name="TextBox 44"/>
          <p:cNvSpPr txBox="1">
            <a:spLocks noChangeArrowheads="1"/>
          </p:cNvSpPr>
          <p:nvPr/>
        </p:nvSpPr>
        <p:spPr bwMode="auto">
          <a:xfrm>
            <a:off x="990600" y="2209800"/>
            <a:ext cx="533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C-3</a:t>
            </a:r>
          </a:p>
        </p:txBody>
      </p:sp>
      <p:sp>
        <p:nvSpPr>
          <p:cNvPr id="4137" name="TextBox 45"/>
          <p:cNvSpPr txBox="1">
            <a:spLocks noChangeArrowheads="1"/>
          </p:cNvSpPr>
          <p:nvPr/>
        </p:nvSpPr>
        <p:spPr bwMode="auto">
          <a:xfrm>
            <a:off x="838200" y="1524000"/>
            <a:ext cx="609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C-4</a:t>
            </a:r>
          </a:p>
        </p:txBody>
      </p:sp>
      <p:sp>
        <p:nvSpPr>
          <p:cNvPr id="4138" name="TextBox 46"/>
          <p:cNvSpPr txBox="1">
            <a:spLocks noChangeArrowheads="1"/>
          </p:cNvSpPr>
          <p:nvPr/>
        </p:nvSpPr>
        <p:spPr bwMode="auto">
          <a:xfrm>
            <a:off x="2362200" y="9906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D-2</a:t>
            </a:r>
          </a:p>
        </p:txBody>
      </p:sp>
      <p:sp>
        <p:nvSpPr>
          <p:cNvPr id="4139" name="TextBox 47"/>
          <p:cNvSpPr txBox="1">
            <a:spLocks noChangeArrowheads="1"/>
          </p:cNvSpPr>
          <p:nvPr/>
        </p:nvSpPr>
        <p:spPr bwMode="auto">
          <a:xfrm>
            <a:off x="4038600" y="914400"/>
            <a:ext cx="762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D-3</a:t>
            </a:r>
          </a:p>
        </p:txBody>
      </p:sp>
      <p:pic>
        <p:nvPicPr>
          <p:cNvPr id="4140" name="Picture 4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113" y="5237163"/>
            <a:ext cx="249237" cy="249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41" name="Picture 4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2100" y="4987925"/>
            <a:ext cx="249238" cy="249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42" name="Picture 4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963" y="312738"/>
            <a:ext cx="249237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143" name="Rectangle 1"/>
          <p:cNvSpPr>
            <a:spLocks noChangeArrowheads="1"/>
          </p:cNvSpPr>
          <p:nvPr/>
        </p:nvSpPr>
        <p:spPr bwMode="auto">
          <a:xfrm>
            <a:off x="942975" y="280988"/>
            <a:ext cx="7270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/>
              <a:t>First Aid</a:t>
            </a:r>
          </a:p>
        </p:txBody>
      </p:sp>
      <p:pic>
        <p:nvPicPr>
          <p:cNvPr id="4144" name="Picture 4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550" y="641350"/>
            <a:ext cx="244475" cy="249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45" name="Picture 4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8813" y="1808163"/>
            <a:ext cx="244475" cy="249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988" y="1031875"/>
            <a:ext cx="8967787" cy="504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3" name="Line 3"/>
          <p:cNvSpPr>
            <a:spLocks noChangeShapeType="1"/>
          </p:cNvSpPr>
          <p:nvPr/>
        </p:nvSpPr>
        <p:spPr bwMode="auto">
          <a:xfrm>
            <a:off x="4953000" y="6203950"/>
            <a:ext cx="838200" cy="0"/>
          </a:xfrm>
          <a:prstGeom prst="line">
            <a:avLst/>
          </a:prstGeom>
          <a:noFill/>
          <a:ln w="50800">
            <a:solidFill>
              <a:srgbClr val="FFC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5791200" y="6019800"/>
            <a:ext cx="10572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charset="0"/>
              </a:rPr>
              <a:t>Alternate </a:t>
            </a:r>
          </a:p>
        </p:txBody>
      </p:sp>
      <p:sp>
        <p:nvSpPr>
          <p:cNvPr id="5125" name="Line 5"/>
          <p:cNvSpPr>
            <a:spLocks noChangeShapeType="1"/>
          </p:cNvSpPr>
          <p:nvPr/>
        </p:nvSpPr>
        <p:spPr bwMode="auto">
          <a:xfrm>
            <a:off x="3810000" y="4800600"/>
            <a:ext cx="2895600" cy="0"/>
          </a:xfrm>
          <a:prstGeom prst="line">
            <a:avLst/>
          </a:prstGeom>
          <a:noFill/>
          <a:ln w="38100">
            <a:solidFill>
              <a:srgbClr val="FFC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6" name="Line 6"/>
          <p:cNvSpPr>
            <a:spLocks noChangeShapeType="1"/>
          </p:cNvSpPr>
          <p:nvPr/>
        </p:nvSpPr>
        <p:spPr bwMode="auto">
          <a:xfrm flipH="1">
            <a:off x="3810000" y="4800600"/>
            <a:ext cx="152400" cy="228600"/>
          </a:xfrm>
          <a:prstGeom prst="line">
            <a:avLst/>
          </a:prstGeom>
          <a:noFill/>
          <a:ln w="38100">
            <a:solidFill>
              <a:srgbClr val="FFC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7" name="Line 7"/>
          <p:cNvSpPr>
            <a:spLocks noChangeShapeType="1"/>
          </p:cNvSpPr>
          <p:nvPr/>
        </p:nvSpPr>
        <p:spPr bwMode="auto">
          <a:xfrm>
            <a:off x="3810000" y="5029200"/>
            <a:ext cx="0" cy="914400"/>
          </a:xfrm>
          <a:prstGeom prst="line">
            <a:avLst/>
          </a:prstGeom>
          <a:noFill/>
          <a:ln w="38100">
            <a:solidFill>
              <a:srgbClr val="FFC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8" name="Line 8"/>
          <p:cNvSpPr>
            <a:spLocks noChangeShapeType="1"/>
          </p:cNvSpPr>
          <p:nvPr/>
        </p:nvSpPr>
        <p:spPr bwMode="auto">
          <a:xfrm>
            <a:off x="8305800" y="4800600"/>
            <a:ext cx="0" cy="685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9" name="Line 9"/>
          <p:cNvSpPr>
            <a:spLocks noChangeShapeType="1"/>
          </p:cNvSpPr>
          <p:nvPr/>
        </p:nvSpPr>
        <p:spPr bwMode="auto">
          <a:xfrm>
            <a:off x="8305800" y="5486400"/>
            <a:ext cx="152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0" name="Line 10"/>
          <p:cNvSpPr>
            <a:spLocks noChangeShapeType="1"/>
          </p:cNvSpPr>
          <p:nvPr/>
        </p:nvSpPr>
        <p:spPr bwMode="auto">
          <a:xfrm>
            <a:off x="8458200" y="5486400"/>
            <a:ext cx="0" cy="381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1" name="Line 11"/>
          <p:cNvSpPr>
            <a:spLocks noChangeShapeType="1"/>
          </p:cNvSpPr>
          <p:nvPr/>
        </p:nvSpPr>
        <p:spPr bwMode="auto">
          <a:xfrm>
            <a:off x="4953000" y="6432550"/>
            <a:ext cx="838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2" name="Text Box 12"/>
          <p:cNvSpPr txBox="1">
            <a:spLocks noChangeArrowheads="1"/>
          </p:cNvSpPr>
          <p:nvPr/>
        </p:nvSpPr>
        <p:spPr bwMode="auto">
          <a:xfrm>
            <a:off x="5791200" y="6248400"/>
            <a:ext cx="8683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charset="0"/>
              </a:rPr>
              <a:t>Primary</a:t>
            </a:r>
          </a:p>
        </p:txBody>
      </p:sp>
      <p:sp>
        <p:nvSpPr>
          <p:cNvPr id="5133" name="Line 13"/>
          <p:cNvSpPr>
            <a:spLocks noChangeShapeType="1"/>
          </p:cNvSpPr>
          <p:nvPr/>
        </p:nvSpPr>
        <p:spPr bwMode="auto">
          <a:xfrm>
            <a:off x="6858000" y="4800600"/>
            <a:ext cx="1447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4" name="Line 14"/>
          <p:cNvSpPr>
            <a:spLocks noChangeShapeType="1"/>
          </p:cNvSpPr>
          <p:nvPr/>
        </p:nvSpPr>
        <p:spPr bwMode="auto">
          <a:xfrm>
            <a:off x="76200" y="4800600"/>
            <a:ext cx="3657600" cy="0"/>
          </a:xfrm>
          <a:prstGeom prst="line">
            <a:avLst/>
          </a:prstGeom>
          <a:noFill/>
          <a:ln w="38100">
            <a:solidFill>
              <a:srgbClr val="FFC000"/>
            </a:solidFill>
            <a:prstDash val="dash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5" name="Line 15"/>
          <p:cNvSpPr>
            <a:spLocks noChangeShapeType="1"/>
          </p:cNvSpPr>
          <p:nvPr/>
        </p:nvSpPr>
        <p:spPr bwMode="auto">
          <a:xfrm>
            <a:off x="3733800" y="4800600"/>
            <a:ext cx="76200" cy="228600"/>
          </a:xfrm>
          <a:prstGeom prst="line">
            <a:avLst/>
          </a:prstGeom>
          <a:noFill/>
          <a:ln w="38100">
            <a:solidFill>
              <a:srgbClr val="FFC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6" name="Rectangle 16"/>
          <p:cNvSpPr>
            <a:spLocks noChangeArrowheads="1"/>
          </p:cNvSpPr>
          <p:nvPr/>
        </p:nvSpPr>
        <p:spPr bwMode="auto">
          <a:xfrm>
            <a:off x="6324600" y="990600"/>
            <a:ext cx="2819400" cy="762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5137" name="Text Box 17"/>
          <p:cNvSpPr txBox="1">
            <a:spLocks noChangeArrowheads="1"/>
          </p:cNvSpPr>
          <p:nvPr/>
        </p:nvSpPr>
        <p:spPr bwMode="auto">
          <a:xfrm>
            <a:off x="5105400" y="5867400"/>
            <a:ext cx="13255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charset="0"/>
              </a:rPr>
              <a:t>Escape Routes</a:t>
            </a:r>
          </a:p>
        </p:txBody>
      </p:sp>
      <p:sp>
        <p:nvSpPr>
          <p:cNvPr id="5138" name="Rectangle 18"/>
          <p:cNvSpPr>
            <a:spLocks noChangeArrowheads="1"/>
          </p:cNvSpPr>
          <p:nvPr/>
        </p:nvSpPr>
        <p:spPr bwMode="auto">
          <a:xfrm>
            <a:off x="4800600" y="5867400"/>
            <a:ext cx="1981200" cy="762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5139" name="Text Box 19"/>
          <p:cNvSpPr txBox="1">
            <a:spLocks noChangeArrowheads="1"/>
          </p:cNvSpPr>
          <p:nvPr/>
        </p:nvSpPr>
        <p:spPr bwMode="auto">
          <a:xfrm>
            <a:off x="6019800" y="511175"/>
            <a:ext cx="3124200" cy="307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latin typeface="Tahoma" charset="0"/>
              </a:rPr>
              <a:t>Tornado Routine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charset="0"/>
              </a:rPr>
              <a:t>All children will remain in the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charset="0"/>
              </a:rPr>
              <a:t>basement and move to a safe area.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charset="0"/>
              </a:rPr>
              <a:t>The Director or Assistant Director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charset="0"/>
              </a:rPr>
              <a:t>will monitor the battery powered radio in the school office.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400">
              <a:latin typeface="Tahoma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400">
              <a:latin typeface="Tahoma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latin typeface="Tahoma" charset="0"/>
              </a:rPr>
              <a:t>Earthquake Routine</a:t>
            </a:r>
            <a:endParaRPr lang="en-US" altLang="en-US" sz="1400">
              <a:latin typeface="Tahoma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charset="0"/>
              </a:rPr>
              <a:t>The children will go under tables and remain until all clear is given by the teacher.  The teacher and teaching assistant will stand in doorway until danger has past.</a:t>
            </a:r>
            <a:endParaRPr lang="en-US" altLang="en-US" sz="1400" b="1">
              <a:latin typeface="Tahoma" charset="0"/>
            </a:endParaRPr>
          </a:p>
        </p:txBody>
      </p:sp>
      <p:sp>
        <p:nvSpPr>
          <p:cNvPr id="5140" name="Rectangle 20"/>
          <p:cNvSpPr>
            <a:spLocks noChangeArrowheads="1"/>
          </p:cNvSpPr>
          <p:nvPr/>
        </p:nvSpPr>
        <p:spPr bwMode="auto">
          <a:xfrm>
            <a:off x="4038600" y="2590800"/>
            <a:ext cx="533400" cy="16002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5141" name="Rectangle 21"/>
          <p:cNvSpPr>
            <a:spLocks noChangeArrowheads="1"/>
          </p:cNvSpPr>
          <p:nvPr/>
        </p:nvSpPr>
        <p:spPr bwMode="auto">
          <a:xfrm>
            <a:off x="4572000" y="3962400"/>
            <a:ext cx="381000" cy="2286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5142" name="Rectangle 22"/>
          <p:cNvSpPr>
            <a:spLocks noChangeArrowheads="1"/>
          </p:cNvSpPr>
          <p:nvPr/>
        </p:nvSpPr>
        <p:spPr bwMode="auto">
          <a:xfrm>
            <a:off x="4038600" y="4191000"/>
            <a:ext cx="914400" cy="5334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5143" name="Rectangle 23"/>
          <p:cNvSpPr>
            <a:spLocks noChangeArrowheads="1"/>
          </p:cNvSpPr>
          <p:nvPr/>
        </p:nvSpPr>
        <p:spPr bwMode="auto">
          <a:xfrm>
            <a:off x="4572000" y="4876800"/>
            <a:ext cx="533400" cy="6096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5144" name="Text Box 24"/>
          <p:cNvSpPr txBox="1">
            <a:spLocks noChangeArrowheads="1"/>
          </p:cNvSpPr>
          <p:nvPr/>
        </p:nvSpPr>
        <p:spPr bwMode="auto">
          <a:xfrm>
            <a:off x="4038600" y="30321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00" b="1">
                <a:solidFill>
                  <a:srgbClr val="FF3300"/>
                </a:solidFill>
                <a:latin typeface="Tahoma" charset="0"/>
              </a:rPr>
              <a:t>SAFE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00" b="1">
                <a:solidFill>
                  <a:srgbClr val="FF3300"/>
                </a:solidFill>
                <a:latin typeface="Tahoma" charset="0"/>
              </a:rPr>
              <a:t>AREA</a:t>
            </a:r>
          </a:p>
        </p:txBody>
      </p:sp>
      <p:sp>
        <p:nvSpPr>
          <p:cNvPr id="5145" name="Rectangle 25"/>
          <p:cNvSpPr>
            <a:spLocks noChangeArrowheads="1"/>
          </p:cNvSpPr>
          <p:nvPr/>
        </p:nvSpPr>
        <p:spPr bwMode="auto">
          <a:xfrm>
            <a:off x="4038600" y="4191000"/>
            <a:ext cx="533400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000" b="1">
                <a:solidFill>
                  <a:srgbClr val="FF3300"/>
                </a:solidFill>
                <a:latin typeface="Tahoma" charset="0"/>
              </a:rPr>
              <a:t>SAFE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000" b="1">
                <a:solidFill>
                  <a:srgbClr val="FF3300"/>
                </a:solidFill>
                <a:latin typeface="Tahoma" charset="0"/>
              </a:rPr>
              <a:t>AREA</a:t>
            </a:r>
          </a:p>
        </p:txBody>
      </p:sp>
      <p:sp>
        <p:nvSpPr>
          <p:cNvPr id="5146" name="Rectangle 26"/>
          <p:cNvSpPr>
            <a:spLocks noChangeArrowheads="1"/>
          </p:cNvSpPr>
          <p:nvPr/>
        </p:nvSpPr>
        <p:spPr bwMode="auto">
          <a:xfrm>
            <a:off x="4572000" y="4953000"/>
            <a:ext cx="666750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000" b="1">
                <a:solidFill>
                  <a:srgbClr val="FF3300"/>
                </a:solidFill>
                <a:latin typeface="Tahoma" charset="0"/>
              </a:rPr>
              <a:t>SAFE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000" b="1">
                <a:solidFill>
                  <a:srgbClr val="FF3300"/>
                </a:solidFill>
                <a:latin typeface="Tahoma" charset="0"/>
              </a:rPr>
              <a:t>AREA</a:t>
            </a:r>
          </a:p>
        </p:txBody>
      </p:sp>
      <p:sp>
        <p:nvSpPr>
          <p:cNvPr id="5147" name="Line 29"/>
          <p:cNvSpPr>
            <a:spLocks noChangeShapeType="1"/>
          </p:cNvSpPr>
          <p:nvPr/>
        </p:nvSpPr>
        <p:spPr bwMode="auto">
          <a:xfrm>
            <a:off x="6934200" y="4572000"/>
            <a:ext cx="0" cy="228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48" name="TextBox 28"/>
          <p:cNvSpPr txBox="1">
            <a:spLocks noChangeArrowheads="1"/>
          </p:cNvSpPr>
          <p:nvPr/>
        </p:nvSpPr>
        <p:spPr bwMode="auto">
          <a:xfrm>
            <a:off x="5867400" y="5334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A-1</a:t>
            </a:r>
          </a:p>
        </p:txBody>
      </p:sp>
      <p:cxnSp>
        <p:nvCxnSpPr>
          <p:cNvPr id="5149" name="Straight Arrow Connector 30"/>
          <p:cNvCxnSpPr>
            <a:cxnSpLocks noChangeShapeType="1"/>
          </p:cNvCxnSpPr>
          <p:nvPr/>
        </p:nvCxnSpPr>
        <p:spPr bwMode="auto">
          <a:xfrm flipH="1">
            <a:off x="6019800" y="838200"/>
            <a:ext cx="76200" cy="304800"/>
          </a:xfrm>
          <a:prstGeom prst="straightConnector1">
            <a:avLst/>
          </a:prstGeom>
          <a:noFill/>
          <a:ln w="381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150" name="TextBox 31"/>
          <p:cNvSpPr txBox="1">
            <a:spLocks noChangeArrowheads="1"/>
          </p:cNvSpPr>
          <p:nvPr/>
        </p:nvSpPr>
        <p:spPr bwMode="auto">
          <a:xfrm>
            <a:off x="6248400" y="1981200"/>
            <a:ext cx="609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A-2</a:t>
            </a:r>
          </a:p>
        </p:txBody>
      </p:sp>
      <p:cxnSp>
        <p:nvCxnSpPr>
          <p:cNvPr id="5151" name="Straight Arrow Connector 33"/>
          <p:cNvCxnSpPr>
            <a:cxnSpLocks noChangeShapeType="1"/>
          </p:cNvCxnSpPr>
          <p:nvPr/>
        </p:nvCxnSpPr>
        <p:spPr bwMode="auto">
          <a:xfrm flipH="1" flipV="1">
            <a:off x="6096000" y="1828800"/>
            <a:ext cx="228600" cy="228600"/>
          </a:xfrm>
          <a:prstGeom prst="straightConnector1">
            <a:avLst/>
          </a:prstGeom>
          <a:noFill/>
          <a:ln w="381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152" name="TextBox 34"/>
          <p:cNvSpPr txBox="1">
            <a:spLocks noChangeArrowheads="1"/>
          </p:cNvSpPr>
          <p:nvPr/>
        </p:nvSpPr>
        <p:spPr bwMode="auto">
          <a:xfrm>
            <a:off x="8229600" y="5867400"/>
            <a:ext cx="762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B-1</a:t>
            </a:r>
          </a:p>
        </p:txBody>
      </p:sp>
      <p:sp>
        <p:nvSpPr>
          <p:cNvPr id="5153" name="TextBox 35"/>
          <p:cNvSpPr txBox="1">
            <a:spLocks noChangeArrowheads="1"/>
          </p:cNvSpPr>
          <p:nvPr/>
        </p:nvSpPr>
        <p:spPr bwMode="auto">
          <a:xfrm>
            <a:off x="7543800" y="59436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B-2</a:t>
            </a:r>
          </a:p>
        </p:txBody>
      </p:sp>
      <p:sp>
        <p:nvSpPr>
          <p:cNvPr id="5154" name="TextBox 36"/>
          <p:cNvSpPr txBox="1">
            <a:spLocks noChangeArrowheads="1"/>
          </p:cNvSpPr>
          <p:nvPr/>
        </p:nvSpPr>
        <p:spPr bwMode="auto">
          <a:xfrm>
            <a:off x="3581400" y="6019800"/>
            <a:ext cx="762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B-4</a:t>
            </a:r>
          </a:p>
        </p:txBody>
      </p:sp>
      <p:sp>
        <p:nvSpPr>
          <p:cNvPr id="5155" name="TextBox 37"/>
          <p:cNvSpPr txBox="1">
            <a:spLocks noChangeArrowheads="1"/>
          </p:cNvSpPr>
          <p:nvPr/>
        </p:nvSpPr>
        <p:spPr bwMode="auto">
          <a:xfrm>
            <a:off x="152400" y="5715000"/>
            <a:ext cx="762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C-1</a:t>
            </a:r>
          </a:p>
        </p:txBody>
      </p:sp>
      <p:cxnSp>
        <p:nvCxnSpPr>
          <p:cNvPr id="5156" name="Straight Arrow Connector 39"/>
          <p:cNvCxnSpPr>
            <a:cxnSpLocks noChangeShapeType="1"/>
          </p:cNvCxnSpPr>
          <p:nvPr/>
        </p:nvCxnSpPr>
        <p:spPr bwMode="auto">
          <a:xfrm flipH="1" flipV="1">
            <a:off x="152400" y="5410200"/>
            <a:ext cx="152400" cy="381000"/>
          </a:xfrm>
          <a:prstGeom prst="straightConnector1">
            <a:avLst/>
          </a:prstGeom>
          <a:noFill/>
          <a:ln w="381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157" name="TextBox 40"/>
          <p:cNvSpPr txBox="1">
            <a:spLocks noChangeArrowheads="1"/>
          </p:cNvSpPr>
          <p:nvPr/>
        </p:nvSpPr>
        <p:spPr bwMode="auto">
          <a:xfrm>
            <a:off x="228600" y="43434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C-2</a:t>
            </a:r>
          </a:p>
        </p:txBody>
      </p:sp>
      <p:cxnSp>
        <p:nvCxnSpPr>
          <p:cNvPr id="5158" name="Straight Arrow Connector 42"/>
          <p:cNvCxnSpPr>
            <a:cxnSpLocks noChangeShapeType="1"/>
          </p:cNvCxnSpPr>
          <p:nvPr/>
        </p:nvCxnSpPr>
        <p:spPr bwMode="auto">
          <a:xfrm flipH="1">
            <a:off x="304800" y="4572000"/>
            <a:ext cx="228600" cy="228600"/>
          </a:xfrm>
          <a:prstGeom prst="straightConnector1">
            <a:avLst/>
          </a:prstGeom>
          <a:noFill/>
          <a:ln w="381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159" name="TextBox 43"/>
          <p:cNvSpPr txBox="1">
            <a:spLocks noChangeArrowheads="1"/>
          </p:cNvSpPr>
          <p:nvPr/>
        </p:nvSpPr>
        <p:spPr bwMode="auto">
          <a:xfrm>
            <a:off x="990600" y="2133600"/>
            <a:ext cx="533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C-3</a:t>
            </a:r>
          </a:p>
        </p:txBody>
      </p:sp>
      <p:sp>
        <p:nvSpPr>
          <p:cNvPr id="5160" name="TextBox 44"/>
          <p:cNvSpPr txBox="1">
            <a:spLocks noChangeArrowheads="1"/>
          </p:cNvSpPr>
          <p:nvPr/>
        </p:nvSpPr>
        <p:spPr bwMode="auto">
          <a:xfrm>
            <a:off x="228600" y="21336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D-1</a:t>
            </a:r>
          </a:p>
        </p:txBody>
      </p:sp>
      <p:sp>
        <p:nvSpPr>
          <p:cNvPr id="5161" name="TextBox 45"/>
          <p:cNvSpPr txBox="1">
            <a:spLocks noChangeArrowheads="1"/>
          </p:cNvSpPr>
          <p:nvPr/>
        </p:nvSpPr>
        <p:spPr bwMode="auto">
          <a:xfrm>
            <a:off x="838200" y="1524000"/>
            <a:ext cx="762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C-4</a:t>
            </a:r>
          </a:p>
        </p:txBody>
      </p:sp>
      <p:sp>
        <p:nvSpPr>
          <p:cNvPr id="5162" name="TextBox 46"/>
          <p:cNvSpPr txBox="1">
            <a:spLocks noChangeArrowheads="1"/>
          </p:cNvSpPr>
          <p:nvPr/>
        </p:nvSpPr>
        <p:spPr bwMode="auto">
          <a:xfrm>
            <a:off x="2362200" y="9906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D-2</a:t>
            </a:r>
          </a:p>
        </p:txBody>
      </p:sp>
      <p:sp>
        <p:nvSpPr>
          <p:cNvPr id="5163" name="TextBox 47"/>
          <p:cNvSpPr txBox="1">
            <a:spLocks noChangeArrowheads="1"/>
          </p:cNvSpPr>
          <p:nvPr/>
        </p:nvSpPr>
        <p:spPr bwMode="auto">
          <a:xfrm>
            <a:off x="4038600" y="8382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D-3</a:t>
            </a:r>
          </a:p>
        </p:txBody>
      </p:sp>
      <p:pic>
        <p:nvPicPr>
          <p:cNvPr id="5164" name="Picture 4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163" y="5246688"/>
            <a:ext cx="249237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65" name="Picture 4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2100" y="4953000"/>
            <a:ext cx="249238" cy="249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66" name="Picture 4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449263"/>
            <a:ext cx="249238" cy="249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167" name="Rectangle 1"/>
          <p:cNvSpPr>
            <a:spLocks noChangeArrowheads="1"/>
          </p:cNvSpPr>
          <p:nvPr/>
        </p:nvSpPr>
        <p:spPr bwMode="auto">
          <a:xfrm>
            <a:off x="855663" y="449263"/>
            <a:ext cx="7270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/>
              <a:t>First Aid</a:t>
            </a:r>
          </a:p>
        </p:txBody>
      </p:sp>
      <p:pic>
        <p:nvPicPr>
          <p:cNvPr id="5168" name="Picture 4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0788" y="2279650"/>
            <a:ext cx="249237" cy="249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69" name="Picture 4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5163" y="1797050"/>
            <a:ext cx="244475" cy="249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70" name="Picture 4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725" y="741363"/>
            <a:ext cx="244475" cy="249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988" y="1031875"/>
            <a:ext cx="8967787" cy="504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7" name="Line 3"/>
          <p:cNvSpPr>
            <a:spLocks noChangeShapeType="1"/>
          </p:cNvSpPr>
          <p:nvPr/>
        </p:nvSpPr>
        <p:spPr bwMode="auto">
          <a:xfrm>
            <a:off x="4953000" y="6203950"/>
            <a:ext cx="838200" cy="0"/>
          </a:xfrm>
          <a:prstGeom prst="line">
            <a:avLst/>
          </a:prstGeom>
          <a:noFill/>
          <a:ln w="50800">
            <a:solidFill>
              <a:srgbClr val="FFC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8" name="Text Box 4"/>
          <p:cNvSpPr txBox="1">
            <a:spLocks noChangeArrowheads="1"/>
          </p:cNvSpPr>
          <p:nvPr/>
        </p:nvSpPr>
        <p:spPr bwMode="auto">
          <a:xfrm>
            <a:off x="5791200" y="6019800"/>
            <a:ext cx="10572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charset="0"/>
              </a:rPr>
              <a:t>Alternate </a:t>
            </a:r>
          </a:p>
        </p:txBody>
      </p:sp>
      <p:sp>
        <p:nvSpPr>
          <p:cNvPr id="6149" name="Line 5"/>
          <p:cNvSpPr>
            <a:spLocks noChangeShapeType="1"/>
          </p:cNvSpPr>
          <p:nvPr/>
        </p:nvSpPr>
        <p:spPr bwMode="auto">
          <a:xfrm>
            <a:off x="3962400" y="4800600"/>
            <a:ext cx="3505200" cy="0"/>
          </a:xfrm>
          <a:prstGeom prst="line">
            <a:avLst/>
          </a:prstGeom>
          <a:noFill/>
          <a:ln w="38100">
            <a:solidFill>
              <a:srgbClr val="FFC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0" name="Line 6"/>
          <p:cNvSpPr>
            <a:spLocks noChangeShapeType="1"/>
          </p:cNvSpPr>
          <p:nvPr/>
        </p:nvSpPr>
        <p:spPr bwMode="auto">
          <a:xfrm flipH="1">
            <a:off x="3810000" y="4800600"/>
            <a:ext cx="152400" cy="228600"/>
          </a:xfrm>
          <a:prstGeom prst="line">
            <a:avLst/>
          </a:prstGeom>
          <a:noFill/>
          <a:ln w="38100">
            <a:solidFill>
              <a:srgbClr val="FFC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1" name="Line 7"/>
          <p:cNvSpPr>
            <a:spLocks noChangeShapeType="1"/>
          </p:cNvSpPr>
          <p:nvPr/>
        </p:nvSpPr>
        <p:spPr bwMode="auto">
          <a:xfrm>
            <a:off x="3810000" y="5029200"/>
            <a:ext cx="0" cy="914400"/>
          </a:xfrm>
          <a:prstGeom prst="line">
            <a:avLst/>
          </a:prstGeom>
          <a:noFill/>
          <a:ln w="38100">
            <a:solidFill>
              <a:srgbClr val="FFC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2" name="Line 8"/>
          <p:cNvSpPr>
            <a:spLocks noChangeShapeType="1"/>
          </p:cNvSpPr>
          <p:nvPr/>
        </p:nvSpPr>
        <p:spPr bwMode="auto">
          <a:xfrm>
            <a:off x="8305800" y="4800600"/>
            <a:ext cx="0" cy="685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3" name="Line 9"/>
          <p:cNvSpPr>
            <a:spLocks noChangeShapeType="1"/>
          </p:cNvSpPr>
          <p:nvPr/>
        </p:nvSpPr>
        <p:spPr bwMode="auto">
          <a:xfrm>
            <a:off x="8305800" y="5486400"/>
            <a:ext cx="152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4" name="Line 10"/>
          <p:cNvSpPr>
            <a:spLocks noChangeShapeType="1"/>
          </p:cNvSpPr>
          <p:nvPr/>
        </p:nvSpPr>
        <p:spPr bwMode="auto">
          <a:xfrm>
            <a:off x="8458200" y="5486400"/>
            <a:ext cx="0" cy="381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5" name="Line 11"/>
          <p:cNvSpPr>
            <a:spLocks noChangeShapeType="1"/>
          </p:cNvSpPr>
          <p:nvPr/>
        </p:nvSpPr>
        <p:spPr bwMode="auto">
          <a:xfrm>
            <a:off x="4953000" y="6432550"/>
            <a:ext cx="838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6" name="Text Box 12"/>
          <p:cNvSpPr txBox="1">
            <a:spLocks noChangeArrowheads="1"/>
          </p:cNvSpPr>
          <p:nvPr/>
        </p:nvSpPr>
        <p:spPr bwMode="auto">
          <a:xfrm>
            <a:off x="5791200" y="6248400"/>
            <a:ext cx="8683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charset="0"/>
              </a:rPr>
              <a:t>Primary</a:t>
            </a:r>
          </a:p>
        </p:txBody>
      </p:sp>
      <p:sp>
        <p:nvSpPr>
          <p:cNvPr id="6157" name="Line 13"/>
          <p:cNvSpPr>
            <a:spLocks noChangeShapeType="1"/>
          </p:cNvSpPr>
          <p:nvPr/>
        </p:nvSpPr>
        <p:spPr bwMode="auto">
          <a:xfrm>
            <a:off x="7467600" y="4800600"/>
            <a:ext cx="838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8" name="Line 14"/>
          <p:cNvSpPr>
            <a:spLocks noChangeShapeType="1"/>
          </p:cNvSpPr>
          <p:nvPr/>
        </p:nvSpPr>
        <p:spPr bwMode="auto">
          <a:xfrm>
            <a:off x="76200" y="4800600"/>
            <a:ext cx="3657600" cy="0"/>
          </a:xfrm>
          <a:prstGeom prst="line">
            <a:avLst/>
          </a:prstGeom>
          <a:noFill/>
          <a:ln w="38100">
            <a:solidFill>
              <a:srgbClr val="FFC000"/>
            </a:solidFill>
            <a:prstDash val="dash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9" name="Line 15"/>
          <p:cNvSpPr>
            <a:spLocks noChangeShapeType="1"/>
          </p:cNvSpPr>
          <p:nvPr/>
        </p:nvSpPr>
        <p:spPr bwMode="auto">
          <a:xfrm>
            <a:off x="3733800" y="4800600"/>
            <a:ext cx="76200" cy="228600"/>
          </a:xfrm>
          <a:prstGeom prst="line">
            <a:avLst/>
          </a:prstGeom>
          <a:noFill/>
          <a:ln w="38100">
            <a:solidFill>
              <a:srgbClr val="FFC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0" name="Rectangle 16"/>
          <p:cNvSpPr>
            <a:spLocks noChangeArrowheads="1"/>
          </p:cNvSpPr>
          <p:nvPr/>
        </p:nvSpPr>
        <p:spPr bwMode="auto">
          <a:xfrm>
            <a:off x="6324600" y="990600"/>
            <a:ext cx="2819400" cy="762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6161" name="Text Box 17"/>
          <p:cNvSpPr txBox="1">
            <a:spLocks noChangeArrowheads="1"/>
          </p:cNvSpPr>
          <p:nvPr/>
        </p:nvSpPr>
        <p:spPr bwMode="auto">
          <a:xfrm>
            <a:off x="5105400" y="5867400"/>
            <a:ext cx="13255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charset="0"/>
              </a:rPr>
              <a:t>Escape Routes</a:t>
            </a:r>
          </a:p>
        </p:txBody>
      </p:sp>
      <p:sp>
        <p:nvSpPr>
          <p:cNvPr id="6162" name="Rectangle 18"/>
          <p:cNvSpPr>
            <a:spLocks noChangeArrowheads="1"/>
          </p:cNvSpPr>
          <p:nvPr/>
        </p:nvSpPr>
        <p:spPr bwMode="auto">
          <a:xfrm>
            <a:off x="4800600" y="5867400"/>
            <a:ext cx="1981200" cy="762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6163" name="Text Box 19"/>
          <p:cNvSpPr txBox="1">
            <a:spLocks noChangeArrowheads="1"/>
          </p:cNvSpPr>
          <p:nvPr/>
        </p:nvSpPr>
        <p:spPr bwMode="auto">
          <a:xfrm>
            <a:off x="6019800" y="511175"/>
            <a:ext cx="3124200" cy="307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latin typeface="Tahoma" charset="0"/>
              </a:rPr>
              <a:t>Tornado Routine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charset="0"/>
              </a:rPr>
              <a:t>All children will remain in the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charset="0"/>
              </a:rPr>
              <a:t>basement and move to a safe area.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charset="0"/>
              </a:rPr>
              <a:t>The Director or Assistant Director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charset="0"/>
              </a:rPr>
              <a:t>will monitor the battery powered radio in the school office.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400">
              <a:latin typeface="Tahoma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400">
              <a:latin typeface="Tahoma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latin typeface="Tahoma" charset="0"/>
              </a:rPr>
              <a:t>Earthquake Routine</a:t>
            </a:r>
            <a:endParaRPr lang="en-US" altLang="en-US" sz="1400">
              <a:latin typeface="Tahoma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charset="0"/>
              </a:rPr>
              <a:t>The children will go under tables and remain until all clear is given by the teacher.  The teacher and teaching assistant will stand in doorway until danger has past.</a:t>
            </a:r>
            <a:endParaRPr lang="en-US" altLang="en-US" sz="1400" b="1">
              <a:latin typeface="Tahoma" charset="0"/>
            </a:endParaRPr>
          </a:p>
        </p:txBody>
      </p:sp>
      <p:sp>
        <p:nvSpPr>
          <p:cNvPr id="6164" name="Rectangle 20"/>
          <p:cNvSpPr>
            <a:spLocks noChangeArrowheads="1"/>
          </p:cNvSpPr>
          <p:nvPr/>
        </p:nvSpPr>
        <p:spPr bwMode="auto">
          <a:xfrm>
            <a:off x="4038600" y="2590800"/>
            <a:ext cx="533400" cy="16002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6165" name="Rectangle 21"/>
          <p:cNvSpPr>
            <a:spLocks noChangeArrowheads="1"/>
          </p:cNvSpPr>
          <p:nvPr/>
        </p:nvSpPr>
        <p:spPr bwMode="auto">
          <a:xfrm>
            <a:off x="4572000" y="3962400"/>
            <a:ext cx="381000" cy="2286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6166" name="Rectangle 22"/>
          <p:cNvSpPr>
            <a:spLocks noChangeArrowheads="1"/>
          </p:cNvSpPr>
          <p:nvPr/>
        </p:nvSpPr>
        <p:spPr bwMode="auto">
          <a:xfrm>
            <a:off x="4038600" y="4191000"/>
            <a:ext cx="914400" cy="5334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6167" name="Rectangle 23"/>
          <p:cNvSpPr>
            <a:spLocks noChangeArrowheads="1"/>
          </p:cNvSpPr>
          <p:nvPr/>
        </p:nvSpPr>
        <p:spPr bwMode="auto">
          <a:xfrm>
            <a:off x="4572000" y="4876800"/>
            <a:ext cx="533400" cy="6096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6168" name="Text Box 24"/>
          <p:cNvSpPr txBox="1">
            <a:spLocks noChangeArrowheads="1"/>
          </p:cNvSpPr>
          <p:nvPr/>
        </p:nvSpPr>
        <p:spPr bwMode="auto">
          <a:xfrm>
            <a:off x="4038600" y="30321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00" b="1">
                <a:solidFill>
                  <a:srgbClr val="FF3300"/>
                </a:solidFill>
                <a:latin typeface="Tahoma" charset="0"/>
              </a:rPr>
              <a:t>SAFE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00" b="1">
                <a:solidFill>
                  <a:srgbClr val="FF3300"/>
                </a:solidFill>
                <a:latin typeface="Tahoma" charset="0"/>
              </a:rPr>
              <a:t>AREA</a:t>
            </a:r>
          </a:p>
        </p:txBody>
      </p:sp>
      <p:sp>
        <p:nvSpPr>
          <p:cNvPr id="6169" name="Rectangle 25"/>
          <p:cNvSpPr>
            <a:spLocks noChangeArrowheads="1"/>
          </p:cNvSpPr>
          <p:nvPr/>
        </p:nvSpPr>
        <p:spPr bwMode="auto">
          <a:xfrm>
            <a:off x="4038600" y="4191000"/>
            <a:ext cx="533400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000" b="1">
                <a:solidFill>
                  <a:srgbClr val="FF3300"/>
                </a:solidFill>
                <a:latin typeface="Tahoma" charset="0"/>
              </a:rPr>
              <a:t>SAFE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000" b="1">
                <a:solidFill>
                  <a:srgbClr val="FF3300"/>
                </a:solidFill>
                <a:latin typeface="Tahoma" charset="0"/>
              </a:rPr>
              <a:t>AREA</a:t>
            </a:r>
          </a:p>
        </p:txBody>
      </p:sp>
      <p:sp>
        <p:nvSpPr>
          <p:cNvPr id="6170" name="Rectangle 26"/>
          <p:cNvSpPr>
            <a:spLocks noChangeArrowheads="1"/>
          </p:cNvSpPr>
          <p:nvPr/>
        </p:nvSpPr>
        <p:spPr bwMode="auto">
          <a:xfrm>
            <a:off x="4572000" y="4953000"/>
            <a:ext cx="666750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000" b="1">
                <a:solidFill>
                  <a:srgbClr val="FF3300"/>
                </a:solidFill>
                <a:latin typeface="Tahoma" charset="0"/>
              </a:rPr>
              <a:t>SAFE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000" b="1">
                <a:solidFill>
                  <a:srgbClr val="FF3300"/>
                </a:solidFill>
                <a:latin typeface="Tahoma" charset="0"/>
              </a:rPr>
              <a:t>AREA</a:t>
            </a:r>
          </a:p>
        </p:txBody>
      </p:sp>
      <p:sp>
        <p:nvSpPr>
          <p:cNvPr id="6171" name="Line 28"/>
          <p:cNvSpPr>
            <a:spLocks noChangeShapeType="1"/>
          </p:cNvSpPr>
          <p:nvPr/>
        </p:nvSpPr>
        <p:spPr bwMode="auto">
          <a:xfrm>
            <a:off x="7543800" y="4572000"/>
            <a:ext cx="0" cy="228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72" name="Line 29"/>
          <p:cNvSpPr>
            <a:spLocks noChangeShapeType="1"/>
          </p:cNvSpPr>
          <p:nvPr/>
        </p:nvSpPr>
        <p:spPr bwMode="auto">
          <a:xfrm>
            <a:off x="7696200" y="4572000"/>
            <a:ext cx="0" cy="228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73" name="TextBox 29"/>
          <p:cNvSpPr txBox="1">
            <a:spLocks noChangeArrowheads="1"/>
          </p:cNvSpPr>
          <p:nvPr/>
        </p:nvSpPr>
        <p:spPr bwMode="auto">
          <a:xfrm>
            <a:off x="5791200" y="6096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A-1</a:t>
            </a:r>
          </a:p>
        </p:txBody>
      </p:sp>
      <p:cxnSp>
        <p:nvCxnSpPr>
          <p:cNvPr id="6174" name="Straight Arrow Connector 33"/>
          <p:cNvCxnSpPr>
            <a:cxnSpLocks noChangeShapeType="1"/>
          </p:cNvCxnSpPr>
          <p:nvPr/>
        </p:nvCxnSpPr>
        <p:spPr bwMode="auto">
          <a:xfrm flipH="1">
            <a:off x="6019800" y="914400"/>
            <a:ext cx="76200" cy="304800"/>
          </a:xfrm>
          <a:prstGeom prst="straightConnector1">
            <a:avLst/>
          </a:prstGeom>
          <a:noFill/>
          <a:ln w="381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175" name="TextBox 34"/>
          <p:cNvSpPr txBox="1">
            <a:spLocks noChangeArrowheads="1"/>
          </p:cNvSpPr>
          <p:nvPr/>
        </p:nvSpPr>
        <p:spPr bwMode="auto">
          <a:xfrm>
            <a:off x="6172200" y="1828800"/>
            <a:ext cx="609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A-2</a:t>
            </a:r>
          </a:p>
        </p:txBody>
      </p:sp>
      <p:cxnSp>
        <p:nvCxnSpPr>
          <p:cNvPr id="6176" name="Straight Arrow Connector 36"/>
          <p:cNvCxnSpPr>
            <a:cxnSpLocks noChangeShapeType="1"/>
            <a:stCxn id="6175" idx="1"/>
          </p:cNvCxnSpPr>
          <p:nvPr/>
        </p:nvCxnSpPr>
        <p:spPr bwMode="auto">
          <a:xfrm flipH="1" flipV="1">
            <a:off x="6019800" y="1752600"/>
            <a:ext cx="152400" cy="260350"/>
          </a:xfrm>
          <a:prstGeom prst="straightConnector1">
            <a:avLst/>
          </a:prstGeom>
          <a:noFill/>
          <a:ln w="381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177" name="TextBox 37"/>
          <p:cNvSpPr txBox="1">
            <a:spLocks noChangeArrowheads="1"/>
          </p:cNvSpPr>
          <p:nvPr/>
        </p:nvSpPr>
        <p:spPr bwMode="auto">
          <a:xfrm>
            <a:off x="8153400" y="5867400"/>
            <a:ext cx="762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B-1</a:t>
            </a:r>
          </a:p>
        </p:txBody>
      </p:sp>
      <p:sp>
        <p:nvSpPr>
          <p:cNvPr id="6178" name="TextBox 38"/>
          <p:cNvSpPr txBox="1">
            <a:spLocks noChangeArrowheads="1"/>
          </p:cNvSpPr>
          <p:nvPr/>
        </p:nvSpPr>
        <p:spPr bwMode="auto">
          <a:xfrm>
            <a:off x="7543800" y="5943600"/>
            <a:ext cx="762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B-2</a:t>
            </a:r>
          </a:p>
        </p:txBody>
      </p:sp>
      <p:sp>
        <p:nvSpPr>
          <p:cNvPr id="6179" name="TextBox 39"/>
          <p:cNvSpPr txBox="1">
            <a:spLocks noChangeArrowheads="1"/>
          </p:cNvSpPr>
          <p:nvPr/>
        </p:nvSpPr>
        <p:spPr bwMode="auto">
          <a:xfrm>
            <a:off x="3505200" y="5943600"/>
            <a:ext cx="838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B-4</a:t>
            </a:r>
          </a:p>
        </p:txBody>
      </p:sp>
      <p:sp>
        <p:nvSpPr>
          <p:cNvPr id="6180" name="TextBox 40"/>
          <p:cNvSpPr txBox="1">
            <a:spLocks noChangeArrowheads="1"/>
          </p:cNvSpPr>
          <p:nvPr/>
        </p:nvSpPr>
        <p:spPr bwMode="auto">
          <a:xfrm>
            <a:off x="152400" y="5715000"/>
            <a:ext cx="838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C-1</a:t>
            </a:r>
          </a:p>
        </p:txBody>
      </p:sp>
      <p:cxnSp>
        <p:nvCxnSpPr>
          <p:cNvPr id="6181" name="Straight Arrow Connector 42"/>
          <p:cNvCxnSpPr>
            <a:cxnSpLocks noChangeShapeType="1"/>
          </p:cNvCxnSpPr>
          <p:nvPr/>
        </p:nvCxnSpPr>
        <p:spPr bwMode="auto">
          <a:xfrm flipH="1" flipV="1">
            <a:off x="152400" y="5410200"/>
            <a:ext cx="76200" cy="304800"/>
          </a:xfrm>
          <a:prstGeom prst="straightConnector1">
            <a:avLst/>
          </a:prstGeom>
          <a:noFill/>
          <a:ln w="381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182" name="TextBox 43"/>
          <p:cNvSpPr txBox="1">
            <a:spLocks noChangeArrowheads="1"/>
          </p:cNvSpPr>
          <p:nvPr/>
        </p:nvSpPr>
        <p:spPr bwMode="auto">
          <a:xfrm>
            <a:off x="228600" y="42672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C-2</a:t>
            </a:r>
          </a:p>
        </p:txBody>
      </p:sp>
      <p:cxnSp>
        <p:nvCxnSpPr>
          <p:cNvPr id="6183" name="Straight Arrow Connector 45"/>
          <p:cNvCxnSpPr>
            <a:cxnSpLocks noChangeShapeType="1"/>
            <a:stCxn id="6182" idx="2"/>
          </p:cNvCxnSpPr>
          <p:nvPr/>
        </p:nvCxnSpPr>
        <p:spPr bwMode="auto">
          <a:xfrm flipH="1">
            <a:off x="304800" y="4637088"/>
            <a:ext cx="266700" cy="163512"/>
          </a:xfrm>
          <a:prstGeom prst="straightConnector1">
            <a:avLst/>
          </a:prstGeom>
          <a:noFill/>
          <a:ln w="381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184" name="TextBox 46"/>
          <p:cNvSpPr txBox="1">
            <a:spLocks noChangeArrowheads="1"/>
          </p:cNvSpPr>
          <p:nvPr/>
        </p:nvSpPr>
        <p:spPr bwMode="auto">
          <a:xfrm>
            <a:off x="228600" y="2209800"/>
            <a:ext cx="838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D-1</a:t>
            </a:r>
          </a:p>
        </p:txBody>
      </p:sp>
      <p:sp>
        <p:nvSpPr>
          <p:cNvPr id="6185" name="TextBox 47"/>
          <p:cNvSpPr txBox="1">
            <a:spLocks noChangeArrowheads="1"/>
          </p:cNvSpPr>
          <p:nvPr/>
        </p:nvSpPr>
        <p:spPr bwMode="auto">
          <a:xfrm>
            <a:off x="914400" y="2133600"/>
            <a:ext cx="533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C-3</a:t>
            </a:r>
          </a:p>
        </p:txBody>
      </p:sp>
      <p:sp>
        <p:nvSpPr>
          <p:cNvPr id="6186" name="TextBox 48"/>
          <p:cNvSpPr txBox="1">
            <a:spLocks noChangeArrowheads="1"/>
          </p:cNvSpPr>
          <p:nvPr/>
        </p:nvSpPr>
        <p:spPr bwMode="auto">
          <a:xfrm>
            <a:off x="762000" y="1524000"/>
            <a:ext cx="609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C-4</a:t>
            </a:r>
          </a:p>
        </p:txBody>
      </p:sp>
      <p:sp>
        <p:nvSpPr>
          <p:cNvPr id="6187" name="TextBox 49"/>
          <p:cNvSpPr txBox="1">
            <a:spLocks noChangeArrowheads="1"/>
          </p:cNvSpPr>
          <p:nvPr/>
        </p:nvSpPr>
        <p:spPr bwMode="auto">
          <a:xfrm>
            <a:off x="2362200" y="10668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D-1</a:t>
            </a:r>
          </a:p>
        </p:txBody>
      </p:sp>
      <p:sp>
        <p:nvSpPr>
          <p:cNvPr id="6188" name="TextBox 50"/>
          <p:cNvSpPr txBox="1">
            <a:spLocks noChangeArrowheads="1"/>
          </p:cNvSpPr>
          <p:nvPr/>
        </p:nvSpPr>
        <p:spPr bwMode="auto">
          <a:xfrm>
            <a:off x="4038600" y="8382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D-3</a:t>
            </a:r>
          </a:p>
        </p:txBody>
      </p:sp>
      <p:pic>
        <p:nvPicPr>
          <p:cNvPr id="6189" name="Picture 4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813" y="385763"/>
            <a:ext cx="247650" cy="249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90" name="Picture 4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050" y="5237163"/>
            <a:ext cx="249238" cy="249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91" name="Picture 4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2100" y="4987925"/>
            <a:ext cx="249238" cy="249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192" name="Rectangle 1"/>
          <p:cNvSpPr>
            <a:spLocks noChangeArrowheads="1"/>
          </p:cNvSpPr>
          <p:nvPr/>
        </p:nvSpPr>
        <p:spPr bwMode="auto">
          <a:xfrm>
            <a:off x="914400" y="373063"/>
            <a:ext cx="7270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/>
              <a:t>First Aid</a:t>
            </a:r>
          </a:p>
        </p:txBody>
      </p:sp>
      <p:pic>
        <p:nvPicPr>
          <p:cNvPr id="6193" name="Picture 4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2850" y="2270125"/>
            <a:ext cx="249238" cy="249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94" name="Picture 4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1831975"/>
            <a:ext cx="244475" cy="249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95" name="Picture 5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513" y="665163"/>
            <a:ext cx="244475" cy="249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988" y="1031875"/>
            <a:ext cx="8967787" cy="504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1" name="Line 3"/>
          <p:cNvSpPr>
            <a:spLocks noChangeShapeType="1"/>
          </p:cNvSpPr>
          <p:nvPr/>
        </p:nvSpPr>
        <p:spPr bwMode="auto">
          <a:xfrm>
            <a:off x="4953000" y="6203950"/>
            <a:ext cx="838200" cy="0"/>
          </a:xfrm>
          <a:prstGeom prst="line">
            <a:avLst/>
          </a:prstGeom>
          <a:noFill/>
          <a:ln w="50800">
            <a:solidFill>
              <a:srgbClr val="FFC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2" name="Text Box 4"/>
          <p:cNvSpPr txBox="1">
            <a:spLocks noChangeArrowheads="1"/>
          </p:cNvSpPr>
          <p:nvPr/>
        </p:nvSpPr>
        <p:spPr bwMode="auto">
          <a:xfrm>
            <a:off x="5791200" y="6019800"/>
            <a:ext cx="10572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charset="0"/>
              </a:rPr>
              <a:t>Alternate </a:t>
            </a:r>
          </a:p>
        </p:txBody>
      </p:sp>
      <p:sp>
        <p:nvSpPr>
          <p:cNvPr id="7173" name="Line 5"/>
          <p:cNvSpPr>
            <a:spLocks noChangeShapeType="1"/>
          </p:cNvSpPr>
          <p:nvPr/>
        </p:nvSpPr>
        <p:spPr bwMode="auto">
          <a:xfrm>
            <a:off x="3962400" y="4800600"/>
            <a:ext cx="4191000" cy="0"/>
          </a:xfrm>
          <a:prstGeom prst="line">
            <a:avLst/>
          </a:prstGeom>
          <a:noFill/>
          <a:ln w="38100">
            <a:solidFill>
              <a:srgbClr val="FFC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4" name="Line 6"/>
          <p:cNvSpPr>
            <a:spLocks noChangeShapeType="1"/>
          </p:cNvSpPr>
          <p:nvPr/>
        </p:nvSpPr>
        <p:spPr bwMode="auto">
          <a:xfrm flipH="1">
            <a:off x="3810000" y="4800600"/>
            <a:ext cx="152400" cy="228600"/>
          </a:xfrm>
          <a:prstGeom prst="line">
            <a:avLst/>
          </a:prstGeom>
          <a:noFill/>
          <a:ln w="38100">
            <a:solidFill>
              <a:srgbClr val="FFC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5" name="Line 7"/>
          <p:cNvSpPr>
            <a:spLocks noChangeShapeType="1"/>
          </p:cNvSpPr>
          <p:nvPr/>
        </p:nvSpPr>
        <p:spPr bwMode="auto">
          <a:xfrm>
            <a:off x="3810000" y="5029200"/>
            <a:ext cx="0" cy="914400"/>
          </a:xfrm>
          <a:prstGeom prst="line">
            <a:avLst/>
          </a:prstGeom>
          <a:noFill/>
          <a:ln w="38100">
            <a:solidFill>
              <a:srgbClr val="FFC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6" name="Line 8"/>
          <p:cNvSpPr>
            <a:spLocks noChangeShapeType="1"/>
          </p:cNvSpPr>
          <p:nvPr/>
        </p:nvSpPr>
        <p:spPr bwMode="auto">
          <a:xfrm>
            <a:off x="8305800" y="4800600"/>
            <a:ext cx="0" cy="685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7" name="Line 9"/>
          <p:cNvSpPr>
            <a:spLocks noChangeShapeType="1"/>
          </p:cNvSpPr>
          <p:nvPr/>
        </p:nvSpPr>
        <p:spPr bwMode="auto">
          <a:xfrm>
            <a:off x="8305800" y="5486400"/>
            <a:ext cx="152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8" name="Line 10"/>
          <p:cNvSpPr>
            <a:spLocks noChangeShapeType="1"/>
          </p:cNvSpPr>
          <p:nvPr/>
        </p:nvSpPr>
        <p:spPr bwMode="auto">
          <a:xfrm>
            <a:off x="8458200" y="5486400"/>
            <a:ext cx="0" cy="381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9" name="Line 11"/>
          <p:cNvSpPr>
            <a:spLocks noChangeShapeType="1"/>
          </p:cNvSpPr>
          <p:nvPr/>
        </p:nvSpPr>
        <p:spPr bwMode="auto">
          <a:xfrm>
            <a:off x="4953000" y="6432550"/>
            <a:ext cx="838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0" name="Text Box 12"/>
          <p:cNvSpPr txBox="1">
            <a:spLocks noChangeArrowheads="1"/>
          </p:cNvSpPr>
          <p:nvPr/>
        </p:nvSpPr>
        <p:spPr bwMode="auto">
          <a:xfrm>
            <a:off x="5791200" y="6248400"/>
            <a:ext cx="8683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charset="0"/>
              </a:rPr>
              <a:t>Primary</a:t>
            </a:r>
          </a:p>
        </p:txBody>
      </p:sp>
      <p:sp>
        <p:nvSpPr>
          <p:cNvPr id="7181" name="Line 13"/>
          <p:cNvSpPr>
            <a:spLocks noChangeShapeType="1"/>
          </p:cNvSpPr>
          <p:nvPr/>
        </p:nvSpPr>
        <p:spPr bwMode="auto">
          <a:xfrm>
            <a:off x="8153400" y="4800600"/>
            <a:ext cx="152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2" name="Line 14"/>
          <p:cNvSpPr>
            <a:spLocks noChangeShapeType="1"/>
          </p:cNvSpPr>
          <p:nvPr/>
        </p:nvSpPr>
        <p:spPr bwMode="auto">
          <a:xfrm>
            <a:off x="76200" y="4800600"/>
            <a:ext cx="3657600" cy="0"/>
          </a:xfrm>
          <a:prstGeom prst="line">
            <a:avLst/>
          </a:prstGeom>
          <a:noFill/>
          <a:ln w="38100">
            <a:solidFill>
              <a:srgbClr val="FFC000"/>
            </a:solidFill>
            <a:prstDash val="dash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3" name="Line 15"/>
          <p:cNvSpPr>
            <a:spLocks noChangeShapeType="1"/>
          </p:cNvSpPr>
          <p:nvPr/>
        </p:nvSpPr>
        <p:spPr bwMode="auto">
          <a:xfrm>
            <a:off x="3733800" y="4800600"/>
            <a:ext cx="76200" cy="228600"/>
          </a:xfrm>
          <a:prstGeom prst="line">
            <a:avLst/>
          </a:prstGeom>
          <a:noFill/>
          <a:ln w="38100">
            <a:solidFill>
              <a:srgbClr val="FFC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4" name="Rectangle 16"/>
          <p:cNvSpPr>
            <a:spLocks noChangeArrowheads="1"/>
          </p:cNvSpPr>
          <p:nvPr/>
        </p:nvSpPr>
        <p:spPr bwMode="auto">
          <a:xfrm>
            <a:off x="6324600" y="990600"/>
            <a:ext cx="2819400" cy="762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7185" name="Text Box 17"/>
          <p:cNvSpPr txBox="1">
            <a:spLocks noChangeArrowheads="1"/>
          </p:cNvSpPr>
          <p:nvPr/>
        </p:nvSpPr>
        <p:spPr bwMode="auto">
          <a:xfrm>
            <a:off x="5105400" y="5867400"/>
            <a:ext cx="13255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charset="0"/>
              </a:rPr>
              <a:t>Escape Routes</a:t>
            </a:r>
          </a:p>
        </p:txBody>
      </p:sp>
      <p:sp>
        <p:nvSpPr>
          <p:cNvPr id="7186" name="Rectangle 18"/>
          <p:cNvSpPr>
            <a:spLocks noChangeArrowheads="1"/>
          </p:cNvSpPr>
          <p:nvPr/>
        </p:nvSpPr>
        <p:spPr bwMode="auto">
          <a:xfrm>
            <a:off x="4800600" y="5867400"/>
            <a:ext cx="1981200" cy="762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7187" name="Text Box 19"/>
          <p:cNvSpPr txBox="1">
            <a:spLocks noChangeArrowheads="1"/>
          </p:cNvSpPr>
          <p:nvPr/>
        </p:nvSpPr>
        <p:spPr bwMode="auto">
          <a:xfrm>
            <a:off x="6019800" y="511175"/>
            <a:ext cx="3124200" cy="307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latin typeface="Tahoma" charset="0"/>
              </a:rPr>
              <a:t>Tornado Routine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charset="0"/>
              </a:rPr>
              <a:t>All children will remain in the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charset="0"/>
              </a:rPr>
              <a:t>basement and move to a safe area.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charset="0"/>
              </a:rPr>
              <a:t>The Director or Assistant Director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charset="0"/>
              </a:rPr>
              <a:t>will monitor the battery powered radio in the school office.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400">
              <a:latin typeface="Tahoma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400">
              <a:latin typeface="Tahoma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latin typeface="Tahoma" charset="0"/>
              </a:rPr>
              <a:t>Earthquake Routine</a:t>
            </a:r>
            <a:endParaRPr lang="en-US" altLang="en-US" sz="1400">
              <a:latin typeface="Tahoma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charset="0"/>
              </a:rPr>
              <a:t>The children will go under tables and remain until all clear is given by the teacher.  The teacher and teaching assistant will stand in doorway until danger has past.</a:t>
            </a:r>
            <a:endParaRPr lang="en-US" altLang="en-US" sz="1400" b="1">
              <a:latin typeface="Tahoma" charset="0"/>
            </a:endParaRPr>
          </a:p>
        </p:txBody>
      </p:sp>
      <p:sp>
        <p:nvSpPr>
          <p:cNvPr id="7188" name="Rectangle 20"/>
          <p:cNvSpPr>
            <a:spLocks noChangeArrowheads="1"/>
          </p:cNvSpPr>
          <p:nvPr/>
        </p:nvSpPr>
        <p:spPr bwMode="auto">
          <a:xfrm>
            <a:off x="4038600" y="2590800"/>
            <a:ext cx="533400" cy="16002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7189" name="Rectangle 21"/>
          <p:cNvSpPr>
            <a:spLocks noChangeArrowheads="1"/>
          </p:cNvSpPr>
          <p:nvPr/>
        </p:nvSpPr>
        <p:spPr bwMode="auto">
          <a:xfrm>
            <a:off x="4572000" y="3962400"/>
            <a:ext cx="381000" cy="2286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7190" name="Rectangle 22"/>
          <p:cNvSpPr>
            <a:spLocks noChangeArrowheads="1"/>
          </p:cNvSpPr>
          <p:nvPr/>
        </p:nvSpPr>
        <p:spPr bwMode="auto">
          <a:xfrm>
            <a:off x="4038600" y="4191000"/>
            <a:ext cx="914400" cy="5334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7191" name="Rectangle 23"/>
          <p:cNvSpPr>
            <a:spLocks noChangeArrowheads="1"/>
          </p:cNvSpPr>
          <p:nvPr/>
        </p:nvSpPr>
        <p:spPr bwMode="auto">
          <a:xfrm>
            <a:off x="4572000" y="4876800"/>
            <a:ext cx="533400" cy="6096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7192" name="Text Box 24"/>
          <p:cNvSpPr txBox="1">
            <a:spLocks noChangeArrowheads="1"/>
          </p:cNvSpPr>
          <p:nvPr/>
        </p:nvSpPr>
        <p:spPr bwMode="auto">
          <a:xfrm>
            <a:off x="4038600" y="30321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00" b="1">
                <a:solidFill>
                  <a:srgbClr val="FF3300"/>
                </a:solidFill>
                <a:latin typeface="Tahoma" charset="0"/>
              </a:rPr>
              <a:t>SAFE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00" b="1">
                <a:solidFill>
                  <a:srgbClr val="FF3300"/>
                </a:solidFill>
                <a:latin typeface="Tahoma" charset="0"/>
              </a:rPr>
              <a:t>AREA</a:t>
            </a:r>
          </a:p>
        </p:txBody>
      </p:sp>
      <p:sp>
        <p:nvSpPr>
          <p:cNvPr id="7193" name="Rectangle 25"/>
          <p:cNvSpPr>
            <a:spLocks noChangeArrowheads="1"/>
          </p:cNvSpPr>
          <p:nvPr/>
        </p:nvSpPr>
        <p:spPr bwMode="auto">
          <a:xfrm>
            <a:off x="4038600" y="4191000"/>
            <a:ext cx="533400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000" b="1">
                <a:solidFill>
                  <a:srgbClr val="FF3300"/>
                </a:solidFill>
                <a:latin typeface="Tahoma" charset="0"/>
              </a:rPr>
              <a:t>SAFE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000" b="1">
                <a:solidFill>
                  <a:srgbClr val="FF3300"/>
                </a:solidFill>
                <a:latin typeface="Tahoma" charset="0"/>
              </a:rPr>
              <a:t>AREA</a:t>
            </a:r>
          </a:p>
        </p:txBody>
      </p:sp>
      <p:sp>
        <p:nvSpPr>
          <p:cNvPr id="7194" name="Rectangle 26"/>
          <p:cNvSpPr>
            <a:spLocks noChangeArrowheads="1"/>
          </p:cNvSpPr>
          <p:nvPr/>
        </p:nvSpPr>
        <p:spPr bwMode="auto">
          <a:xfrm>
            <a:off x="4572000" y="4953000"/>
            <a:ext cx="666750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000" b="1">
                <a:solidFill>
                  <a:srgbClr val="FF3300"/>
                </a:solidFill>
                <a:latin typeface="Tahoma" charset="0"/>
              </a:rPr>
              <a:t>SAFE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000" b="1">
                <a:solidFill>
                  <a:srgbClr val="FF3300"/>
                </a:solidFill>
                <a:latin typeface="Tahoma" charset="0"/>
              </a:rPr>
              <a:t>AREA</a:t>
            </a:r>
          </a:p>
        </p:txBody>
      </p:sp>
      <p:sp>
        <p:nvSpPr>
          <p:cNvPr id="7195" name="Line 29"/>
          <p:cNvSpPr>
            <a:spLocks noChangeShapeType="1"/>
          </p:cNvSpPr>
          <p:nvPr/>
        </p:nvSpPr>
        <p:spPr bwMode="auto">
          <a:xfrm>
            <a:off x="8153400" y="4572000"/>
            <a:ext cx="0" cy="228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96" name="TextBox 27"/>
          <p:cNvSpPr txBox="1">
            <a:spLocks noChangeArrowheads="1"/>
          </p:cNvSpPr>
          <p:nvPr/>
        </p:nvSpPr>
        <p:spPr bwMode="auto">
          <a:xfrm>
            <a:off x="5715000" y="4572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A-1</a:t>
            </a:r>
          </a:p>
        </p:txBody>
      </p:sp>
      <p:cxnSp>
        <p:nvCxnSpPr>
          <p:cNvPr id="7197" name="Straight Arrow Connector 29"/>
          <p:cNvCxnSpPr>
            <a:cxnSpLocks noChangeShapeType="1"/>
            <a:stCxn id="7196" idx="2"/>
          </p:cNvCxnSpPr>
          <p:nvPr/>
        </p:nvCxnSpPr>
        <p:spPr bwMode="auto">
          <a:xfrm flipH="1">
            <a:off x="6019800" y="827088"/>
            <a:ext cx="38100" cy="239712"/>
          </a:xfrm>
          <a:prstGeom prst="straightConnector1">
            <a:avLst/>
          </a:prstGeom>
          <a:noFill/>
          <a:ln w="381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198" name="TextBox 30"/>
          <p:cNvSpPr txBox="1">
            <a:spLocks noChangeArrowheads="1"/>
          </p:cNvSpPr>
          <p:nvPr/>
        </p:nvSpPr>
        <p:spPr bwMode="auto">
          <a:xfrm>
            <a:off x="6248400" y="18288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A-2</a:t>
            </a:r>
          </a:p>
        </p:txBody>
      </p:sp>
      <p:cxnSp>
        <p:nvCxnSpPr>
          <p:cNvPr id="7199" name="Straight Arrow Connector 32"/>
          <p:cNvCxnSpPr>
            <a:cxnSpLocks noChangeShapeType="1"/>
          </p:cNvCxnSpPr>
          <p:nvPr/>
        </p:nvCxnSpPr>
        <p:spPr bwMode="auto">
          <a:xfrm flipH="1" flipV="1">
            <a:off x="6019800" y="1752600"/>
            <a:ext cx="304800" cy="152400"/>
          </a:xfrm>
          <a:prstGeom prst="straightConnector1">
            <a:avLst/>
          </a:prstGeom>
          <a:noFill/>
          <a:ln w="381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200" name="TextBox 33"/>
          <p:cNvSpPr txBox="1">
            <a:spLocks noChangeArrowheads="1"/>
          </p:cNvSpPr>
          <p:nvPr/>
        </p:nvSpPr>
        <p:spPr bwMode="auto">
          <a:xfrm>
            <a:off x="8153400" y="58674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B-1</a:t>
            </a:r>
          </a:p>
        </p:txBody>
      </p:sp>
      <p:sp>
        <p:nvSpPr>
          <p:cNvPr id="7201" name="TextBox 34"/>
          <p:cNvSpPr txBox="1">
            <a:spLocks noChangeArrowheads="1"/>
          </p:cNvSpPr>
          <p:nvPr/>
        </p:nvSpPr>
        <p:spPr bwMode="auto">
          <a:xfrm>
            <a:off x="7543800" y="59436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B-2</a:t>
            </a:r>
          </a:p>
        </p:txBody>
      </p:sp>
      <p:sp>
        <p:nvSpPr>
          <p:cNvPr id="7202" name="TextBox 35"/>
          <p:cNvSpPr txBox="1">
            <a:spLocks noChangeArrowheads="1"/>
          </p:cNvSpPr>
          <p:nvPr/>
        </p:nvSpPr>
        <p:spPr bwMode="auto">
          <a:xfrm>
            <a:off x="3505200" y="6019800"/>
            <a:ext cx="762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B-4</a:t>
            </a:r>
          </a:p>
        </p:txBody>
      </p:sp>
      <p:sp>
        <p:nvSpPr>
          <p:cNvPr id="7203" name="TextBox 36"/>
          <p:cNvSpPr txBox="1">
            <a:spLocks noChangeArrowheads="1"/>
          </p:cNvSpPr>
          <p:nvPr/>
        </p:nvSpPr>
        <p:spPr bwMode="auto">
          <a:xfrm>
            <a:off x="152400" y="57150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C-1</a:t>
            </a:r>
          </a:p>
        </p:txBody>
      </p:sp>
      <p:cxnSp>
        <p:nvCxnSpPr>
          <p:cNvPr id="7204" name="Straight Arrow Connector 38"/>
          <p:cNvCxnSpPr>
            <a:cxnSpLocks noChangeShapeType="1"/>
          </p:cNvCxnSpPr>
          <p:nvPr/>
        </p:nvCxnSpPr>
        <p:spPr bwMode="auto">
          <a:xfrm flipH="1" flipV="1">
            <a:off x="152400" y="5334000"/>
            <a:ext cx="76200" cy="457200"/>
          </a:xfrm>
          <a:prstGeom prst="straightConnector1">
            <a:avLst/>
          </a:prstGeom>
          <a:noFill/>
          <a:ln w="381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205" name="TextBox 39"/>
          <p:cNvSpPr txBox="1">
            <a:spLocks noChangeArrowheads="1"/>
          </p:cNvSpPr>
          <p:nvPr/>
        </p:nvSpPr>
        <p:spPr bwMode="auto">
          <a:xfrm>
            <a:off x="228600" y="4267200"/>
            <a:ext cx="533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C-2</a:t>
            </a:r>
          </a:p>
        </p:txBody>
      </p:sp>
      <p:cxnSp>
        <p:nvCxnSpPr>
          <p:cNvPr id="7206" name="Straight Arrow Connector 41"/>
          <p:cNvCxnSpPr>
            <a:cxnSpLocks noChangeShapeType="1"/>
          </p:cNvCxnSpPr>
          <p:nvPr/>
        </p:nvCxnSpPr>
        <p:spPr bwMode="auto">
          <a:xfrm flipH="1">
            <a:off x="381000" y="4572000"/>
            <a:ext cx="228600" cy="228600"/>
          </a:xfrm>
          <a:prstGeom prst="straightConnector1">
            <a:avLst/>
          </a:prstGeom>
          <a:noFill/>
          <a:ln w="381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207" name="TextBox 42"/>
          <p:cNvSpPr txBox="1">
            <a:spLocks noChangeArrowheads="1"/>
          </p:cNvSpPr>
          <p:nvPr/>
        </p:nvSpPr>
        <p:spPr bwMode="auto">
          <a:xfrm>
            <a:off x="914400" y="21336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C-3</a:t>
            </a:r>
          </a:p>
        </p:txBody>
      </p:sp>
      <p:sp>
        <p:nvSpPr>
          <p:cNvPr id="7208" name="TextBox 43"/>
          <p:cNvSpPr txBox="1">
            <a:spLocks noChangeArrowheads="1"/>
          </p:cNvSpPr>
          <p:nvPr/>
        </p:nvSpPr>
        <p:spPr bwMode="auto">
          <a:xfrm>
            <a:off x="838200" y="1524000"/>
            <a:ext cx="533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C-4</a:t>
            </a:r>
          </a:p>
        </p:txBody>
      </p:sp>
      <p:sp>
        <p:nvSpPr>
          <p:cNvPr id="7209" name="TextBox 44"/>
          <p:cNvSpPr txBox="1">
            <a:spLocks noChangeArrowheads="1"/>
          </p:cNvSpPr>
          <p:nvPr/>
        </p:nvSpPr>
        <p:spPr bwMode="auto">
          <a:xfrm>
            <a:off x="228600" y="2057400"/>
            <a:ext cx="609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D-1</a:t>
            </a:r>
          </a:p>
        </p:txBody>
      </p:sp>
      <p:sp>
        <p:nvSpPr>
          <p:cNvPr id="7210" name="TextBox 45"/>
          <p:cNvSpPr txBox="1">
            <a:spLocks noChangeArrowheads="1"/>
          </p:cNvSpPr>
          <p:nvPr/>
        </p:nvSpPr>
        <p:spPr bwMode="auto">
          <a:xfrm>
            <a:off x="2286000" y="9906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D-2</a:t>
            </a:r>
          </a:p>
        </p:txBody>
      </p:sp>
      <p:sp>
        <p:nvSpPr>
          <p:cNvPr id="7211" name="TextBox 46"/>
          <p:cNvSpPr txBox="1">
            <a:spLocks noChangeArrowheads="1"/>
          </p:cNvSpPr>
          <p:nvPr/>
        </p:nvSpPr>
        <p:spPr bwMode="auto">
          <a:xfrm>
            <a:off x="4038600" y="8382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D-3</a:t>
            </a:r>
          </a:p>
        </p:txBody>
      </p:sp>
      <p:pic>
        <p:nvPicPr>
          <p:cNvPr id="7212" name="Picture 4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638" y="5265738"/>
            <a:ext cx="24765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213" name="Picture 4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3525" y="5211763"/>
            <a:ext cx="249238" cy="249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214" name="Picture 4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788" y="287338"/>
            <a:ext cx="249237" cy="249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215" name="TextBox 1"/>
          <p:cNvSpPr txBox="1">
            <a:spLocks noChangeArrowheads="1"/>
          </p:cNvSpPr>
          <p:nvPr/>
        </p:nvSpPr>
        <p:spPr bwMode="auto">
          <a:xfrm>
            <a:off x="609600" y="290513"/>
            <a:ext cx="7620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/>
              <a:t>First Aid</a:t>
            </a:r>
          </a:p>
        </p:txBody>
      </p:sp>
      <p:pic>
        <p:nvPicPr>
          <p:cNvPr id="7216" name="Picture 4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5950" y="1808163"/>
            <a:ext cx="244475" cy="249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217" name="Picture 4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550" y="579438"/>
            <a:ext cx="244475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988" y="1031875"/>
            <a:ext cx="8967787" cy="504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5" name="Line 3"/>
          <p:cNvSpPr>
            <a:spLocks noChangeShapeType="1"/>
          </p:cNvSpPr>
          <p:nvPr/>
        </p:nvSpPr>
        <p:spPr bwMode="auto">
          <a:xfrm>
            <a:off x="4953000" y="6203950"/>
            <a:ext cx="838200" cy="0"/>
          </a:xfrm>
          <a:prstGeom prst="line">
            <a:avLst/>
          </a:prstGeom>
          <a:noFill/>
          <a:ln w="50800">
            <a:solidFill>
              <a:srgbClr val="FFC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96" name="Text Box 4"/>
          <p:cNvSpPr txBox="1">
            <a:spLocks noChangeArrowheads="1"/>
          </p:cNvSpPr>
          <p:nvPr/>
        </p:nvSpPr>
        <p:spPr bwMode="auto">
          <a:xfrm>
            <a:off x="5791200" y="6019800"/>
            <a:ext cx="10572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charset="0"/>
              </a:rPr>
              <a:t>Alternate </a:t>
            </a:r>
          </a:p>
        </p:txBody>
      </p:sp>
      <p:sp>
        <p:nvSpPr>
          <p:cNvPr id="8197" name="Line 5"/>
          <p:cNvSpPr>
            <a:spLocks noChangeShapeType="1"/>
          </p:cNvSpPr>
          <p:nvPr/>
        </p:nvSpPr>
        <p:spPr bwMode="auto">
          <a:xfrm>
            <a:off x="3962400" y="4800600"/>
            <a:ext cx="1066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98" name="Line 6"/>
          <p:cNvSpPr>
            <a:spLocks noChangeShapeType="1"/>
          </p:cNvSpPr>
          <p:nvPr/>
        </p:nvSpPr>
        <p:spPr bwMode="auto">
          <a:xfrm flipH="1">
            <a:off x="3810000" y="4800600"/>
            <a:ext cx="152400" cy="228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199" name="Line 7"/>
          <p:cNvSpPr>
            <a:spLocks noChangeShapeType="1"/>
          </p:cNvSpPr>
          <p:nvPr/>
        </p:nvSpPr>
        <p:spPr bwMode="auto">
          <a:xfrm>
            <a:off x="3810000" y="5029200"/>
            <a:ext cx="0" cy="914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0" name="Line 8"/>
          <p:cNvSpPr>
            <a:spLocks noChangeShapeType="1"/>
          </p:cNvSpPr>
          <p:nvPr/>
        </p:nvSpPr>
        <p:spPr bwMode="auto">
          <a:xfrm>
            <a:off x="8305800" y="4800600"/>
            <a:ext cx="0" cy="685800"/>
          </a:xfrm>
          <a:prstGeom prst="line">
            <a:avLst/>
          </a:prstGeom>
          <a:noFill/>
          <a:ln w="38100">
            <a:solidFill>
              <a:srgbClr val="FFC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1" name="Line 9"/>
          <p:cNvSpPr>
            <a:spLocks noChangeShapeType="1"/>
          </p:cNvSpPr>
          <p:nvPr/>
        </p:nvSpPr>
        <p:spPr bwMode="auto">
          <a:xfrm>
            <a:off x="8305800" y="5486400"/>
            <a:ext cx="152400" cy="0"/>
          </a:xfrm>
          <a:prstGeom prst="line">
            <a:avLst/>
          </a:prstGeom>
          <a:noFill/>
          <a:ln w="38100">
            <a:solidFill>
              <a:srgbClr val="FFC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2" name="Line 10"/>
          <p:cNvSpPr>
            <a:spLocks noChangeShapeType="1"/>
          </p:cNvSpPr>
          <p:nvPr/>
        </p:nvSpPr>
        <p:spPr bwMode="auto">
          <a:xfrm>
            <a:off x="8458200" y="5486400"/>
            <a:ext cx="0" cy="381000"/>
          </a:xfrm>
          <a:prstGeom prst="line">
            <a:avLst/>
          </a:prstGeom>
          <a:noFill/>
          <a:ln w="38100">
            <a:solidFill>
              <a:srgbClr val="FFC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3" name="Line 11"/>
          <p:cNvSpPr>
            <a:spLocks noChangeShapeType="1"/>
          </p:cNvSpPr>
          <p:nvPr/>
        </p:nvSpPr>
        <p:spPr bwMode="auto">
          <a:xfrm>
            <a:off x="4953000" y="6432550"/>
            <a:ext cx="838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4" name="Text Box 12"/>
          <p:cNvSpPr txBox="1">
            <a:spLocks noChangeArrowheads="1"/>
          </p:cNvSpPr>
          <p:nvPr/>
        </p:nvSpPr>
        <p:spPr bwMode="auto">
          <a:xfrm>
            <a:off x="5791200" y="6248400"/>
            <a:ext cx="8683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charset="0"/>
              </a:rPr>
              <a:t>Primary</a:t>
            </a:r>
          </a:p>
        </p:txBody>
      </p:sp>
      <p:sp>
        <p:nvSpPr>
          <p:cNvPr id="8205" name="Line 13"/>
          <p:cNvSpPr>
            <a:spLocks noChangeShapeType="1"/>
          </p:cNvSpPr>
          <p:nvPr/>
        </p:nvSpPr>
        <p:spPr bwMode="auto">
          <a:xfrm>
            <a:off x="5029200" y="4800600"/>
            <a:ext cx="3276600" cy="0"/>
          </a:xfrm>
          <a:prstGeom prst="line">
            <a:avLst/>
          </a:prstGeom>
          <a:noFill/>
          <a:ln w="38100">
            <a:solidFill>
              <a:srgbClr val="FFC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6" name="Line 14"/>
          <p:cNvSpPr>
            <a:spLocks noChangeShapeType="1"/>
          </p:cNvSpPr>
          <p:nvPr/>
        </p:nvSpPr>
        <p:spPr bwMode="auto">
          <a:xfrm>
            <a:off x="76200" y="4800600"/>
            <a:ext cx="3657600" cy="0"/>
          </a:xfrm>
          <a:prstGeom prst="line">
            <a:avLst/>
          </a:prstGeom>
          <a:noFill/>
          <a:ln w="38100">
            <a:solidFill>
              <a:srgbClr val="FFC000"/>
            </a:solidFill>
            <a:prstDash val="dash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7" name="Line 15"/>
          <p:cNvSpPr>
            <a:spLocks noChangeShapeType="1"/>
          </p:cNvSpPr>
          <p:nvPr/>
        </p:nvSpPr>
        <p:spPr bwMode="auto">
          <a:xfrm>
            <a:off x="3733800" y="4800600"/>
            <a:ext cx="76200" cy="228600"/>
          </a:xfrm>
          <a:prstGeom prst="line">
            <a:avLst/>
          </a:prstGeom>
          <a:noFill/>
          <a:ln w="38100">
            <a:solidFill>
              <a:srgbClr val="FFC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8" name="Rectangle 16"/>
          <p:cNvSpPr>
            <a:spLocks noChangeArrowheads="1"/>
          </p:cNvSpPr>
          <p:nvPr/>
        </p:nvSpPr>
        <p:spPr bwMode="auto">
          <a:xfrm>
            <a:off x="6324600" y="990600"/>
            <a:ext cx="2819400" cy="762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8209" name="Text Box 17"/>
          <p:cNvSpPr txBox="1">
            <a:spLocks noChangeArrowheads="1"/>
          </p:cNvSpPr>
          <p:nvPr/>
        </p:nvSpPr>
        <p:spPr bwMode="auto">
          <a:xfrm>
            <a:off x="5105400" y="5867400"/>
            <a:ext cx="13255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charset="0"/>
              </a:rPr>
              <a:t>Escape Routes</a:t>
            </a:r>
          </a:p>
        </p:txBody>
      </p:sp>
      <p:sp>
        <p:nvSpPr>
          <p:cNvPr id="8210" name="Rectangle 18"/>
          <p:cNvSpPr>
            <a:spLocks noChangeArrowheads="1"/>
          </p:cNvSpPr>
          <p:nvPr/>
        </p:nvSpPr>
        <p:spPr bwMode="auto">
          <a:xfrm>
            <a:off x="4800600" y="5867400"/>
            <a:ext cx="1981200" cy="762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8211" name="Text Box 19"/>
          <p:cNvSpPr txBox="1">
            <a:spLocks noChangeArrowheads="1"/>
          </p:cNvSpPr>
          <p:nvPr/>
        </p:nvSpPr>
        <p:spPr bwMode="auto">
          <a:xfrm>
            <a:off x="6019800" y="511175"/>
            <a:ext cx="3124200" cy="307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latin typeface="Tahoma" charset="0"/>
              </a:rPr>
              <a:t>Tornado Routine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charset="0"/>
              </a:rPr>
              <a:t>All children will remain in the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charset="0"/>
              </a:rPr>
              <a:t>basement and move to a safe area.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charset="0"/>
              </a:rPr>
              <a:t>The Director or Assistant Director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charset="0"/>
              </a:rPr>
              <a:t>will monitor the battery powered radio in the school office.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400">
              <a:latin typeface="Tahoma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400">
              <a:latin typeface="Tahoma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latin typeface="Tahoma" charset="0"/>
              </a:rPr>
              <a:t>Earthquake Routine</a:t>
            </a:r>
            <a:endParaRPr lang="en-US" altLang="en-US" sz="1400">
              <a:latin typeface="Tahoma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charset="0"/>
              </a:rPr>
              <a:t>The children will go under tables and remain until all clear is given by the teacher.  The teacher and teaching assistant will stand in doorway until danger has past.</a:t>
            </a:r>
            <a:endParaRPr lang="en-US" altLang="en-US" sz="1400" b="1">
              <a:latin typeface="Tahoma" charset="0"/>
            </a:endParaRPr>
          </a:p>
        </p:txBody>
      </p:sp>
      <p:sp>
        <p:nvSpPr>
          <p:cNvPr id="8212" name="Rectangle 20"/>
          <p:cNvSpPr>
            <a:spLocks noChangeArrowheads="1"/>
          </p:cNvSpPr>
          <p:nvPr/>
        </p:nvSpPr>
        <p:spPr bwMode="auto">
          <a:xfrm>
            <a:off x="4038600" y="2590800"/>
            <a:ext cx="533400" cy="16002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8213" name="Rectangle 21"/>
          <p:cNvSpPr>
            <a:spLocks noChangeArrowheads="1"/>
          </p:cNvSpPr>
          <p:nvPr/>
        </p:nvSpPr>
        <p:spPr bwMode="auto">
          <a:xfrm>
            <a:off x="4572000" y="3962400"/>
            <a:ext cx="381000" cy="2286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8214" name="Rectangle 22"/>
          <p:cNvSpPr>
            <a:spLocks noChangeArrowheads="1"/>
          </p:cNvSpPr>
          <p:nvPr/>
        </p:nvSpPr>
        <p:spPr bwMode="auto">
          <a:xfrm>
            <a:off x="4038600" y="4191000"/>
            <a:ext cx="914400" cy="5334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8215" name="Rectangle 23"/>
          <p:cNvSpPr>
            <a:spLocks noChangeArrowheads="1"/>
          </p:cNvSpPr>
          <p:nvPr/>
        </p:nvSpPr>
        <p:spPr bwMode="auto">
          <a:xfrm>
            <a:off x="4572000" y="4876800"/>
            <a:ext cx="533400" cy="6096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8216" name="Text Box 24"/>
          <p:cNvSpPr txBox="1">
            <a:spLocks noChangeArrowheads="1"/>
          </p:cNvSpPr>
          <p:nvPr/>
        </p:nvSpPr>
        <p:spPr bwMode="auto">
          <a:xfrm>
            <a:off x="4038600" y="30321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00" b="1">
                <a:solidFill>
                  <a:srgbClr val="FF3300"/>
                </a:solidFill>
                <a:latin typeface="Tahoma" charset="0"/>
              </a:rPr>
              <a:t>SAFE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00" b="1">
                <a:solidFill>
                  <a:srgbClr val="FF3300"/>
                </a:solidFill>
                <a:latin typeface="Tahoma" charset="0"/>
              </a:rPr>
              <a:t>AREA</a:t>
            </a:r>
          </a:p>
        </p:txBody>
      </p:sp>
      <p:sp>
        <p:nvSpPr>
          <p:cNvPr id="8217" name="Rectangle 25"/>
          <p:cNvSpPr>
            <a:spLocks noChangeArrowheads="1"/>
          </p:cNvSpPr>
          <p:nvPr/>
        </p:nvSpPr>
        <p:spPr bwMode="auto">
          <a:xfrm>
            <a:off x="4038600" y="4191000"/>
            <a:ext cx="533400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000" b="1">
                <a:solidFill>
                  <a:srgbClr val="FF3300"/>
                </a:solidFill>
                <a:latin typeface="Tahoma" charset="0"/>
              </a:rPr>
              <a:t>SAFE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000" b="1">
                <a:solidFill>
                  <a:srgbClr val="FF3300"/>
                </a:solidFill>
                <a:latin typeface="Tahoma" charset="0"/>
              </a:rPr>
              <a:t>AREA</a:t>
            </a:r>
          </a:p>
        </p:txBody>
      </p:sp>
      <p:sp>
        <p:nvSpPr>
          <p:cNvPr id="8218" name="Rectangle 26"/>
          <p:cNvSpPr>
            <a:spLocks noChangeArrowheads="1"/>
          </p:cNvSpPr>
          <p:nvPr/>
        </p:nvSpPr>
        <p:spPr bwMode="auto">
          <a:xfrm>
            <a:off x="4572000" y="4953000"/>
            <a:ext cx="666750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000" b="1">
                <a:solidFill>
                  <a:srgbClr val="FF3300"/>
                </a:solidFill>
                <a:latin typeface="Tahoma" charset="0"/>
              </a:rPr>
              <a:t>SAFE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000" b="1">
                <a:solidFill>
                  <a:srgbClr val="FF3300"/>
                </a:solidFill>
                <a:latin typeface="Tahoma" charset="0"/>
              </a:rPr>
              <a:t>AREA</a:t>
            </a:r>
          </a:p>
        </p:txBody>
      </p:sp>
      <p:sp>
        <p:nvSpPr>
          <p:cNvPr id="8219" name="Line 28"/>
          <p:cNvSpPr>
            <a:spLocks noChangeShapeType="1"/>
          </p:cNvSpPr>
          <p:nvPr/>
        </p:nvSpPr>
        <p:spPr bwMode="auto">
          <a:xfrm>
            <a:off x="5029200" y="3657600"/>
            <a:ext cx="0" cy="1143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20" name="Line 32"/>
          <p:cNvSpPr>
            <a:spLocks noChangeShapeType="1"/>
          </p:cNvSpPr>
          <p:nvPr/>
        </p:nvSpPr>
        <p:spPr bwMode="auto">
          <a:xfrm>
            <a:off x="4572000" y="2133600"/>
            <a:ext cx="457200" cy="1524000"/>
          </a:xfrm>
          <a:prstGeom prst="line">
            <a:avLst/>
          </a:prstGeom>
          <a:noFill/>
          <a:ln w="38100">
            <a:solidFill>
              <a:srgbClr val="FFC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21" name="Line 33"/>
          <p:cNvSpPr>
            <a:spLocks noChangeShapeType="1"/>
          </p:cNvSpPr>
          <p:nvPr/>
        </p:nvSpPr>
        <p:spPr bwMode="auto">
          <a:xfrm>
            <a:off x="3810000" y="2133600"/>
            <a:ext cx="762000" cy="0"/>
          </a:xfrm>
          <a:prstGeom prst="line">
            <a:avLst/>
          </a:prstGeom>
          <a:noFill/>
          <a:ln w="38100">
            <a:solidFill>
              <a:srgbClr val="FFC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22" name="Line 35"/>
          <p:cNvSpPr>
            <a:spLocks noChangeShapeType="1"/>
          </p:cNvSpPr>
          <p:nvPr/>
        </p:nvSpPr>
        <p:spPr bwMode="auto">
          <a:xfrm>
            <a:off x="3810000" y="1752600"/>
            <a:ext cx="0" cy="381000"/>
          </a:xfrm>
          <a:prstGeom prst="line">
            <a:avLst/>
          </a:prstGeom>
          <a:noFill/>
          <a:ln w="38100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23" name="Line 36"/>
          <p:cNvSpPr>
            <a:spLocks noChangeShapeType="1"/>
          </p:cNvSpPr>
          <p:nvPr/>
        </p:nvSpPr>
        <p:spPr bwMode="auto">
          <a:xfrm>
            <a:off x="3810000" y="1752600"/>
            <a:ext cx="533400" cy="0"/>
          </a:xfrm>
          <a:prstGeom prst="line">
            <a:avLst/>
          </a:prstGeom>
          <a:noFill/>
          <a:ln w="38100">
            <a:solidFill>
              <a:srgbClr val="FFC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24" name="Line 37"/>
          <p:cNvSpPr>
            <a:spLocks noChangeShapeType="1"/>
          </p:cNvSpPr>
          <p:nvPr/>
        </p:nvSpPr>
        <p:spPr bwMode="auto">
          <a:xfrm flipV="1">
            <a:off x="4343400" y="762000"/>
            <a:ext cx="0" cy="990600"/>
          </a:xfrm>
          <a:prstGeom prst="line">
            <a:avLst/>
          </a:prstGeom>
          <a:noFill/>
          <a:ln w="38100">
            <a:solidFill>
              <a:srgbClr val="FFC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25" name="Line 38"/>
          <p:cNvSpPr>
            <a:spLocks noChangeShapeType="1"/>
          </p:cNvSpPr>
          <p:nvPr/>
        </p:nvSpPr>
        <p:spPr bwMode="auto">
          <a:xfrm flipH="1">
            <a:off x="5029200" y="3657600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26" name="Line 39"/>
          <p:cNvSpPr>
            <a:spLocks noChangeShapeType="1"/>
          </p:cNvSpPr>
          <p:nvPr/>
        </p:nvSpPr>
        <p:spPr bwMode="auto">
          <a:xfrm flipH="1" flipV="1">
            <a:off x="5029200" y="3886200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27" name="TextBox 34"/>
          <p:cNvSpPr txBox="1">
            <a:spLocks noChangeArrowheads="1"/>
          </p:cNvSpPr>
          <p:nvPr/>
        </p:nvSpPr>
        <p:spPr bwMode="auto">
          <a:xfrm>
            <a:off x="5715000" y="5334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A-1</a:t>
            </a:r>
          </a:p>
        </p:txBody>
      </p:sp>
      <p:cxnSp>
        <p:nvCxnSpPr>
          <p:cNvPr id="8228" name="Straight Arrow Connector 40"/>
          <p:cNvCxnSpPr>
            <a:cxnSpLocks noChangeShapeType="1"/>
            <a:stCxn id="8227" idx="2"/>
          </p:cNvCxnSpPr>
          <p:nvPr/>
        </p:nvCxnSpPr>
        <p:spPr bwMode="auto">
          <a:xfrm flipH="1">
            <a:off x="5943600" y="903288"/>
            <a:ext cx="114300" cy="239712"/>
          </a:xfrm>
          <a:prstGeom prst="straightConnector1">
            <a:avLst/>
          </a:prstGeom>
          <a:noFill/>
          <a:ln w="381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229" name="TextBox 41"/>
          <p:cNvSpPr txBox="1">
            <a:spLocks noChangeArrowheads="1"/>
          </p:cNvSpPr>
          <p:nvPr/>
        </p:nvSpPr>
        <p:spPr bwMode="auto">
          <a:xfrm>
            <a:off x="6096000" y="19050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A-2</a:t>
            </a:r>
          </a:p>
        </p:txBody>
      </p:sp>
      <p:cxnSp>
        <p:nvCxnSpPr>
          <p:cNvPr id="8230" name="Straight Arrow Connector 44"/>
          <p:cNvCxnSpPr>
            <a:cxnSpLocks noChangeShapeType="1"/>
          </p:cNvCxnSpPr>
          <p:nvPr/>
        </p:nvCxnSpPr>
        <p:spPr bwMode="auto">
          <a:xfrm flipH="1" flipV="1">
            <a:off x="6019800" y="1752600"/>
            <a:ext cx="228600" cy="228600"/>
          </a:xfrm>
          <a:prstGeom prst="straightConnector1">
            <a:avLst/>
          </a:prstGeom>
          <a:noFill/>
          <a:ln w="381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231" name="TextBox 45"/>
          <p:cNvSpPr txBox="1">
            <a:spLocks noChangeArrowheads="1"/>
          </p:cNvSpPr>
          <p:nvPr/>
        </p:nvSpPr>
        <p:spPr bwMode="auto">
          <a:xfrm>
            <a:off x="8229600" y="58674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B-1</a:t>
            </a:r>
          </a:p>
        </p:txBody>
      </p:sp>
      <p:sp>
        <p:nvSpPr>
          <p:cNvPr id="8232" name="TextBox 47"/>
          <p:cNvSpPr txBox="1">
            <a:spLocks noChangeArrowheads="1"/>
          </p:cNvSpPr>
          <p:nvPr/>
        </p:nvSpPr>
        <p:spPr bwMode="auto">
          <a:xfrm>
            <a:off x="7543800" y="6019800"/>
            <a:ext cx="838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B-2</a:t>
            </a:r>
          </a:p>
        </p:txBody>
      </p:sp>
      <p:sp>
        <p:nvSpPr>
          <p:cNvPr id="8233" name="TextBox 48"/>
          <p:cNvSpPr txBox="1">
            <a:spLocks noChangeArrowheads="1"/>
          </p:cNvSpPr>
          <p:nvPr/>
        </p:nvSpPr>
        <p:spPr bwMode="auto">
          <a:xfrm>
            <a:off x="3581400" y="60198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B-4</a:t>
            </a:r>
          </a:p>
        </p:txBody>
      </p:sp>
      <p:sp>
        <p:nvSpPr>
          <p:cNvPr id="8234" name="TextBox 49"/>
          <p:cNvSpPr txBox="1">
            <a:spLocks noChangeArrowheads="1"/>
          </p:cNvSpPr>
          <p:nvPr/>
        </p:nvSpPr>
        <p:spPr bwMode="auto">
          <a:xfrm>
            <a:off x="152400" y="57912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C-1</a:t>
            </a:r>
          </a:p>
        </p:txBody>
      </p:sp>
      <p:cxnSp>
        <p:nvCxnSpPr>
          <p:cNvPr id="8235" name="Straight Arrow Connector 51"/>
          <p:cNvCxnSpPr>
            <a:cxnSpLocks noChangeShapeType="1"/>
          </p:cNvCxnSpPr>
          <p:nvPr/>
        </p:nvCxnSpPr>
        <p:spPr bwMode="auto">
          <a:xfrm flipH="1" flipV="1">
            <a:off x="152400" y="5410200"/>
            <a:ext cx="76200" cy="457200"/>
          </a:xfrm>
          <a:prstGeom prst="straightConnector1">
            <a:avLst/>
          </a:prstGeom>
          <a:noFill/>
          <a:ln w="381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236" name="TextBox 52"/>
          <p:cNvSpPr txBox="1">
            <a:spLocks noChangeArrowheads="1"/>
          </p:cNvSpPr>
          <p:nvPr/>
        </p:nvSpPr>
        <p:spPr bwMode="auto">
          <a:xfrm>
            <a:off x="228600" y="41910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C-2</a:t>
            </a:r>
          </a:p>
        </p:txBody>
      </p:sp>
      <p:cxnSp>
        <p:nvCxnSpPr>
          <p:cNvPr id="8237" name="Straight Arrow Connector 54"/>
          <p:cNvCxnSpPr>
            <a:cxnSpLocks noChangeShapeType="1"/>
            <a:stCxn id="8236" idx="2"/>
          </p:cNvCxnSpPr>
          <p:nvPr/>
        </p:nvCxnSpPr>
        <p:spPr bwMode="auto">
          <a:xfrm flipH="1">
            <a:off x="304800" y="4560888"/>
            <a:ext cx="266700" cy="239712"/>
          </a:xfrm>
          <a:prstGeom prst="straightConnector1">
            <a:avLst/>
          </a:prstGeom>
          <a:noFill/>
          <a:ln w="381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238" name="TextBox 55"/>
          <p:cNvSpPr txBox="1">
            <a:spLocks noChangeArrowheads="1"/>
          </p:cNvSpPr>
          <p:nvPr/>
        </p:nvSpPr>
        <p:spPr bwMode="auto">
          <a:xfrm>
            <a:off x="228600" y="21336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D-1</a:t>
            </a:r>
          </a:p>
        </p:txBody>
      </p:sp>
      <p:sp>
        <p:nvSpPr>
          <p:cNvPr id="8239" name="TextBox 56"/>
          <p:cNvSpPr txBox="1">
            <a:spLocks noChangeArrowheads="1"/>
          </p:cNvSpPr>
          <p:nvPr/>
        </p:nvSpPr>
        <p:spPr bwMode="auto">
          <a:xfrm>
            <a:off x="990600" y="22098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C-3</a:t>
            </a:r>
          </a:p>
        </p:txBody>
      </p:sp>
      <p:sp>
        <p:nvSpPr>
          <p:cNvPr id="8240" name="TextBox 57"/>
          <p:cNvSpPr txBox="1">
            <a:spLocks noChangeArrowheads="1"/>
          </p:cNvSpPr>
          <p:nvPr/>
        </p:nvSpPr>
        <p:spPr bwMode="auto">
          <a:xfrm>
            <a:off x="838200" y="15240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C-4</a:t>
            </a:r>
          </a:p>
        </p:txBody>
      </p:sp>
      <p:sp>
        <p:nvSpPr>
          <p:cNvPr id="8241" name="TextBox 58"/>
          <p:cNvSpPr txBox="1">
            <a:spLocks noChangeArrowheads="1"/>
          </p:cNvSpPr>
          <p:nvPr/>
        </p:nvSpPr>
        <p:spPr bwMode="auto">
          <a:xfrm>
            <a:off x="2362200" y="990600"/>
            <a:ext cx="762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D-2</a:t>
            </a:r>
          </a:p>
        </p:txBody>
      </p:sp>
      <p:sp>
        <p:nvSpPr>
          <p:cNvPr id="8242" name="TextBox 59"/>
          <p:cNvSpPr txBox="1">
            <a:spLocks noChangeArrowheads="1"/>
          </p:cNvSpPr>
          <p:nvPr/>
        </p:nvSpPr>
        <p:spPr bwMode="auto">
          <a:xfrm>
            <a:off x="3581400" y="8382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D-3</a:t>
            </a:r>
          </a:p>
        </p:txBody>
      </p:sp>
      <p:pic>
        <p:nvPicPr>
          <p:cNvPr id="8243" name="Picture 5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63" y="5237163"/>
            <a:ext cx="249237" cy="249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244" name="Picture 5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2100" y="4960938"/>
            <a:ext cx="249238" cy="249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245" name="Picture 5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" y="385763"/>
            <a:ext cx="249238" cy="249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246" name="Rectangle 1"/>
          <p:cNvSpPr>
            <a:spLocks noChangeArrowheads="1"/>
          </p:cNvSpPr>
          <p:nvPr/>
        </p:nvSpPr>
        <p:spPr bwMode="auto">
          <a:xfrm>
            <a:off x="796925" y="395288"/>
            <a:ext cx="7270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/>
              <a:t>First Aid</a:t>
            </a:r>
          </a:p>
        </p:txBody>
      </p:sp>
      <p:pic>
        <p:nvPicPr>
          <p:cNvPr id="8247" name="Picture 5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1738" y="2274888"/>
            <a:ext cx="247650" cy="249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248" name="Picture 5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6275" y="1817688"/>
            <a:ext cx="244475" cy="249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249" name="Picture 5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888" y="712788"/>
            <a:ext cx="244475" cy="249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988" y="1031875"/>
            <a:ext cx="8967787" cy="504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9" name="Line 3"/>
          <p:cNvSpPr>
            <a:spLocks noChangeShapeType="1"/>
          </p:cNvSpPr>
          <p:nvPr/>
        </p:nvSpPr>
        <p:spPr bwMode="auto">
          <a:xfrm>
            <a:off x="4953000" y="6203950"/>
            <a:ext cx="838200" cy="0"/>
          </a:xfrm>
          <a:prstGeom prst="line">
            <a:avLst/>
          </a:prstGeom>
          <a:noFill/>
          <a:ln w="50800">
            <a:solidFill>
              <a:srgbClr val="FFC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0" name="Text Box 4"/>
          <p:cNvSpPr txBox="1">
            <a:spLocks noChangeArrowheads="1"/>
          </p:cNvSpPr>
          <p:nvPr/>
        </p:nvSpPr>
        <p:spPr bwMode="auto">
          <a:xfrm>
            <a:off x="5791200" y="6019800"/>
            <a:ext cx="10572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charset="0"/>
              </a:rPr>
              <a:t>Alternate </a:t>
            </a:r>
          </a:p>
        </p:txBody>
      </p:sp>
      <p:sp>
        <p:nvSpPr>
          <p:cNvPr id="9221" name="Line 5"/>
          <p:cNvSpPr>
            <a:spLocks noChangeShapeType="1"/>
          </p:cNvSpPr>
          <p:nvPr/>
        </p:nvSpPr>
        <p:spPr bwMode="auto">
          <a:xfrm>
            <a:off x="3962400" y="4800600"/>
            <a:ext cx="1066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2" name="Line 6"/>
          <p:cNvSpPr>
            <a:spLocks noChangeShapeType="1"/>
          </p:cNvSpPr>
          <p:nvPr/>
        </p:nvSpPr>
        <p:spPr bwMode="auto">
          <a:xfrm flipH="1">
            <a:off x="3810000" y="4800600"/>
            <a:ext cx="152400" cy="228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3" name="Line 7"/>
          <p:cNvSpPr>
            <a:spLocks noChangeShapeType="1"/>
          </p:cNvSpPr>
          <p:nvPr/>
        </p:nvSpPr>
        <p:spPr bwMode="auto">
          <a:xfrm>
            <a:off x="3810000" y="5029200"/>
            <a:ext cx="0" cy="914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4" name="Line 8"/>
          <p:cNvSpPr>
            <a:spLocks noChangeShapeType="1"/>
          </p:cNvSpPr>
          <p:nvPr/>
        </p:nvSpPr>
        <p:spPr bwMode="auto">
          <a:xfrm>
            <a:off x="8305800" y="4800600"/>
            <a:ext cx="0" cy="685800"/>
          </a:xfrm>
          <a:prstGeom prst="line">
            <a:avLst/>
          </a:prstGeom>
          <a:noFill/>
          <a:ln w="38100">
            <a:solidFill>
              <a:srgbClr val="FFC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5" name="Line 9"/>
          <p:cNvSpPr>
            <a:spLocks noChangeShapeType="1"/>
          </p:cNvSpPr>
          <p:nvPr/>
        </p:nvSpPr>
        <p:spPr bwMode="auto">
          <a:xfrm>
            <a:off x="8305800" y="5486400"/>
            <a:ext cx="152400" cy="0"/>
          </a:xfrm>
          <a:prstGeom prst="line">
            <a:avLst/>
          </a:prstGeom>
          <a:noFill/>
          <a:ln w="38100">
            <a:solidFill>
              <a:srgbClr val="FFC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6" name="Line 10"/>
          <p:cNvSpPr>
            <a:spLocks noChangeShapeType="1"/>
          </p:cNvSpPr>
          <p:nvPr/>
        </p:nvSpPr>
        <p:spPr bwMode="auto">
          <a:xfrm>
            <a:off x="8458200" y="5486400"/>
            <a:ext cx="0" cy="381000"/>
          </a:xfrm>
          <a:prstGeom prst="line">
            <a:avLst/>
          </a:prstGeom>
          <a:noFill/>
          <a:ln w="38100">
            <a:solidFill>
              <a:srgbClr val="FFC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7" name="Line 11"/>
          <p:cNvSpPr>
            <a:spLocks noChangeShapeType="1"/>
          </p:cNvSpPr>
          <p:nvPr/>
        </p:nvSpPr>
        <p:spPr bwMode="auto">
          <a:xfrm>
            <a:off x="4953000" y="6432550"/>
            <a:ext cx="838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8" name="Text Box 12"/>
          <p:cNvSpPr txBox="1">
            <a:spLocks noChangeArrowheads="1"/>
          </p:cNvSpPr>
          <p:nvPr/>
        </p:nvSpPr>
        <p:spPr bwMode="auto">
          <a:xfrm>
            <a:off x="5791200" y="6248400"/>
            <a:ext cx="8683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charset="0"/>
              </a:rPr>
              <a:t>Primary</a:t>
            </a:r>
          </a:p>
        </p:txBody>
      </p:sp>
      <p:sp>
        <p:nvSpPr>
          <p:cNvPr id="9229" name="Line 13"/>
          <p:cNvSpPr>
            <a:spLocks noChangeShapeType="1"/>
          </p:cNvSpPr>
          <p:nvPr/>
        </p:nvSpPr>
        <p:spPr bwMode="auto">
          <a:xfrm>
            <a:off x="5029200" y="4800600"/>
            <a:ext cx="3276600" cy="0"/>
          </a:xfrm>
          <a:prstGeom prst="line">
            <a:avLst/>
          </a:prstGeom>
          <a:noFill/>
          <a:ln w="38100">
            <a:solidFill>
              <a:srgbClr val="FFC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30" name="Line 14"/>
          <p:cNvSpPr>
            <a:spLocks noChangeShapeType="1"/>
          </p:cNvSpPr>
          <p:nvPr/>
        </p:nvSpPr>
        <p:spPr bwMode="auto">
          <a:xfrm>
            <a:off x="76200" y="4800600"/>
            <a:ext cx="3657600" cy="0"/>
          </a:xfrm>
          <a:prstGeom prst="line">
            <a:avLst/>
          </a:prstGeom>
          <a:noFill/>
          <a:ln w="38100">
            <a:solidFill>
              <a:srgbClr val="FFC000"/>
            </a:solidFill>
            <a:prstDash val="dash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31" name="Line 15"/>
          <p:cNvSpPr>
            <a:spLocks noChangeShapeType="1"/>
          </p:cNvSpPr>
          <p:nvPr/>
        </p:nvSpPr>
        <p:spPr bwMode="auto">
          <a:xfrm>
            <a:off x="3733800" y="4800600"/>
            <a:ext cx="76200" cy="228600"/>
          </a:xfrm>
          <a:prstGeom prst="line">
            <a:avLst/>
          </a:prstGeom>
          <a:noFill/>
          <a:ln w="38100">
            <a:solidFill>
              <a:srgbClr val="FFC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32" name="Rectangle 16"/>
          <p:cNvSpPr>
            <a:spLocks noChangeArrowheads="1"/>
          </p:cNvSpPr>
          <p:nvPr/>
        </p:nvSpPr>
        <p:spPr bwMode="auto">
          <a:xfrm>
            <a:off x="6324600" y="990600"/>
            <a:ext cx="2819400" cy="762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9233" name="Text Box 17"/>
          <p:cNvSpPr txBox="1">
            <a:spLocks noChangeArrowheads="1"/>
          </p:cNvSpPr>
          <p:nvPr/>
        </p:nvSpPr>
        <p:spPr bwMode="auto">
          <a:xfrm>
            <a:off x="5105400" y="5867400"/>
            <a:ext cx="13255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charset="0"/>
              </a:rPr>
              <a:t>Escape Routes</a:t>
            </a:r>
          </a:p>
        </p:txBody>
      </p:sp>
      <p:sp>
        <p:nvSpPr>
          <p:cNvPr id="9234" name="Rectangle 18"/>
          <p:cNvSpPr>
            <a:spLocks noChangeArrowheads="1"/>
          </p:cNvSpPr>
          <p:nvPr/>
        </p:nvSpPr>
        <p:spPr bwMode="auto">
          <a:xfrm>
            <a:off x="4800600" y="5867400"/>
            <a:ext cx="1981200" cy="762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9235" name="Text Box 19"/>
          <p:cNvSpPr txBox="1">
            <a:spLocks noChangeArrowheads="1"/>
          </p:cNvSpPr>
          <p:nvPr/>
        </p:nvSpPr>
        <p:spPr bwMode="auto">
          <a:xfrm>
            <a:off x="6019800" y="511175"/>
            <a:ext cx="3124200" cy="307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latin typeface="Tahoma" charset="0"/>
              </a:rPr>
              <a:t>Tornado Routine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charset="0"/>
              </a:rPr>
              <a:t>All children will remain in the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charset="0"/>
              </a:rPr>
              <a:t>basement and move to a safe area.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charset="0"/>
              </a:rPr>
              <a:t>The Director or Assistant Director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charset="0"/>
              </a:rPr>
              <a:t>will monitor the battery powered radio in the school office.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400">
              <a:latin typeface="Tahoma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400">
              <a:latin typeface="Tahoma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latin typeface="Tahoma" charset="0"/>
              </a:rPr>
              <a:t>Earthquake Routine</a:t>
            </a:r>
            <a:endParaRPr lang="en-US" altLang="en-US" sz="1400">
              <a:latin typeface="Tahoma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charset="0"/>
              </a:rPr>
              <a:t>The children will go under tables and remain until all clear is given by the teacher.  The teacher and teaching assistant will stand in doorway until danger has past.</a:t>
            </a:r>
            <a:endParaRPr lang="en-US" altLang="en-US" sz="1400" b="1">
              <a:latin typeface="Tahoma" charset="0"/>
            </a:endParaRPr>
          </a:p>
        </p:txBody>
      </p:sp>
      <p:sp>
        <p:nvSpPr>
          <p:cNvPr id="9236" name="Rectangle 20"/>
          <p:cNvSpPr>
            <a:spLocks noChangeArrowheads="1"/>
          </p:cNvSpPr>
          <p:nvPr/>
        </p:nvSpPr>
        <p:spPr bwMode="auto">
          <a:xfrm>
            <a:off x="4038600" y="2590800"/>
            <a:ext cx="533400" cy="16002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9237" name="Rectangle 21"/>
          <p:cNvSpPr>
            <a:spLocks noChangeArrowheads="1"/>
          </p:cNvSpPr>
          <p:nvPr/>
        </p:nvSpPr>
        <p:spPr bwMode="auto">
          <a:xfrm>
            <a:off x="4572000" y="3962400"/>
            <a:ext cx="381000" cy="2286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9238" name="Rectangle 22"/>
          <p:cNvSpPr>
            <a:spLocks noChangeArrowheads="1"/>
          </p:cNvSpPr>
          <p:nvPr/>
        </p:nvSpPr>
        <p:spPr bwMode="auto">
          <a:xfrm>
            <a:off x="4038600" y="4191000"/>
            <a:ext cx="914400" cy="5334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9239" name="Rectangle 23"/>
          <p:cNvSpPr>
            <a:spLocks noChangeArrowheads="1"/>
          </p:cNvSpPr>
          <p:nvPr/>
        </p:nvSpPr>
        <p:spPr bwMode="auto">
          <a:xfrm>
            <a:off x="4572000" y="4876800"/>
            <a:ext cx="533400" cy="6096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9240" name="Text Box 24"/>
          <p:cNvSpPr txBox="1">
            <a:spLocks noChangeArrowheads="1"/>
          </p:cNvSpPr>
          <p:nvPr/>
        </p:nvSpPr>
        <p:spPr bwMode="auto">
          <a:xfrm>
            <a:off x="4038600" y="30321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00" b="1">
                <a:solidFill>
                  <a:srgbClr val="FF3300"/>
                </a:solidFill>
                <a:latin typeface="Tahoma" charset="0"/>
              </a:rPr>
              <a:t>SAFE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00" b="1">
                <a:solidFill>
                  <a:srgbClr val="FF3300"/>
                </a:solidFill>
                <a:latin typeface="Tahoma" charset="0"/>
              </a:rPr>
              <a:t>AREA</a:t>
            </a:r>
          </a:p>
        </p:txBody>
      </p:sp>
      <p:sp>
        <p:nvSpPr>
          <p:cNvPr id="9241" name="Rectangle 25"/>
          <p:cNvSpPr>
            <a:spLocks noChangeArrowheads="1"/>
          </p:cNvSpPr>
          <p:nvPr/>
        </p:nvSpPr>
        <p:spPr bwMode="auto">
          <a:xfrm>
            <a:off x="4038600" y="4191000"/>
            <a:ext cx="533400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000" b="1">
                <a:solidFill>
                  <a:srgbClr val="FF3300"/>
                </a:solidFill>
                <a:latin typeface="Tahoma" charset="0"/>
              </a:rPr>
              <a:t>SAFE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000" b="1">
                <a:solidFill>
                  <a:srgbClr val="FF3300"/>
                </a:solidFill>
                <a:latin typeface="Tahoma" charset="0"/>
              </a:rPr>
              <a:t>AREA</a:t>
            </a:r>
          </a:p>
        </p:txBody>
      </p:sp>
      <p:sp>
        <p:nvSpPr>
          <p:cNvPr id="9242" name="Rectangle 26"/>
          <p:cNvSpPr>
            <a:spLocks noChangeArrowheads="1"/>
          </p:cNvSpPr>
          <p:nvPr/>
        </p:nvSpPr>
        <p:spPr bwMode="auto">
          <a:xfrm>
            <a:off x="4572000" y="4953000"/>
            <a:ext cx="666750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000" b="1">
                <a:solidFill>
                  <a:srgbClr val="FF3300"/>
                </a:solidFill>
                <a:latin typeface="Tahoma" charset="0"/>
              </a:rPr>
              <a:t>SAFE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000" b="1">
                <a:solidFill>
                  <a:srgbClr val="FF3300"/>
                </a:solidFill>
                <a:latin typeface="Tahoma" charset="0"/>
              </a:rPr>
              <a:t>AREA</a:t>
            </a:r>
          </a:p>
        </p:txBody>
      </p:sp>
      <p:sp>
        <p:nvSpPr>
          <p:cNvPr id="9243" name="Line 27"/>
          <p:cNvSpPr>
            <a:spLocks noChangeShapeType="1"/>
          </p:cNvSpPr>
          <p:nvPr/>
        </p:nvSpPr>
        <p:spPr bwMode="auto">
          <a:xfrm>
            <a:off x="5029200" y="3048000"/>
            <a:ext cx="0" cy="1752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44" name="Line 28"/>
          <p:cNvSpPr>
            <a:spLocks noChangeShapeType="1"/>
          </p:cNvSpPr>
          <p:nvPr/>
        </p:nvSpPr>
        <p:spPr bwMode="auto">
          <a:xfrm>
            <a:off x="4572000" y="2133600"/>
            <a:ext cx="457200" cy="914400"/>
          </a:xfrm>
          <a:prstGeom prst="line">
            <a:avLst/>
          </a:prstGeom>
          <a:noFill/>
          <a:ln w="38100">
            <a:solidFill>
              <a:srgbClr val="FFC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45" name="Line 29"/>
          <p:cNvSpPr>
            <a:spLocks noChangeShapeType="1"/>
          </p:cNvSpPr>
          <p:nvPr/>
        </p:nvSpPr>
        <p:spPr bwMode="auto">
          <a:xfrm>
            <a:off x="3810000" y="2133600"/>
            <a:ext cx="762000" cy="0"/>
          </a:xfrm>
          <a:prstGeom prst="line">
            <a:avLst/>
          </a:prstGeom>
          <a:noFill/>
          <a:ln w="38100">
            <a:solidFill>
              <a:srgbClr val="FFC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46" name="Line 30"/>
          <p:cNvSpPr>
            <a:spLocks noChangeShapeType="1"/>
          </p:cNvSpPr>
          <p:nvPr/>
        </p:nvSpPr>
        <p:spPr bwMode="auto">
          <a:xfrm>
            <a:off x="3810000" y="1752600"/>
            <a:ext cx="0" cy="381000"/>
          </a:xfrm>
          <a:prstGeom prst="line">
            <a:avLst/>
          </a:prstGeom>
          <a:noFill/>
          <a:ln w="38100">
            <a:solidFill>
              <a:srgbClr val="FFC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47" name="Line 31"/>
          <p:cNvSpPr>
            <a:spLocks noChangeShapeType="1"/>
          </p:cNvSpPr>
          <p:nvPr/>
        </p:nvSpPr>
        <p:spPr bwMode="auto">
          <a:xfrm>
            <a:off x="3810000" y="1752600"/>
            <a:ext cx="533400" cy="0"/>
          </a:xfrm>
          <a:prstGeom prst="line">
            <a:avLst/>
          </a:prstGeom>
          <a:noFill/>
          <a:ln w="38100">
            <a:solidFill>
              <a:srgbClr val="FFC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48" name="Line 32"/>
          <p:cNvSpPr>
            <a:spLocks noChangeShapeType="1"/>
          </p:cNvSpPr>
          <p:nvPr/>
        </p:nvSpPr>
        <p:spPr bwMode="auto">
          <a:xfrm flipV="1">
            <a:off x="4343400" y="762000"/>
            <a:ext cx="0" cy="990600"/>
          </a:xfrm>
          <a:prstGeom prst="line">
            <a:avLst/>
          </a:prstGeom>
          <a:noFill/>
          <a:ln w="38100">
            <a:solidFill>
              <a:srgbClr val="FFC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49" name="Line 33"/>
          <p:cNvSpPr>
            <a:spLocks noChangeShapeType="1"/>
          </p:cNvSpPr>
          <p:nvPr/>
        </p:nvSpPr>
        <p:spPr bwMode="auto">
          <a:xfrm flipH="1">
            <a:off x="5029200" y="2895600"/>
            <a:ext cx="304800" cy="152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50" name="Line 34"/>
          <p:cNvSpPr>
            <a:spLocks noChangeShapeType="1"/>
          </p:cNvSpPr>
          <p:nvPr/>
        </p:nvSpPr>
        <p:spPr bwMode="auto">
          <a:xfrm flipH="1" flipV="1">
            <a:off x="5029200" y="3276600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51" name="TextBox 34"/>
          <p:cNvSpPr txBox="1">
            <a:spLocks noChangeArrowheads="1"/>
          </p:cNvSpPr>
          <p:nvPr/>
        </p:nvSpPr>
        <p:spPr bwMode="auto">
          <a:xfrm>
            <a:off x="5867400" y="609600"/>
            <a:ext cx="762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A-1</a:t>
            </a:r>
          </a:p>
        </p:txBody>
      </p:sp>
      <p:cxnSp>
        <p:nvCxnSpPr>
          <p:cNvPr id="9252" name="Straight Arrow Connector 36"/>
          <p:cNvCxnSpPr>
            <a:cxnSpLocks noChangeShapeType="1"/>
          </p:cNvCxnSpPr>
          <p:nvPr/>
        </p:nvCxnSpPr>
        <p:spPr bwMode="auto">
          <a:xfrm flipH="1">
            <a:off x="6019800" y="914400"/>
            <a:ext cx="76200" cy="304800"/>
          </a:xfrm>
          <a:prstGeom prst="straightConnector1">
            <a:avLst/>
          </a:prstGeom>
          <a:noFill/>
          <a:ln w="381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253" name="TextBox 37"/>
          <p:cNvSpPr txBox="1">
            <a:spLocks noChangeArrowheads="1"/>
          </p:cNvSpPr>
          <p:nvPr/>
        </p:nvSpPr>
        <p:spPr bwMode="auto">
          <a:xfrm>
            <a:off x="6172200" y="18288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A-2</a:t>
            </a:r>
          </a:p>
        </p:txBody>
      </p:sp>
      <p:cxnSp>
        <p:nvCxnSpPr>
          <p:cNvPr id="9254" name="Straight Arrow Connector 39"/>
          <p:cNvCxnSpPr>
            <a:cxnSpLocks noChangeShapeType="1"/>
          </p:cNvCxnSpPr>
          <p:nvPr/>
        </p:nvCxnSpPr>
        <p:spPr bwMode="auto">
          <a:xfrm flipH="1" flipV="1">
            <a:off x="6019800" y="1752600"/>
            <a:ext cx="304800" cy="228600"/>
          </a:xfrm>
          <a:prstGeom prst="straightConnector1">
            <a:avLst/>
          </a:prstGeom>
          <a:noFill/>
          <a:ln w="381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255" name="TextBox 40"/>
          <p:cNvSpPr txBox="1">
            <a:spLocks noChangeArrowheads="1"/>
          </p:cNvSpPr>
          <p:nvPr/>
        </p:nvSpPr>
        <p:spPr bwMode="auto">
          <a:xfrm>
            <a:off x="8229600" y="5867400"/>
            <a:ext cx="762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B-1</a:t>
            </a:r>
          </a:p>
        </p:txBody>
      </p:sp>
      <p:sp>
        <p:nvSpPr>
          <p:cNvPr id="9256" name="TextBox 41"/>
          <p:cNvSpPr txBox="1">
            <a:spLocks noChangeArrowheads="1"/>
          </p:cNvSpPr>
          <p:nvPr/>
        </p:nvSpPr>
        <p:spPr bwMode="auto">
          <a:xfrm>
            <a:off x="7543800" y="59436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B-2</a:t>
            </a:r>
          </a:p>
        </p:txBody>
      </p:sp>
      <p:sp>
        <p:nvSpPr>
          <p:cNvPr id="9257" name="TextBox 42"/>
          <p:cNvSpPr txBox="1">
            <a:spLocks noChangeArrowheads="1"/>
          </p:cNvSpPr>
          <p:nvPr/>
        </p:nvSpPr>
        <p:spPr bwMode="auto">
          <a:xfrm>
            <a:off x="3581400" y="6019800"/>
            <a:ext cx="838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B-4</a:t>
            </a:r>
          </a:p>
        </p:txBody>
      </p:sp>
      <p:sp>
        <p:nvSpPr>
          <p:cNvPr id="9258" name="TextBox 43"/>
          <p:cNvSpPr txBox="1">
            <a:spLocks noChangeArrowheads="1"/>
          </p:cNvSpPr>
          <p:nvPr/>
        </p:nvSpPr>
        <p:spPr bwMode="auto">
          <a:xfrm>
            <a:off x="152400" y="57912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C-1</a:t>
            </a:r>
          </a:p>
        </p:txBody>
      </p:sp>
      <p:cxnSp>
        <p:nvCxnSpPr>
          <p:cNvPr id="9259" name="Straight Arrow Connector 45"/>
          <p:cNvCxnSpPr>
            <a:cxnSpLocks noChangeShapeType="1"/>
          </p:cNvCxnSpPr>
          <p:nvPr/>
        </p:nvCxnSpPr>
        <p:spPr bwMode="auto">
          <a:xfrm flipH="1" flipV="1">
            <a:off x="152400" y="5334000"/>
            <a:ext cx="76200" cy="533400"/>
          </a:xfrm>
          <a:prstGeom prst="straightConnector1">
            <a:avLst/>
          </a:prstGeom>
          <a:noFill/>
          <a:ln w="381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260" name="TextBox 46"/>
          <p:cNvSpPr txBox="1">
            <a:spLocks noChangeArrowheads="1"/>
          </p:cNvSpPr>
          <p:nvPr/>
        </p:nvSpPr>
        <p:spPr bwMode="auto">
          <a:xfrm>
            <a:off x="152400" y="41910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C-2</a:t>
            </a:r>
          </a:p>
        </p:txBody>
      </p:sp>
      <p:cxnSp>
        <p:nvCxnSpPr>
          <p:cNvPr id="9261" name="Straight Arrow Connector 48"/>
          <p:cNvCxnSpPr>
            <a:cxnSpLocks noChangeShapeType="1"/>
            <a:stCxn id="9260" idx="2"/>
          </p:cNvCxnSpPr>
          <p:nvPr/>
        </p:nvCxnSpPr>
        <p:spPr bwMode="auto">
          <a:xfrm flipH="1">
            <a:off x="304800" y="4560888"/>
            <a:ext cx="190500" cy="239712"/>
          </a:xfrm>
          <a:prstGeom prst="straightConnector1">
            <a:avLst/>
          </a:prstGeom>
          <a:noFill/>
          <a:ln w="381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262" name="TextBox 49"/>
          <p:cNvSpPr txBox="1">
            <a:spLocks noChangeArrowheads="1"/>
          </p:cNvSpPr>
          <p:nvPr/>
        </p:nvSpPr>
        <p:spPr bwMode="auto">
          <a:xfrm>
            <a:off x="228600" y="2133600"/>
            <a:ext cx="762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D-1</a:t>
            </a:r>
          </a:p>
        </p:txBody>
      </p:sp>
      <p:sp>
        <p:nvSpPr>
          <p:cNvPr id="9263" name="TextBox 50"/>
          <p:cNvSpPr txBox="1">
            <a:spLocks noChangeArrowheads="1"/>
          </p:cNvSpPr>
          <p:nvPr/>
        </p:nvSpPr>
        <p:spPr bwMode="auto">
          <a:xfrm>
            <a:off x="914400" y="22098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C-3</a:t>
            </a:r>
          </a:p>
        </p:txBody>
      </p:sp>
      <p:sp>
        <p:nvSpPr>
          <p:cNvPr id="9264" name="TextBox 51"/>
          <p:cNvSpPr txBox="1">
            <a:spLocks noChangeArrowheads="1"/>
          </p:cNvSpPr>
          <p:nvPr/>
        </p:nvSpPr>
        <p:spPr bwMode="auto">
          <a:xfrm>
            <a:off x="762000" y="15240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C-4</a:t>
            </a:r>
          </a:p>
        </p:txBody>
      </p:sp>
      <p:sp>
        <p:nvSpPr>
          <p:cNvPr id="9265" name="TextBox 52"/>
          <p:cNvSpPr txBox="1">
            <a:spLocks noChangeArrowheads="1"/>
          </p:cNvSpPr>
          <p:nvPr/>
        </p:nvSpPr>
        <p:spPr bwMode="auto">
          <a:xfrm>
            <a:off x="2362200" y="990600"/>
            <a:ext cx="762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D-2</a:t>
            </a:r>
          </a:p>
        </p:txBody>
      </p:sp>
      <p:sp>
        <p:nvSpPr>
          <p:cNvPr id="9266" name="TextBox 53"/>
          <p:cNvSpPr txBox="1">
            <a:spLocks noChangeArrowheads="1"/>
          </p:cNvSpPr>
          <p:nvPr/>
        </p:nvSpPr>
        <p:spPr bwMode="auto">
          <a:xfrm>
            <a:off x="3886200" y="838200"/>
            <a:ext cx="838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D-3</a:t>
            </a:r>
          </a:p>
        </p:txBody>
      </p:sp>
      <p:pic>
        <p:nvPicPr>
          <p:cNvPr id="9267" name="Picture 5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638" y="5208588"/>
            <a:ext cx="249237" cy="249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68" name="Picture 5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0513" y="4960938"/>
            <a:ext cx="249237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69" name="Picture 5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75" y="385763"/>
            <a:ext cx="249238" cy="249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270" name="Rectangle 1"/>
          <p:cNvSpPr>
            <a:spLocks noChangeArrowheads="1"/>
          </p:cNvSpPr>
          <p:nvPr/>
        </p:nvSpPr>
        <p:spPr bwMode="auto">
          <a:xfrm>
            <a:off x="914400" y="385763"/>
            <a:ext cx="72707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/>
              <a:t>First Aid</a:t>
            </a:r>
          </a:p>
        </p:txBody>
      </p:sp>
      <p:pic>
        <p:nvPicPr>
          <p:cNvPr id="9271" name="Picture 5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1263" y="2254250"/>
            <a:ext cx="249237" cy="249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72" name="Picture 5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5163" y="1828800"/>
            <a:ext cx="244475" cy="249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73" name="Picture 5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100" y="665163"/>
            <a:ext cx="244475" cy="249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988" y="1031875"/>
            <a:ext cx="8967787" cy="504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3" name="Line 3"/>
          <p:cNvSpPr>
            <a:spLocks noChangeShapeType="1"/>
          </p:cNvSpPr>
          <p:nvPr/>
        </p:nvSpPr>
        <p:spPr bwMode="auto">
          <a:xfrm>
            <a:off x="4953000" y="6203950"/>
            <a:ext cx="838200" cy="0"/>
          </a:xfrm>
          <a:prstGeom prst="line">
            <a:avLst/>
          </a:prstGeom>
          <a:noFill/>
          <a:ln w="50800">
            <a:solidFill>
              <a:srgbClr val="FFC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5791200" y="6019800"/>
            <a:ext cx="10572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charset="0"/>
              </a:rPr>
              <a:t>Alternate </a:t>
            </a:r>
          </a:p>
        </p:txBody>
      </p:sp>
      <p:sp>
        <p:nvSpPr>
          <p:cNvPr id="10245" name="Line 5"/>
          <p:cNvSpPr>
            <a:spLocks noChangeShapeType="1"/>
          </p:cNvSpPr>
          <p:nvPr/>
        </p:nvSpPr>
        <p:spPr bwMode="auto">
          <a:xfrm>
            <a:off x="3962400" y="4800600"/>
            <a:ext cx="1066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6" name="Line 6"/>
          <p:cNvSpPr>
            <a:spLocks noChangeShapeType="1"/>
          </p:cNvSpPr>
          <p:nvPr/>
        </p:nvSpPr>
        <p:spPr bwMode="auto">
          <a:xfrm flipH="1">
            <a:off x="3810000" y="4800600"/>
            <a:ext cx="152400" cy="228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7" name="Line 7"/>
          <p:cNvSpPr>
            <a:spLocks noChangeShapeType="1"/>
          </p:cNvSpPr>
          <p:nvPr/>
        </p:nvSpPr>
        <p:spPr bwMode="auto">
          <a:xfrm>
            <a:off x="3810000" y="5029200"/>
            <a:ext cx="0" cy="914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8" name="Line 8"/>
          <p:cNvSpPr>
            <a:spLocks noChangeShapeType="1"/>
          </p:cNvSpPr>
          <p:nvPr/>
        </p:nvSpPr>
        <p:spPr bwMode="auto">
          <a:xfrm>
            <a:off x="8305800" y="4800600"/>
            <a:ext cx="0" cy="685800"/>
          </a:xfrm>
          <a:prstGeom prst="line">
            <a:avLst/>
          </a:prstGeom>
          <a:noFill/>
          <a:ln w="38100">
            <a:solidFill>
              <a:srgbClr val="FFC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9" name="Line 9"/>
          <p:cNvSpPr>
            <a:spLocks noChangeShapeType="1"/>
          </p:cNvSpPr>
          <p:nvPr/>
        </p:nvSpPr>
        <p:spPr bwMode="auto">
          <a:xfrm>
            <a:off x="8305800" y="5486400"/>
            <a:ext cx="152400" cy="0"/>
          </a:xfrm>
          <a:prstGeom prst="line">
            <a:avLst/>
          </a:prstGeom>
          <a:noFill/>
          <a:ln w="38100">
            <a:solidFill>
              <a:srgbClr val="FFC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0" name="Line 10"/>
          <p:cNvSpPr>
            <a:spLocks noChangeShapeType="1"/>
          </p:cNvSpPr>
          <p:nvPr/>
        </p:nvSpPr>
        <p:spPr bwMode="auto">
          <a:xfrm>
            <a:off x="8458200" y="5486400"/>
            <a:ext cx="0" cy="381000"/>
          </a:xfrm>
          <a:prstGeom prst="line">
            <a:avLst/>
          </a:prstGeom>
          <a:noFill/>
          <a:ln w="38100">
            <a:solidFill>
              <a:srgbClr val="FFC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1" name="Line 11"/>
          <p:cNvSpPr>
            <a:spLocks noChangeShapeType="1"/>
          </p:cNvSpPr>
          <p:nvPr/>
        </p:nvSpPr>
        <p:spPr bwMode="auto">
          <a:xfrm>
            <a:off x="4953000" y="6432550"/>
            <a:ext cx="838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2" name="Text Box 12"/>
          <p:cNvSpPr txBox="1">
            <a:spLocks noChangeArrowheads="1"/>
          </p:cNvSpPr>
          <p:nvPr/>
        </p:nvSpPr>
        <p:spPr bwMode="auto">
          <a:xfrm>
            <a:off x="5791200" y="6248400"/>
            <a:ext cx="8683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charset="0"/>
              </a:rPr>
              <a:t>Primary</a:t>
            </a:r>
          </a:p>
        </p:txBody>
      </p:sp>
      <p:sp>
        <p:nvSpPr>
          <p:cNvPr id="10253" name="Line 13"/>
          <p:cNvSpPr>
            <a:spLocks noChangeShapeType="1"/>
          </p:cNvSpPr>
          <p:nvPr/>
        </p:nvSpPr>
        <p:spPr bwMode="auto">
          <a:xfrm>
            <a:off x="5029200" y="4800600"/>
            <a:ext cx="3276600" cy="0"/>
          </a:xfrm>
          <a:prstGeom prst="line">
            <a:avLst/>
          </a:prstGeom>
          <a:noFill/>
          <a:ln w="38100">
            <a:solidFill>
              <a:srgbClr val="FFC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4" name="Line 14"/>
          <p:cNvSpPr>
            <a:spLocks noChangeShapeType="1"/>
          </p:cNvSpPr>
          <p:nvPr/>
        </p:nvSpPr>
        <p:spPr bwMode="auto">
          <a:xfrm>
            <a:off x="76200" y="4800600"/>
            <a:ext cx="3657600" cy="0"/>
          </a:xfrm>
          <a:prstGeom prst="line">
            <a:avLst/>
          </a:prstGeom>
          <a:noFill/>
          <a:ln w="38100">
            <a:solidFill>
              <a:srgbClr val="FFC000"/>
            </a:solidFill>
            <a:prstDash val="dash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5" name="Line 15"/>
          <p:cNvSpPr>
            <a:spLocks noChangeShapeType="1"/>
          </p:cNvSpPr>
          <p:nvPr/>
        </p:nvSpPr>
        <p:spPr bwMode="auto">
          <a:xfrm>
            <a:off x="3733800" y="4800600"/>
            <a:ext cx="76200" cy="228600"/>
          </a:xfrm>
          <a:prstGeom prst="line">
            <a:avLst/>
          </a:prstGeom>
          <a:noFill/>
          <a:ln w="38100">
            <a:solidFill>
              <a:srgbClr val="FFC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6" name="Rectangle 16"/>
          <p:cNvSpPr>
            <a:spLocks noChangeArrowheads="1"/>
          </p:cNvSpPr>
          <p:nvPr/>
        </p:nvSpPr>
        <p:spPr bwMode="auto">
          <a:xfrm>
            <a:off x="6324600" y="990600"/>
            <a:ext cx="2819400" cy="762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0257" name="Text Box 17"/>
          <p:cNvSpPr txBox="1">
            <a:spLocks noChangeArrowheads="1"/>
          </p:cNvSpPr>
          <p:nvPr/>
        </p:nvSpPr>
        <p:spPr bwMode="auto">
          <a:xfrm>
            <a:off x="5105400" y="5867400"/>
            <a:ext cx="13255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charset="0"/>
              </a:rPr>
              <a:t>Escape Routes</a:t>
            </a:r>
          </a:p>
        </p:txBody>
      </p:sp>
      <p:sp>
        <p:nvSpPr>
          <p:cNvPr id="10258" name="Rectangle 18"/>
          <p:cNvSpPr>
            <a:spLocks noChangeArrowheads="1"/>
          </p:cNvSpPr>
          <p:nvPr/>
        </p:nvSpPr>
        <p:spPr bwMode="auto">
          <a:xfrm>
            <a:off x="4800600" y="5867400"/>
            <a:ext cx="1981200" cy="762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0259" name="Text Box 19"/>
          <p:cNvSpPr txBox="1">
            <a:spLocks noChangeArrowheads="1"/>
          </p:cNvSpPr>
          <p:nvPr/>
        </p:nvSpPr>
        <p:spPr bwMode="auto">
          <a:xfrm>
            <a:off x="6019800" y="511175"/>
            <a:ext cx="3124200" cy="307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latin typeface="Tahoma" charset="0"/>
              </a:rPr>
              <a:t>Tornado Routine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charset="0"/>
              </a:rPr>
              <a:t>All children will remain in the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charset="0"/>
              </a:rPr>
              <a:t>basement and move to a safe area.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charset="0"/>
              </a:rPr>
              <a:t>The Director or Assistant Director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charset="0"/>
              </a:rPr>
              <a:t>will monitor the battery powered radio in the school office.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400">
              <a:latin typeface="Tahoma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400">
              <a:latin typeface="Tahoma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latin typeface="Tahoma" charset="0"/>
              </a:rPr>
              <a:t>Earthquake Routine</a:t>
            </a:r>
            <a:endParaRPr lang="en-US" altLang="en-US" sz="1400">
              <a:latin typeface="Tahoma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charset="0"/>
              </a:rPr>
              <a:t>The children will go under tables and remain until all clear is given by the teacher.  The teacher and teaching assistant will stand in doorway until danger has past.</a:t>
            </a:r>
            <a:endParaRPr lang="en-US" altLang="en-US" sz="1400" b="1">
              <a:latin typeface="Tahoma" charset="0"/>
            </a:endParaRPr>
          </a:p>
        </p:txBody>
      </p:sp>
      <p:sp>
        <p:nvSpPr>
          <p:cNvPr id="10260" name="Rectangle 20"/>
          <p:cNvSpPr>
            <a:spLocks noChangeArrowheads="1"/>
          </p:cNvSpPr>
          <p:nvPr/>
        </p:nvSpPr>
        <p:spPr bwMode="auto">
          <a:xfrm>
            <a:off x="4038600" y="2590800"/>
            <a:ext cx="533400" cy="16002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0261" name="Rectangle 21"/>
          <p:cNvSpPr>
            <a:spLocks noChangeArrowheads="1"/>
          </p:cNvSpPr>
          <p:nvPr/>
        </p:nvSpPr>
        <p:spPr bwMode="auto">
          <a:xfrm>
            <a:off x="4572000" y="3962400"/>
            <a:ext cx="381000" cy="2286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0262" name="Rectangle 22"/>
          <p:cNvSpPr>
            <a:spLocks noChangeArrowheads="1"/>
          </p:cNvSpPr>
          <p:nvPr/>
        </p:nvSpPr>
        <p:spPr bwMode="auto">
          <a:xfrm>
            <a:off x="4038600" y="4191000"/>
            <a:ext cx="914400" cy="5334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0263" name="Rectangle 23"/>
          <p:cNvSpPr>
            <a:spLocks noChangeArrowheads="1"/>
          </p:cNvSpPr>
          <p:nvPr/>
        </p:nvSpPr>
        <p:spPr bwMode="auto">
          <a:xfrm>
            <a:off x="4572000" y="4876800"/>
            <a:ext cx="533400" cy="6096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0264" name="Text Box 24"/>
          <p:cNvSpPr txBox="1">
            <a:spLocks noChangeArrowheads="1"/>
          </p:cNvSpPr>
          <p:nvPr/>
        </p:nvSpPr>
        <p:spPr bwMode="auto">
          <a:xfrm>
            <a:off x="4038600" y="30321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00" b="1">
                <a:solidFill>
                  <a:srgbClr val="FF3300"/>
                </a:solidFill>
                <a:latin typeface="Tahoma" charset="0"/>
              </a:rPr>
              <a:t>SAFE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00" b="1">
                <a:solidFill>
                  <a:srgbClr val="FF3300"/>
                </a:solidFill>
                <a:latin typeface="Tahoma" charset="0"/>
              </a:rPr>
              <a:t>AREA</a:t>
            </a:r>
          </a:p>
        </p:txBody>
      </p:sp>
      <p:sp>
        <p:nvSpPr>
          <p:cNvPr id="10265" name="Rectangle 25"/>
          <p:cNvSpPr>
            <a:spLocks noChangeArrowheads="1"/>
          </p:cNvSpPr>
          <p:nvPr/>
        </p:nvSpPr>
        <p:spPr bwMode="auto">
          <a:xfrm>
            <a:off x="4038600" y="4191000"/>
            <a:ext cx="533400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000" b="1">
                <a:solidFill>
                  <a:srgbClr val="FF3300"/>
                </a:solidFill>
                <a:latin typeface="Tahoma" charset="0"/>
              </a:rPr>
              <a:t>SAFE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000" b="1">
                <a:solidFill>
                  <a:srgbClr val="FF3300"/>
                </a:solidFill>
                <a:latin typeface="Tahoma" charset="0"/>
              </a:rPr>
              <a:t>AREA</a:t>
            </a:r>
          </a:p>
        </p:txBody>
      </p:sp>
      <p:sp>
        <p:nvSpPr>
          <p:cNvPr id="10266" name="Rectangle 26"/>
          <p:cNvSpPr>
            <a:spLocks noChangeArrowheads="1"/>
          </p:cNvSpPr>
          <p:nvPr/>
        </p:nvSpPr>
        <p:spPr bwMode="auto">
          <a:xfrm>
            <a:off x="4572000" y="4953000"/>
            <a:ext cx="666750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000" b="1">
                <a:solidFill>
                  <a:srgbClr val="FF3300"/>
                </a:solidFill>
                <a:latin typeface="Tahoma" charset="0"/>
              </a:rPr>
              <a:t>SAFE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000" b="1">
                <a:solidFill>
                  <a:srgbClr val="FF3300"/>
                </a:solidFill>
                <a:latin typeface="Tahoma" charset="0"/>
              </a:rPr>
              <a:t>AREA</a:t>
            </a:r>
          </a:p>
        </p:txBody>
      </p:sp>
      <p:sp>
        <p:nvSpPr>
          <p:cNvPr id="10267" name="Line 27"/>
          <p:cNvSpPr>
            <a:spLocks noChangeShapeType="1"/>
          </p:cNvSpPr>
          <p:nvPr/>
        </p:nvSpPr>
        <p:spPr bwMode="auto">
          <a:xfrm>
            <a:off x="5029200" y="3048000"/>
            <a:ext cx="0" cy="1752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68" name="Line 28"/>
          <p:cNvSpPr>
            <a:spLocks noChangeShapeType="1"/>
          </p:cNvSpPr>
          <p:nvPr/>
        </p:nvSpPr>
        <p:spPr bwMode="auto">
          <a:xfrm>
            <a:off x="4572000" y="2133600"/>
            <a:ext cx="457200" cy="914400"/>
          </a:xfrm>
          <a:prstGeom prst="line">
            <a:avLst/>
          </a:prstGeom>
          <a:noFill/>
          <a:ln w="38100">
            <a:solidFill>
              <a:srgbClr val="FFC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69" name="Line 29"/>
          <p:cNvSpPr>
            <a:spLocks noChangeShapeType="1"/>
          </p:cNvSpPr>
          <p:nvPr/>
        </p:nvSpPr>
        <p:spPr bwMode="auto">
          <a:xfrm>
            <a:off x="3810000" y="2133600"/>
            <a:ext cx="762000" cy="0"/>
          </a:xfrm>
          <a:prstGeom prst="line">
            <a:avLst/>
          </a:prstGeom>
          <a:noFill/>
          <a:ln w="38100">
            <a:solidFill>
              <a:srgbClr val="FFC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0" name="Line 30"/>
          <p:cNvSpPr>
            <a:spLocks noChangeShapeType="1"/>
          </p:cNvSpPr>
          <p:nvPr/>
        </p:nvSpPr>
        <p:spPr bwMode="auto">
          <a:xfrm>
            <a:off x="3810000" y="1752600"/>
            <a:ext cx="0" cy="381000"/>
          </a:xfrm>
          <a:prstGeom prst="line">
            <a:avLst/>
          </a:prstGeom>
          <a:noFill/>
          <a:ln w="38100">
            <a:solidFill>
              <a:srgbClr val="FFC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1" name="Line 31"/>
          <p:cNvSpPr>
            <a:spLocks noChangeShapeType="1"/>
          </p:cNvSpPr>
          <p:nvPr/>
        </p:nvSpPr>
        <p:spPr bwMode="auto">
          <a:xfrm>
            <a:off x="3810000" y="1752600"/>
            <a:ext cx="533400" cy="0"/>
          </a:xfrm>
          <a:prstGeom prst="line">
            <a:avLst/>
          </a:prstGeom>
          <a:noFill/>
          <a:ln w="38100">
            <a:solidFill>
              <a:srgbClr val="FFC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2" name="Line 32"/>
          <p:cNvSpPr>
            <a:spLocks noChangeShapeType="1"/>
          </p:cNvSpPr>
          <p:nvPr/>
        </p:nvSpPr>
        <p:spPr bwMode="auto">
          <a:xfrm flipV="1">
            <a:off x="4343400" y="762000"/>
            <a:ext cx="0" cy="990600"/>
          </a:xfrm>
          <a:prstGeom prst="line">
            <a:avLst/>
          </a:prstGeom>
          <a:noFill/>
          <a:ln w="38100">
            <a:solidFill>
              <a:srgbClr val="FFC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3" name="Line 35"/>
          <p:cNvSpPr>
            <a:spLocks noChangeShapeType="1"/>
          </p:cNvSpPr>
          <p:nvPr/>
        </p:nvSpPr>
        <p:spPr bwMode="auto">
          <a:xfrm>
            <a:off x="4419600" y="2819400"/>
            <a:ext cx="609600" cy="228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4" name="Line 36"/>
          <p:cNvSpPr>
            <a:spLocks noChangeShapeType="1"/>
          </p:cNvSpPr>
          <p:nvPr/>
        </p:nvSpPr>
        <p:spPr bwMode="auto">
          <a:xfrm>
            <a:off x="4495800" y="3276600"/>
            <a:ext cx="533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5" name="TextBox 34"/>
          <p:cNvSpPr txBox="1">
            <a:spLocks noChangeArrowheads="1"/>
          </p:cNvSpPr>
          <p:nvPr/>
        </p:nvSpPr>
        <p:spPr bwMode="auto">
          <a:xfrm>
            <a:off x="5791200" y="4572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A-1</a:t>
            </a:r>
          </a:p>
        </p:txBody>
      </p:sp>
      <p:cxnSp>
        <p:nvCxnSpPr>
          <p:cNvPr id="10276" name="Straight Arrow Connector 36"/>
          <p:cNvCxnSpPr>
            <a:cxnSpLocks noChangeShapeType="1"/>
          </p:cNvCxnSpPr>
          <p:nvPr/>
        </p:nvCxnSpPr>
        <p:spPr bwMode="auto">
          <a:xfrm flipH="1">
            <a:off x="5943600" y="838200"/>
            <a:ext cx="76200" cy="304800"/>
          </a:xfrm>
          <a:prstGeom prst="straightConnector1">
            <a:avLst/>
          </a:prstGeom>
          <a:noFill/>
          <a:ln w="381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277" name="TextBox 37"/>
          <p:cNvSpPr txBox="1">
            <a:spLocks noChangeArrowheads="1"/>
          </p:cNvSpPr>
          <p:nvPr/>
        </p:nvSpPr>
        <p:spPr bwMode="auto">
          <a:xfrm>
            <a:off x="6172200" y="1981200"/>
            <a:ext cx="762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A-2</a:t>
            </a:r>
          </a:p>
        </p:txBody>
      </p:sp>
      <p:cxnSp>
        <p:nvCxnSpPr>
          <p:cNvPr id="10278" name="Straight Arrow Connector 39"/>
          <p:cNvCxnSpPr>
            <a:cxnSpLocks noChangeShapeType="1"/>
          </p:cNvCxnSpPr>
          <p:nvPr/>
        </p:nvCxnSpPr>
        <p:spPr bwMode="auto">
          <a:xfrm flipH="1" flipV="1">
            <a:off x="6019800" y="1752600"/>
            <a:ext cx="304800" cy="304800"/>
          </a:xfrm>
          <a:prstGeom prst="straightConnector1">
            <a:avLst/>
          </a:prstGeom>
          <a:noFill/>
          <a:ln w="381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279" name="TextBox 40"/>
          <p:cNvSpPr txBox="1">
            <a:spLocks noChangeArrowheads="1"/>
          </p:cNvSpPr>
          <p:nvPr/>
        </p:nvSpPr>
        <p:spPr bwMode="auto">
          <a:xfrm>
            <a:off x="8153400" y="58674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B-1</a:t>
            </a:r>
          </a:p>
        </p:txBody>
      </p:sp>
      <p:sp>
        <p:nvSpPr>
          <p:cNvPr id="10280" name="TextBox 41"/>
          <p:cNvSpPr txBox="1">
            <a:spLocks noChangeArrowheads="1"/>
          </p:cNvSpPr>
          <p:nvPr/>
        </p:nvSpPr>
        <p:spPr bwMode="auto">
          <a:xfrm>
            <a:off x="7543800" y="60198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B-2</a:t>
            </a:r>
          </a:p>
        </p:txBody>
      </p:sp>
      <p:sp>
        <p:nvSpPr>
          <p:cNvPr id="10281" name="TextBox 43"/>
          <p:cNvSpPr txBox="1">
            <a:spLocks noChangeArrowheads="1"/>
          </p:cNvSpPr>
          <p:nvPr/>
        </p:nvSpPr>
        <p:spPr bwMode="auto">
          <a:xfrm>
            <a:off x="3581400" y="6019800"/>
            <a:ext cx="838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B-4</a:t>
            </a:r>
          </a:p>
        </p:txBody>
      </p:sp>
      <p:sp>
        <p:nvSpPr>
          <p:cNvPr id="10282" name="TextBox 44"/>
          <p:cNvSpPr txBox="1">
            <a:spLocks noChangeArrowheads="1"/>
          </p:cNvSpPr>
          <p:nvPr/>
        </p:nvSpPr>
        <p:spPr bwMode="auto">
          <a:xfrm>
            <a:off x="152400" y="57912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C-1</a:t>
            </a:r>
          </a:p>
        </p:txBody>
      </p:sp>
      <p:cxnSp>
        <p:nvCxnSpPr>
          <p:cNvPr id="10283" name="Straight Arrow Connector 46"/>
          <p:cNvCxnSpPr>
            <a:cxnSpLocks noChangeShapeType="1"/>
          </p:cNvCxnSpPr>
          <p:nvPr/>
        </p:nvCxnSpPr>
        <p:spPr bwMode="auto">
          <a:xfrm flipH="1" flipV="1">
            <a:off x="152400" y="5410200"/>
            <a:ext cx="152400" cy="457200"/>
          </a:xfrm>
          <a:prstGeom prst="straightConnector1">
            <a:avLst/>
          </a:prstGeom>
          <a:noFill/>
          <a:ln w="381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284" name="TextBox 47"/>
          <p:cNvSpPr txBox="1">
            <a:spLocks noChangeArrowheads="1"/>
          </p:cNvSpPr>
          <p:nvPr/>
        </p:nvSpPr>
        <p:spPr bwMode="auto">
          <a:xfrm>
            <a:off x="228600" y="41910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C-2</a:t>
            </a:r>
          </a:p>
        </p:txBody>
      </p:sp>
      <p:cxnSp>
        <p:nvCxnSpPr>
          <p:cNvPr id="10285" name="Straight Arrow Connector 49"/>
          <p:cNvCxnSpPr>
            <a:cxnSpLocks noChangeShapeType="1"/>
            <a:stCxn id="10284" idx="2"/>
          </p:cNvCxnSpPr>
          <p:nvPr/>
        </p:nvCxnSpPr>
        <p:spPr bwMode="auto">
          <a:xfrm flipH="1">
            <a:off x="381000" y="4560888"/>
            <a:ext cx="190500" cy="239712"/>
          </a:xfrm>
          <a:prstGeom prst="straightConnector1">
            <a:avLst/>
          </a:prstGeom>
          <a:noFill/>
          <a:ln w="381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286" name="TextBox 50"/>
          <p:cNvSpPr txBox="1">
            <a:spLocks noChangeArrowheads="1"/>
          </p:cNvSpPr>
          <p:nvPr/>
        </p:nvSpPr>
        <p:spPr bwMode="auto">
          <a:xfrm>
            <a:off x="228600" y="2133600"/>
            <a:ext cx="762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D-1</a:t>
            </a:r>
          </a:p>
        </p:txBody>
      </p:sp>
      <p:sp>
        <p:nvSpPr>
          <p:cNvPr id="10287" name="TextBox 51"/>
          <p:cNvSpPr txBox="1">
            <a:spLocks noChangeArrowheads="1"/>
          </p:cNvSpPr>
          <p:nvPr/>
        </p:nvSpPr>
        <p:spPr bwMode="auto">
          <a:xfrm>
            <a:off x="838200" y="2209800"/>
            <a:ext cx="762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C-3</a:t>
            </a:r>
          </a:p>
        </p:txBody>
      </p:sp>
      <p:sp>
        <p:nvSpPr>
          <p:cNvPr id="10288" name="TextBox 52"/>
          <p:cNvSpPr txBox="1">
            <a:spLocks noChangeArrowheads="1"/>
          </p:cNvSpPr>
          <p:nvPr/>
        </p:nvSpPr>
        <p:spPr bwMode="auto">
          <a:xfrm>
            <a:off x="762000" y="1524000"/>
            <a:ext cx="762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C-4</a:t>
            </a:r>
          </a:p>
        </p:txBody>
      </p:sp>
      <p:sp>
        <p:nvSpPr>
          <p:cNvPr id="10289" name="TextBox 53"/>
          <p:cNvSpPr txBox="1">
            <a:spLocks noChangeArrowheads="1"/>
          </p:cNvSpPr>
          <p:nvPr/>
        </p:nvSpPr>
        <p:spPr bwMode="auto">
          <a:xfrm>
            <a:off x="2362200" y="1066800"/>
            <a:ext cx="762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D-2</a:t>
            </a:r>
          </a:p>
        </p:txBody>
      </p:sp>
      <p:sp>
        <p:nvSpPr>
          <p:cNvPr id="10290" name="TextBox 54"/>
          <p:cNvSpPr txBox="1">
            <a:spLocks noChangeArrowheads="1"/>
          </p:cNvSpPr>
          <p:nvPr/>
        </p:nvSpPr>
        <p:spPr bwMode="auto">
          <a:xfrm>
            <a:off x="3657600" y="990600"/>
            <a:ext cx="762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D-3</a:t>
            </a:r>
          </a:p>
        </p:txBody>
      </p:sp>
      <p:pic>
        <p:nvPicPr>
          <p:cNvPr id="10291" name="Picture 5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88" y="5237163"/>
            <a:ext cx="249237" cy="249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2" name="Picture 5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2100" y="5029200"/>
            <a:ext cx="249238" cy="249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3" name="Picture 5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975" y="385763"/>
            <a:ext cx="249238" cy="249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294" name="Rectangle 1"/>
          <p:cNvSpPr>
            <a:spLocks noChangeArrowheads="1"/>
          </p:cNvSpPr>
          <p:nvPr/>
        </p:nvSpPr>
        <p:spPr bwMode="auto">
          <a:xfrm>
            <a:off x="914400" y="385763"/>
            <a:ext cx="72707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/>
              <a:t>First Aid</a:t>
            </a:r>
          </a:p>
        </p:txBody>
      </p:sp>
      <p:pic>
        <p:nvPicPr>
          <p:cNvPr id="10295" name="Picture 5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0788" y="2270125"/>
            <a:ext cx="249237" cy="249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6" name="Picture 5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7225" y="1779588"/>
            <a:ext cx="244475" cy="249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7" name="Picture 5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563" y="676275"/>
            <a:ext cx="244475" cy="249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988" y="1031875"/>
            <a:ext cx="8967787" cy="504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7" name="Line 3"/>
          <p:cNvSpPr>
            <a:spLocks noChangeShapeType="1"/>
          </p:cNvSpPr>
          <p:nvPr/>
        </p:nvSpPr>
        <p:spPr bwMode="auto">
          <a:xfrm>
            <a:off x="4953000" y="6203950"/>
            <a:ext cx="838200" cy="0"/>
          </a:xfrm>
          <a:prstGeom prst="line">
            <a:avLst/>
          </a:prstGeom>
          <a:noFill/>
          <a:ln w="50800">
            <a:solidFill>
              <a:srgbClr val="FFC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68" name="Text Box 4"/>
          <p:cNvSpPr txBox="1">
            <a:spLocks noChangeArrowheads="1"/>
          </p:cNvSpPr>
          <p:nvPr/>
        </p:nvSpPr>
        <p:spPr bwMode="auto">
          <a:xfrm>
            <a:off x="5791200" y="6019800"/>
            <a:ext cx="10572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charset="0"/>
              </a:rPr>
              <a:t>Alternate </a:t>
            </a:r>
          </a:p>
        </p:txBody>
      </p:sp>
      <p:sp>
        <p:nvSpPr>
          <p:cNvPr id="11269" name="Line 5"/>
          <p:cNvSpPr>
            <a:spLocks noChangeShapeType="1"/>
          </p:cNvSpPr>
          <p:nvPr/>
        </p:nvSpPr>
        <p:spPr bwMode="auto">
          <a:xfrm>
            <a:off x="3962400" y="4800600"/>
            <a:ext cx="1066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0" name="Line 6"/>
          <p:cNvSpPr>
            <a:spLocks noChangeShapeType="1"/>
          </p:cNvSpPr>
          <p:nvPr/>
        </p:nvSpPr>
        <p:spPr bwMode="auto">
          <a:xfrm flipH="1">
            <a:off x="3810000" y="4800600"/>
            <a:ext cx="152400" cy="228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1" name="Line 7"/>
          <p:cNvSpPr>
            <a:spLocks noChangeShapeType="1"/>
          </p:cNvSpPr>
          <p:nvPr/>
        </p:nvSpPr>
        <p:spPr bwMode="auto">
          <a:xfrm>
            <a:off x="3810000" y="5029200"/>
            <a:ext cx="0" cy="914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2" name="Line 8"/>
          <p:cNvSpPr>
            <a:spLocks noChangeShapeType="1"/>
          </p:cNvSpPr>
          <p:nvPr/>
        </p:nvSpPr>
        <p:spPr bwMode="auto">
          <a:xfrm>
            <a:off x="8305800" y="4800600"/>
            <a:ext cx="0" cy="685800"/>
          </a:xfrm>
          <a:prstGeom prst="line">
            <a:avLst/>
          </a:prstGeom>
          <a:noFill/>
          <a:ln w="38100">
            <a:solidFill>
              <a:srgbClr val="FFC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3" name="Line 9"/>
          <p:cNvSpPr>
            <a:spLocks noChangeShapeType="1"/>
          </p:cNvSpPr>
          <p:nvPr/>
        </p:nvSpPr>
        <p:spPr bwMode="auto">
          <a:xfrm>
            <a:off x="8305800" y="5486400"/>
            <a:ext cx="152400" cy="0"/>
          </a:xfrm>
          <a:prstGeom prst="line">
            <a:avLst/>
          </a:prstGeom>
          <a:noFill/>
          <a:ln w="38100">
            <a:solidFill>
              <a:srgbClr val="FFC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4" name="Line 10"/>
          <p:cNvSpPr>
            <a:spLocks noChangeShapeType="1"/>
          </p:cNvSpPr>
          <p:nvPr/>
        </p:nvSpPr>
        <p:spPr bwMode="auto">
          <a:xfrm>
            <a:off x="8458200" y="5486400"/>
            <a:ext cx="0" cy="381000"/>
          </a:xfrm>
          <a:prstGeom prst="line">
            <a:avLst/>
          </a:prstGeom>
          <a:noFill/>
          <a:ln w="38100">
            <a:solidFill>
              <a:srgbClr val="FFC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5" name="Line 11"/>
          <p:cNvSpPr>
            <a:spLocks noChangeShapeType="1"/>
          </p:cNvSpPr>
          <p:nvPr/>
        </p:nvSpPr>
        <p:spPr bwMode="auto">
          <a:xfrm>
            <a:off x="4953000" y="6432550"/>
            <a:ext cx="838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6" name="Text Box 12"/>
          <p:cNvSpPr txBox="1">
            <a:spLocks noChangeArrowheads="1"/>
          </p:cNvSpPr>
          <p:nvPr/>
        </p:nvSpPr>
        <p:spPr bwMode="auto">
          <a:xfrm>
            <a:off x="5791200" y="6248400"/>
            <a:ext cx="8683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charset="0"/>
              </a:rPr>
              <a:t>Primary</a:t>
            </a:r>
          </a:p>
        </p:txBody>
      </p:sp>
      <p:sp>
        <p:nvSpPr>
          <p:cNvPr id="11277" name="Line 13"/>
          <p:cNvSpPr>
            <a:spLocks noChangeShapeType="1"/>
          </p:cNvSpPr>
          <p:nvPr/>
        </p:nvSpPr>
        <p:spPr bwMode="auto">
          <a:xfrm>
            <a:off x="5029200" y="4800600"/>
            <a:ext cx="3276600" cy="0"/>
          </a:xfrm>
          <a:prstGeom prst="line">
            <a:avLst/>
          </a:prstGeom>
          <a:noFill/>
          <a:ln w="38100">
            <a:solidFill>
              <a:srgbClr val="FFC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8" name="Line 14"/>
          <p:cNvSpPr>
            <a:spLocks noChangeShapeType="1"/>
          </p:cNvSpPr>
          <p:nvPr/>
        </p:nvSpPr>
        <p:spPr bwMode="auto">
          <a:xfrm>
            <a:off x="76200" y="4800600"/>
            <a:ext cx="3657600" cy="0"/>
          </a:xfrm>
          <a:prstGeom prst="line">
            <a:avLst/>
          </a:prstGeom>
          <a:noFill/>
          <a:ln w="38100">
            <a:solidFill>
              <a:srgbClr val="FFC000"/>
            </a:solidFill>
            <a:prstDash val="dash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9" name="Line 15"/>
          <p:cNvSpPr>
            <a:spLocks noChangeShapeType="1"/>
          </p:cNvSpPr>
          <p:nvPr/>
        </p:nvSpPr>
        <p:spPr bwMode="auto">
          <a:xfrm>
            <a:off x="3733800" y="4800600"/>
            <a:ext cx="76200" cy="228600"/>
          </a:xfrm>
          <a:prstGeom prst="line">
            <a:avLst/>
          </a:prstGeom>
          <a:noFill/>
          <a:ln w="38100">
            <a:solidFill>
              <a:srgbClr val="FFC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80" name="Rectangle 16"/>
          <p:cNvSpPr>
            <a:spLocks noChangeArrowheads="1"/>
          </p:cNvSpPr>
          <p:nvPr/>
        </p:nvSpPr>
        <p:spPr bwMode="auto">
          <a:xfrm>
            <a:off x="6324600" y="990600"/>
            <a:ext cx="2819400" cy="762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1281" name="Text Box 17"/>
          <p:cNvSpPr txBox="1">
            <a:spLocks noChangeArrowheads="1"/>
          </p:cNvSpPr>
          <p:nvPr/>
        </p:nvSpPr>
        <p:spPr bwMode="auto">
          <a:xfrm>
            <a:off x="5105400" y="5867400"/>
            <a:ext cx="13255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charset="0"/>
              </a:rPr>
              <a:t>Escape Routes</a:t>
            </a:r>
          </a:p>
        </p:txBody>
      </p:sp>
      <p:sp>
        <p:nvSpPr>
          <p:cNvPr id="11282" name="Rectangle 18"/>
          <p:cNvSpPr>
            <a:spLocks noChangeArrowheads="1"/>
          </p:cNvSpPr>
          <p:nvPr/>
        </p:nvSpPr>
        <p:spPr bwMode="auto">
          <a:xfrm>
            <a:off x="4800600" y="5867400"/>
            <a:ext cx="1981200" cy="762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1283" name="Text Box 19"/>
          <p:cNvSpPr txBox="1">
            <a:spLocks noChangeArrowheads="1"/>
          </p:cNvSpPr>
          <p:nvPr/>
        </p:nvSpPr>
        <p:spPr bwMode="auto">
          <a:xfrm>
            <a:off x="6019800" y="511175"/>
            <a:ext cx="3124200" cy="310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latin typeface="Tahoma" charset="0"/>
              </a:rPr>
              <a:t>Tornado Routine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charset="0"/>
              </a:rPr>
              <a:t>All children will remain in the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charset="0"/>
              </a:rPr>
              <a:t>basement and move to a safe area.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charset="0"/>
              </a:rPr>
              <a:t>The Director or Assistant Director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charset="0"/>
              </a:rPr>
              <a:t>will monitor the battery powered radio in the school office.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400">
              <a:latin typeface="Tahoma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400">
              <a:latin typeface="Tahoma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latin typeface="Tahoma" charset="0"/>
              </a:rPr>
              <a:t>Earthquake Routine</a:t>
            </a:r>
            <a:endParaRPr lang="en-US" altLang="en-US" sz="1400">
              <a:latin typeface="Tahoma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charset="0"/>
              </a:rPr>
              <a:t>The children will go under tables and remain until all clear is given by the teacher.  The teacher and teaching assistant will stand in doorway until danger has past.</a:t>
            </a:r>
            <a:endParaRPr lang="en-US" altLang="en-US" sz="1400" b="1">
              <a:latin typeface="Tahoma" charset="0"/>
            </a:endParaRPr>
          </a:p>
        </p:txBody>
      </p:sp>
      <p:sp>
        <p:nvSpPr>
          <p:cNvPr id="11284" name="Rectangle 20"/>
          <p:cNvSpPr>
            <a:spLocks noChangeArrowheads="1"/>
          </p:cNvSpPr>
          <p:nvPr/>
        </p:nvSpPr>
        <p:spPr bwMode="auto">
          <a:xfrm>
            <a:off x="4038600" y="2590800"/>
            <a:ext cx="533400" cy="16002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1285" name="Rectangle 21"/>
          <p:cNvSpPr>
            <a:spLocks noChangeArrowheads="1"/>
          </p:cNvSpPr>
          <p:nvPr/>
        </p:nvSpPr>
        <p:spPr bwMode="auto">
          <a:xfrm>
            <a:off x="4572000" y="3962400"/>
            <a:ext cx="381000" cy="2286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1286" name="Rectangle 22"/>
          <p:cNvSpPr>
            <a:spLocks noChangeArrowheads="1"/>
          </p:cNvSpPr>
          <p:nvPr/>
        </p:nvSpPr>
        <p:spPr bwMode="auto">
          <a:xfrm>
            <a:off x="4038600" y="4191000"/>
            <a:ext cx="914400" cy="5334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1287" name="Rectangle 23"/>
          <p:cNvSpPr>
            <a:spLocks noChangeArrowheads="1"/>
          </p:cNvSpPr>
          <p:nvPr/>
        </p:nvSpPr>
        <p:spPr bwMode="auto">
          <a:xfrm>
            <a:off x="4572000" y="4876800"/>
            <a:ext cx="533400" cy="6096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1288" name="Text Box 24"/>
          <p:cNvSpPr txBox="1">
            <a:spLocks noChangeArrowheads="1"/>
          </p:cNvSpPr>
          <p:nvPr/>
        </p:nvSpPr>
        <p:spPr bwMode="auto">
          <a:xfrm>
            <a:off x="4038600" y="3032125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00" b="1">
                <a:solidFill>
                  <a:srgbClr val="FF3300"/>
                </a:solidFill>
                <a:latin typeface="Tahoma" charset="0"/>
              </a:rPr>
              <a:t>SAFE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00" b="1">
                <a:solidFill>
                  <a:srgbClr val="FF3300"/>
                </a:solidFill>
                <a:latin typeface="Tahoma" charset="0"/>
              </a:rPr>
              <a:t>AREA</a:t>
            </a:r>
          </a:p>
        </p:txBody>
      </p:sp>
      <p:sp>
        <p:nvSpPr>
          <p:cNvPr id="11289" name="Rectangle 25"/>
          <p:cNvSpPr>
            <a:spLocks noChangeArrowheads="1"/>
          </p:cNvSpPr>
          <p:nvPr/>
        </p:nvSpPr>
        <p:spPr bwMode="auto">
          <a:xfrm>
            <a:off x="4038600" y="4191000"/>
            <a:ext cx="533400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000" b="1">
                <a:solidFill>
                  <a:srgbClr val="FF3300"/>
                </a:solidFill>
                <a:latin typeface="Tahoma" charset="0"/>
              </a:rPr>
              <a:t>SAFE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000" b="1">
                <a:solidFill>
                  <a:srgbClr val="FF3300"/>
                </a:solidFill>
                <a:latin typeface="Tahoma" charset="0"/>
              </a:rPr>
              <a:t>AREA</a:t>
            </a:r>
          </a:p>
        </p:txBody>
      </p:sp>
      <p:sp>
        <p:nvSpPr>
          <p:cNvPr id="11290" name="Rectangle 26"/>
          <p:cNvSpPr>
            <a:spLocks noChangeArrowheads="1"/>
          </p:cNvSpPr>
          <p:nvPr/>
        </p:nvSpPr>
        <p:spPr bwMode="auto">
          <a:xfrm>
            <a:off x="4572000" y="4953000"/>
            <a:ext cx="666750" cy="47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000" b="1">
                <a:solidFill>
                  <a:srgbClr val="FF3300"/>
                </a:solidFill>
                <a:latin typeface="Tahoma" charset="0"/>
              </a:rPr>
              <a:t>SAFE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000" b="1">
                <a:solidFill>
                  <a:srgbClr val="FF3300"/>
                </a:solidFill>
                <a:latin typeface="Tahoma" charset="0"/>
              </a:rPr>
              <a:t>AREA</a:t>
            </a:r>
          </a:p>
        </p:txBody>
      </p:sp>
      <p:sp>
        <p:nvSpPr>
          <p:cNvPr id="11291" name="Line 27"/>
          <p:cNvSpPr>
            <a:spLocks noChangeShapeType="1"/>
          </p:cNvSpPr>
          <p:nvPr/>
        </p:nvSpPr>
        <p:spPr bwMode="auto">
          <a:xfrm>
            <a:off x="5029200" y="3657600"/>
            <a:ext cx="0" cy="1143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92" name="Line 28"/>
          <p:cNvSpPr>
            <a:spLocks noChangeShapeType="1"/>
          </p:cNvSpPr>
          <p:nvPr/>
        </p:nvSpPr>
        <p:spPr bwMode="auto">
          <a:xfrm>
            <a:off x="4572000" y="2133600"/>
            <a:ext cx="457200" cy="914400"/>
          </a:xfrm>
          <a:prstGeom prst="line">
            <a:avLst/>
          </a:prstGeom>
          <a:noFill/>
          <a:ln w="38100">
            <a:solidFill>
              <a:srgbClr val="FFC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93" name="Line 29"/>
          <p:cNvSpPr>
            <a:spLocks noChangeShapeType="1"/>
          </p:cNvSpPr>
          <p:nvPr/>
        </p:nvSpPr>
        <p:spPr bwMode="auto">
          <a:xfrm>
            <a:off x="3810000" y="2133600"/>
            <a:ext cx="762000" cy="0"/>
          </a:xfrm>
          <a:prstGeom prst="line">
            <a:avLst/>
          </a:prstGeom>
          <a:noFill/>
          <a:ln w="38100">
            <a:solidFill>
              <a:srgbClr val="FFC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94" name="Line 30"/>
          <p:cNvSpPr>
            <a:spLocks noChangeShapeType="1"/>
          </p:cNvSpPr>
          <p:nvPr/>
        </p:nvSpPr>
        <p:spPr bwMode="auto">
          <a:xfrm>
            <a:off x="3810000" y="1752600"/>
            <a:ext cx="0" cy="381000"/>
          </a:xfrm>
          <a:prstGeom prst="line">
            <a:avLst/>
          </a:prstGeom>
          <a:noFill/>
          <a:ln w="38100">
            <a:solidFill>
              <a:srgbClr val="FFC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95" name="Line 31"/>
          <p:cNvSpPr>
            <a:spLocks noChangeShapeType="1"/>
          </p:cNvSpPr>
          <p:nvPr/>
        </p:nvSpPr>
        <p:spPr bwMode="auto">
          <a:xfrm>
            <a:off x="3810000" y="1752600"/>
            <a:ext cx="533400" cy="0"/>
          </a:xfrm>
          <a:prstGeom prst="line">
            <a:avLst/>
          </a:prstGeom>
          <a:noFill/>
          <a:ln w="38100">
            <a:solidFill>
              <a:srgbClr val="FFC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96" name="Line 32"/>
          <p:cNvSpPr>
            <a:spLocks noChangeShapeType="1"/>
          </p:cNvSpPr>
          <p:nvPr/>
        </p:nvSpPr>
        <p:spPr bwMode="auto">
          <a:xfrm flipV="1">
            <a:off x="4343400" y="762000"/>
            <a:ext cx="0" cy="990600"/>
          </a:xfrm>
          <a:prstGeom prst="line">
            <a:avLst/>
          </a:prstGeom>
          <a:noFill/>
          <a:ln w="38100">
            <a:solidFill>
              <a:srgbClr val="FFC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97" name="Line 35"/>
          <p:cNvSpPr>
            <a:spLocks noChangeShapeType="1"/>
          </p:cNvSpPr>
          <p:nvPr/>
        </p:nvSpPr>
        <p:spPr bwMode="auto">
          <a:xfrm>
            <a:off x="4419600" y="3657600"/>
            <a:ext cx="609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98" name="Line 36"/>
          <p:cNvSpPr>
            <a:spLocks noChangeShapeType="1"/>
          </p:cNvSpPr>
          <p:nvPr/>
        </p:nvSpPr>
        <p:spPr bwMode="auto">
          <a:xfrm flipV="1">
            <a:off x="4419600" y="3657600"/>
            <a:ext cx="609600" cy="228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99" name="Line 37"/>
          <p:cNvSpPr>
            <a:spLocks noChangeShapeType="1"/>
          </p:cNvSpPr>
          <p:nvPr/>
        </p:nvSpPr>
        <p:spPr bwMode="auto">
          <a:xfrm flipV="1">
            <a:off x="5029200" y="3048000"/>
            <a:ext cx="0" cy="609600"/>
          </a:xfrm>
          <a:prstGeom prst="line">
            <a:avLst/>
          </a:prstGeom>
          <a:noFill/>
          <a:ln w="38100">
            <a:solidFill>
              <a:srgbClr val="FFC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00" name="TextBox 35"/>
          <p:cNvSpPr txBox="1">
            <a:spLocks noChangeArrowheads="1"/>
          </p:cNvSpPr>
          <p:nvPr/>
        </p:nvSpPr>
        <p:spPr bwMode="auto">
          <a:xfrm>
            <a:off x="5715000" y="5334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A-1</a:t>
            </a:r>
          </a:p>
        </p:txBody>
      </p:sp>
      <p:cxnSp>
        <p:nvCxnSpPr>
          <p:cNvPr id="11301" name="Straight Arrow Connector 37"/>
          <p:cNvCxnSpPr>
            <a:cxnSpLocks noChangeShapeType="1"/>
            <a:stCxn id="11300" idx="2"/>
          </p:cNvCxnSpPr>
          <p:nvPr/>
        </p:nvCxnSpPr>
        <p:spPr bwMode="auto">
          <a:xfrm flipH="1">
            <a:off x="6019800" y="903288"/>
            <a:ext cx="38100" cy="239712"/>
          </a:xfrm>
          <a:prstGeom prst="straightConnector1">
            <a:avLst/>
          </a:prstGeom>
          <a:noFill/>
          <a:ln w="381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302" name="TextBox 39"/>
          <p:cNvSpPr txBox="1">
            <a:spLocks noChangeArrowheads="1"/>
          </p:cNvSpPr>
          <p:nvPr/>
        </p:nvSpPr>
        <p:spPr bwMode="auto">
          <a:xfrm>
            <a:off x="6172200" y="1905000"/>
            <a:ext cx="609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A-2</a:t>
            </a:r>
          </a:p>
        </p:txBody>
      </p:sp>
      <p:cxnSp>
        <p:nvCxnSpPr>
          <p:cNvPr id="11303" name="Straight Arrow Connector 41"/>
          <p:cNvCxnSpPr>
            <a:cxnSpLocks noChangeShapeType="1"/>
          </p:cNvCxnSpPr>
          <p:nvPr/>
        </p:nvCxnSpPr>
        <p:spPr bwMode="auto">
          <a:xfrm flipH="1" flipV="1">
            <a:off x="6019800" y="1828800"/>
            <a:ext cx="228600" cy="152400"/>
          </a:xfrm>
          <a:prstGeom prst="straightConnector1">
            <a:avLst/>
          </a:prstGeom>
          <a:noFill/>
          <a:ln w="381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304" name="TextBox 42"/>
          <p:cNvSpPr txBox="1">
            <a:spLocks noChangeArrowheads="1"/>
          </p:cNvSpPr>
          <p:nvPr/>
        </p:nvSpPr>
        <p:spPr bwMode="auto">
          <a:xfrm>
            <a:off x="8153400" y="5867400"/>
            <a:ext cx="762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B-1</a:t>
            </a:r>
          </a:p>
        </p:txBody>
      </p:sp>
      <p:sp>
        <p:nvSpPr>
          <p:cNvPr id="11305" name="TextBox 43"/>
          <p:cNvSpPr txBox="1">
            <a:spLocks noChangeArrowheads="1"/>
          </p:cNvSpPr>
          <p:nvPr/>
        </p:nvSpPr>
        <p:spPr bwMode="auto">
          <a:xfrm>
            <a:off x="7543800" y="59436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B-2</a:t>
            </a:r>
          </a:p>
        </p:txBody>
      </p:sp>
      <p:sp>
        <p:nvSpPr>
          <p:cNvPr id="11306" name="TextBox 44"/>
          <p:cNvSpPr txBox="1">
            <a:spLocks noChangeArrowheads="1"/>
          </p:cNvSpPr>
          <p:nvPr/>
        </p:nvSpPr>
        <p:spPr bwMode="auto">
          <a:xfrm>
            <a:off x="3505200" y="58674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B-4</a:t>
            </a:r>
          </a:p>
        </p:txBody>
      </p:sp>
      <p:sp>
        <p:nvSpPr>
          <p:cNvPr id="11307" name="TextBox 45"/>
          <p:cNvSpPr txBox="1">
            <a:spLocks noChangeArrowheads="1"/>
          </p:cNvSpPr>
          <p:nvPr/>
        </p:nvSpPr>
        <p:spPr bwMode="auto">
          <a:xfrm>
            <a:off x="152400" y="5715000"/>
            <a:ext cx="533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C-1</a:t>
            </a:r>
          </a:p>
        </p:txBody>
      </p:sp>
      <p:cxnSp>
        <p:nvCxnSpPr>
          <p:cNvPr id="11308" name="Straight Arrow Connector 47"/>
          <p:cNvCxnSpPr>
            <a:cxnSpLocks noChangeShapeType="1"/>
          </p:cNvCxnSpPr>
          <p:nvPr/>
        </p:nvCxnSpPr>
        <p:spPr bwMode="auto">
          <a:xfrm flipH="1" flipV="1">
            <a:off x="152400" y="5334000"/>
            <a:ext cx="152400" cy="457200"/>
          </a:xfrm>
          <a:prstGeom prst="straightConnector1">
            <a:avLst/>
          </a:prstGeom>
          <a:noFill/>
          <a:ln w="381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309" name="TextBox 48"/>
          <p:cNvSpPr txBox="1">
            <a:spLocks noChangeArrowheads="1"/>
          </p:cNvSpPr>
          <p:nvPr/>
        </p:nvSpPr>
        <p:spPr bwMode="auto">
          <a:xfrm>
            <a:off x="152400" y="4191000"/>
            <a:ext cx="762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C-2</a:t>
            </a:r>
          </a:p>
        </p:txBody>
      </p:sp>
      <p:cxnSp>
        <p:nvCxnSpPr>
          <p:cNvPr id="11310" name="Straight Arrow Connector 50"/>
          <p:cNvCxnSpPr>
            <a:cxnSpLocks noChangeShapeType="1"/>
          </p:cNvCxnSpPr>
          <p:nvPr/>
        </p:nvCxnSpPr>
        <p:spPr bwMode="auto">
          <a:xfrm flipH="1">
            <a:off x="304800" y="4419600"/>
            <a:ext cx="152400" cy="381000"/>
          </a:xfrm>
          <a:prstGeom prst="straightConnector1">
            <a:avLst/>
          </a:prstGeom>
          <a:noFill/>
          <a:ln w="381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311" name="TextBox 51"/>
          <p:cNvSpPr txBox="1">
            <a:spLocks noChangeArrowheads="1"/>
          </p:cNvSpPr>
          <p:nvPr/>
        </p:nvSpPr>
        <p:spPr bwMode="auto">
          <a:xfrm>
            <a:off x="228600" y="2133600"/>
            <a:ext cx="762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D-1</a:t>
            </a:r>
          </a:p>
        </p:txBody>
      </p:sp>
      <p:sp>
        <p:nvSpPr>
          <p:cNvPr id="11312" name="TextBox 52"/>
          <p:cNvSpPr txBox="1">
            <a:spLocks noChangeArrowheads="1"/>
          </p:cNvSpPr>
          <p:nvPr/>
        </p:nvSpPr>
        <p:spPr bwMode="auto">
          <a:xfrm>
            <a:off x="914400" y="22098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C-3</a:t>
            </a:r>
          </a:p>
        </p:txBody>
      </p:sp>
      <p:sp>
        <p:nvSpPr>
          <p:cNvPr id="11313" name="TextBox 53"/>
          <p:cNvSpPr txBox="1">
            <a:spLocks noChangeArrowheads="1"/>
          </p:cNvSpPr>
          <p:nvPr/>
        </p:nvSpPr>
        <p:spPr bwMode="auto">
          <a:xfrm>
            <a:off x="838200" y="1524000"/>
            <a:ext cx="533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C-4</a:t>
            </a:r>
          </a:p>
        </p:txBody>
      </p:sp>
      <p:sp>
        <p:nvSpPr>
          <p:cNvPr id="11314" name="TextBox 54"/>
          <p:cNvSpPr txBox="1">
            <a:spLocks noChangeArrowheads="1"/>
          </p:cNvSpPr>
          <p:nvPr/>
        </p:nvSpPr>
        <p:spPr bwMode="auto">
          <a:xfrm>
            <a:off x="2362200" y="9906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D-2</a:t>
            </a:r>
          </a:p>
        </p:txBody>
      </p:sp>
      <p:sp>
        <p:nvSpPr>
          <p:cNvPr id="11315" name="TextBox 55"/>
          <p:cNvSpPr txBox="1">
            <a:spLocks noChangeArrowheads="1"/>
          </p:cNvSpPr>
          <p:nvPr/>
        </p:nvSpPr>
        <p:spPr bwMode="auto">
          <a:xfrm>
            <a:off x="3657600" y="990600"/>
            <a:ext cx="762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D-3</a:t>
            </a:r>
          </a:p>
        </p:txBody>
      </p:sp>
      <p:pic>
        <p:nvPicPr>
          <p:cNvPr id="11316" name="Picture 5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2100" y="5018088"/>
            <a:ext cx="249238" cy="249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317" name="Picture 5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163" y="5208588"/>
            <a:ext cx="249237" cy="249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318" name="Picture 5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163" y="407988"/>
            <a:ext cx="249237" cy="249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319" name="Rectangle 1"/>
          <p:cNvSpPr>
            <a:spLocks noChangeArrowheads="1"/>
          </p:cNvSpPr>
          <p:nvPr/>
        </p:nvSpPr>
        <p:spPr bwMode="auto">
          <a:xfrm>
            <a:off x="990600" y="407988"/>
            <a:ext cx="72707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/>
              <a:t>First Aid</a:t>
            </a:r>
          </a:p>
        </p:txBody>
      </p:sp>
      <p:pic>
        <p:nvPicPr>
          <p:cNvPr id="11320" name="Picture 5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7388" y="1827213"/>
            <a:ext cx="244475" cy="249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321" name="Picture 5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163" y="717550"/>
            <a:ext cx="244475" cy="249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322" name="Picture 6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3763" y="2254250"/>
            <a:ext cx="249237" cy="249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63" y="847725"/>
            <a:ext cx="8829675" cy="516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6953250" y="4810125"/>
            <a:ext cx="495300" cy="889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6765925" y="4757738"/>
            <a:ext cx="81280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b="1">
                <a:solidFill>
                  <a:srgbClr val="FF0000"/>
                </a:solidFill>
                <a:latin typeface="Tahoma" charset="0"/>
              </a:rPr>
              <a:t>SANCTUARY</a:t>
            </a:r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4538663" y="2824163"/>
            <a:ext cx="530225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800" b="1">
                <a:solidFill>
                  <a:srgbClr val="FF0000"/>
                </a:solidFill>
                <a:latin typeface="Tahoma" charset="0"/>
              </a:rPr>
              <a:t>OLD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800" b="1">
                <a:solidFill>
                  <a:srgbClr val="FF0000"/>
                </a:solidFill>
                <a:latin typeface="Tahoma" charset="0"/>
              </a:rPr>
              <a:t>CHOIR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800" b="1">
                <a:solidFill>
                  <a:srgbClr val="FF0000"/>
                </a:solidFill>
                <a:latin typeface="Tahoma" charset="0"/>
              </a:rPr>
              <a:t>ROOM</a:t>
            </a:r>
          </a:p>
        </p:txBody>
      </p:sp>
      <p:sp>
        <p:nvSpPr>
          <p:cNvPr id="12294" name="Rectangle 6"/>
          <p:cNvSpPr>
            <a:spLocks noChangeArrowheads="1"/>
          </p:cNvSpPr>
          <p:nvPr/>
        </p:nvSpPr>
        <p:spPr bwMode="auto">
          <a:xfrm>
            <a:off x="600075" y="5057775"/>
            <a:ext cx="247650" cy="1809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2295" name="Rectangle 7"/>
          <p:cNvSpPr>
            <a:spLocks noChangeArrowheads="1"/>
          </p:cNvSpPr>
          <p:nvPr/>
        </p:nvSpPr>
        <p:spPr bwMode="auto">
          <a:xfrm>
            <a:off x="304800" y="5391150"/>
            <a:ext cx="171450" cy="889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2296" name="Rectangle 8"/>
          <p:cNvSpPr>
            <a:spLocks noChangeArrowheads="1"/>
          </p:cNvSpPr>
          <p:nvPr/>
        </p:nvSpPr>
        <p:spPr bwMode="auto">
          <a:xfrm>
            <a:off x="1152525" y="5543550"/>
            <a:ext cx="238125" cy="1047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2297" name="Rectangle 9"/>
          <p:cNvSpPr>
            <a:spLocks noChangeArrowheads="1"/>
          </p:cNvSpPr>
          <p:nvPr/>
        </p:nvSpPr>
        <p:spPr bwMode="auto">
          <a:xfrm>
            <a:off x="1704975" y="5524500"/>
            <a:ext cx="209550" cy="889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2298" name="Rectangle 10"/>
          <p:cNvSpPr>
            <a:spLocks noChangeArrowheads="1"/>
          </p:cNvSpPr>
          <p:nvPr/>
        </p:nvSpPr>
        <p:spPr bwMode="auto">
          <a:xfrm>
            <a:off x="1397000" y="4943475"/>
            <a:ext cx="88900" cy="6572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2299" name="Rectangle 11"/>
          <p:cNvSpPr>
            <a:spLocks noChangeArrowheads="1"/>
          </p:cNvSpPr>
          <p:nvPr/>
        </p:nvSpPr>
        <p:spPr bwMode="auto">
          <a:xfrm>
            <a:off x="2066925" y="4924425"/>
            <a:ext cx="88900" cy="6191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2300" name="Rectangle 12"/>
          <p:cNvSpPr>
            <a:spLocks noChangeArrowheads="1"/>
          </p:cNvSpPr>
          <p:nvPr/>
        </p:nvSpPr>
        <p:spPr bwMode="auto">
          <a:xfrm>
            <a:off x="1323975" y="5800725"/>
            <a:ext cx="895350" cy="1619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2301" name="Rectangle 13"/>
          <p:cNvSpPr>
            <a:spLocks noChangeArrowheads="1"/>
          </p:cNvSpPr>
          <p:nvPr/>
        </p:nvSpPr>
        <p:spPr bwMode="auto">
          <a:xfrm>
            <a:off x="2286000" y="5429250"/>
            <a:ext cx="180975" cy="1047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2302" name="Rectangle 14"/>
          <p:cNvSpPr>
            <a:spLocks noChangeArrowheads="1"/>
          </p:cNvSpPr>
          <p:nvPr/>
        </p:nvSpPr>
        <p:spPr bwMode="auto">
          <a:xfrm>
            <a:off x="2457450" y="2219325"/>
            <a:ext cx="209550" cy="889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2303" name="Rectangle 15"/>
          <p:cNvSpPr>
            <a:spLocks noChangeArrowheads="1"/>
          </p:cNvSpPr>
          <p:nvPr/>
        </p:nvSpPr>
        <p:spPr bwMode="auto">
          <a:xfrm>
            <a:off x="2105025" y="1752600"/>
            <a:ext cx="152400" cy="1143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2304" name="Rectangle 16"/>
          <p:cNvSpPr>
            <a:spLocks noChangeArrowheads="1"/>
          </p:cNvSpPr>
          <p:nvPr/>
        </p:nvSpPr>
        <p:spPr bwMode="auto">
          <a:xfrm>
            <a:off x="2762250" y="1733550"/>
            <a:ext cx="323850" cy="1238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2305" name="Rectangle 17"/>
          <p:cNvSpPr>
            <a:spLocks noChangeArrowheads="1"/>
          </p:cNvSpPr>
          <p:nvPr/>
        </p:nvSpPr>
        <p:spPr bwMode="auto">
          <a:xfrm>
            <a:off x="3048000" y="2324100"/>
            <a:ext cx="152400" cy="952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2306" name="Rectangle 18"/>
          <p:cNvSpPr>
            <a:spLocks noChangeArrowheads="1"/>
          </p:cNvSpPr>
          <p:nvPr/>
        </p:nvSpPr>
        <p:spPr bwMode="auto">
          <a:xfrm>
            <a:off x="3438525" y="1762125"/>
            <a:ext cx="152400" cy="952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2307" name="Rectangle 19"/>
          <p:cNvSpPr>
            <a:spLocks noChangeArrowheads="1"/>
          </p:cNvSpPr>
          <p:nvPr/>
        </p:nvSpPr>
        <p:spPr bwMode="auto">
          <a:xfrm>
            <a:off x="3409950" y="2219325"/>
            <a:ext cx="152400" cy="1333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2308" name="Text Box 20"/>
          <p:cNvSpPr txBox="1">
            <a:spLocks noChangeArrowheads="1"/>
          </p:cNvSpPr>
          <p:nvPr/>
        </p:nvSpPr>
        <p:spPr bwMode="auto">
          <a:xfrm>
            <a:off x="2314575" y="2133600"/>
            <a:ext cx="420688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600" b="1">
                <a:latin typeface="Tahoma" charset="0"/>
              </a:rPr>
              <a:t>206</a:t>
            </a:r>
          </a:p>
        </p:txBody>
      </p:sp>
      <p:sp>
        <p:nvSpPr>
          <p:cNvPr id="12309" name="Text Box 21"/>
          <p:cNvSpPr txBox="1">
            <a:spLocks noChangeArrowheads="1"/>
          </p:cNvSpPr>
          <p:nvPr/>
        </p:nvSpPr>
        <p:spPr bwMode="auto">
          <a:xfrm>
            <a:off x="3324225" y="2171700"/>
            <a:ext cx="420688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600" b="1">
                <a:latin typeface="Tahoma" charset="0"/>
              </a:rPr>
              <a:t>207</a:t>
            </a:r>
          </a:p>
        </p:txBody>
      </p:sp>
      <p:sp>
        <p:nvSpPr>
          <p:cNvPr id="12310" name="Text Box 22"/>
          <p:cNvSpPr txBox="1">
            <a:spLocks noChangeArrowheads="1"/>
          </p:cNvSpPr>
          <p:nvPr/>
        </p:nvSpPr>
        <p:spPr bwMode="auto">
          <a:xfrm>
            <a:off x="3314700" y="1666875"/>
            <a:ext cx="420688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600" b="1">
                <a:latin typeface="Tahoma" charset="0"/>
              </a:rPr>
              <a:t>203</a:t>
            </a:r>
          </a:p>
        </p:txBody>
      </p:sp>
      <p:sp>
        <p:nvSpPr>
          <p:cNvPr id="12311" name="Text Box 23"/>
          <p:cNvSpPr txBox="1">
            <a:spLocks noChangeArrowheads="1"/>
          </p:cNvSpPr>
          <p:nvPr/>
        </p:nvSpPr>
        <p:spPr bwMode="auto">
          <a:xfrm>
            <a:off x="2676525" y="1666875"/>
            <a:ext cx="420688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600" b="1">
                <a:latin typeface="Tahoma" charset="0"/>
              </a:rPr>
              <a:t>202</a:t>
            </a:r>
          </a:p>
        </p:txBody>
      </p:sp>
      <p:sp>
        <p:nvSpPr>
          <p:cNvPr id="12312" name="Text Box 24"/>
          <p:cNvSpPr txBox="1">
            <a:spLocks noChangeArrowheads="1"/>
          </p:cNvSpPr>
          <p:nvPr/>
        </p:nvSpPr>
        <p:spPr bwMode="auto">
          <a:xfrm>
            <a:off x="2000250" y="1666875"/>
            <a:ext cx="420688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600" b="1">
                <a:latin typeface="Tahoma" charset="0"/>
              </a:rPr>
              <a:t>201</a:t>
            </a:r>
          </a:p>
        </p:txBody>
      </p:sp>
      <p:sp>
        <p:nvSpPr>
          <p:cNvPr id="12313" name="Text Box 25"/>
          <p:cNvSpPr txBox="1">
            <a:spLocks noChangeArrowheads="1"/>
          </p:cNvSpPr>
          <p:nvPr/>
        </p:nvSpPr>
        <p:spPr bwMode="auto">
          <a:xfrm>
            <a:off x="2924175" y="2238375"/>
            <a:ext cx="420688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600" b="1">
                <a:latin typeface="Tahoma" charset="0"/>
              </a:rPr>
              <a:t>206A</a:t>
            </a:r>
          </a:p>
        </p:txBody>
      </p:sp>
      <p:sp>
        <p:nvSpPr>
          <p:cNvPr id="12314" name="Text Box 26"/>
          <p:cNvSpPr txBox="1">
            <a:spLocks noChangeArrowheads="1"/>
          </p:cNvSpPr>
          <p:nvPr/>
        </p:nvSpPr>
        <p:spPr bwMode="auto">
          <a:xfrm>
            <a:off x="447675" y="4981575"/>
            <a:ext cx="420688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600" b="1">
                <a:latin typeface="Tahoma" charset="0"/>
              </a:rPr>
              <a:t>211</a:t>
            </a:r>
          </a:p>
        </p:txBody>
      </p:sp>
      <p:sp>
        <p:nvSpPr>
          <p:cNvPr id="12315" name="Text Box 27"/>
          <p:cNvSpPr txBox="1">
            <a:spLocks noChangeArrowheads="1"/>
          </p:cNvSpPr>
          <p:nvPr/>
        </p:nvSpPr>
        <p:spPr bwMode="auto">
          <a:xfrm>
            <a:off x="1047750" y="4981575"/>
            <a:ext cx="420688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600" b="1">
                <a:latin typeface="Tahoma" charset="0"/>
              </a:rPr>
              <a:t>210A</a:t>
            </a:r>
          </a:p>
        </p:txBody>
      </p:sp>
      <p:sp>
        <p:nvSpPr>
          <p:cNvPr id="12316" name="Text Box 28"/>
          <p:cNvSpPr txBox="1">
            <a:spLocks noChangeArrowheads="1"/>
          </p:cNvSpPr>
          <p:nvPr/>
        </p:nvSpPr>
        <p:spPr bwMode="auto">
          <a:xfrm>
            <a:off x="1485900" y="4981575"/>
            <a:ext cx="420688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600" b="1">
                <a:latin typeface="Tahoma" charset="0"/>
              </a:rPr>
              <a:t>210B</a:t>
            </a:r>
          </a:p>
        </p:txBody>
      </p:sp>
      <p:sp>
        <p:nvSpPr>
          <p:cNvPr id="12317" name="Text Box 29"/>
          <p:cNvSpPr txBox="1">
            <a:spLocks noChangeArrowheads="1"/>
          </p:cNvSpPr>
          <p:nvPr/>
        </p:nvSpPr>
        <p:spPr bwMode="auto">
          <a:xfrm>
            <a:off x="2076450" y="4981575"/>
            <a:ext cx="420688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600" b="1">
                <a:latin typeface="Tahoma" charset="0"/>
              </a:rPr>
              <a:t>210C</a:t>
            </a:r>
          </a:p>
        </p:txBody>
      </p:sp>
      <p:sp>
        <p:nvSpPr>
          <p:cNvPr id="12318" name="Text Box 30"/>
          <p:cNvSpPr txBox="1">
            <a:spLocks noChangeArrowheads="1"/>
          </p:cNvSpPr>
          <p:nvPr/>
        </p:nvSpPr>
        <p:spPr bwMode="auto">
          <a:xfrm>
            <a:off x="171450" y="5324475"/>
            <a:ext cx="420688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600" b="1">
                <a:latin typeface="Tahoma" charset="0"/>
              </a:rPr>
              <a:t>211A</a:t>
            </a:r>
          </a:p>
        </p:txBody>
      </p:sp>
      <p:sp>
        <p:nvSpPr>
          <p:cNvPr id="12319" name="Text Box 31"/>
          <p:cNvSpPr txBox="1">
            <a:spLocks noChangeArrowheads="1"/>
          </p:cNvSpPr>
          <p:nvPr/>
        </p:nvSpPr>
        <p:spPr bwMode="auto">
          <a:xfrm>
            <a:off x="2568575" y="1366838"/>
            <a:ext cx="1228725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800" b="1">
                <a:solidFill>
                  <a:srgbClr val="FF0000"/>
                </a:solidFill>
                <a:latin typeface="Tahoma" charset="0"/>
              </a:rPr>
              <a:t>2</a:t>
            </a:r>
            <a:r>
              <a:rPr lang="en-US" altLang="en-US" sz="800" b="1" baseline="30000">
                <a:solidFill>
                  <a:srgbClr val="FF0000"/>
                </a:solidFill>
                <a:latin typeface="Tahoma" charset="0"/>
              </a:rPr>
              <a:t>nd</a:t>
            </a:r>
            <a:r>
              <a:rPr lang="en-US" altLang="en-US" sz="800" b="1">
                <a:solidFill>
                  <a:srgbClr val="FF0000"/>
                </a:solidFill>
                <a:latin typeface="Tahoma" charset="0"/>
              </a:rPr>
              <a:t> FLOOR NARTHEX</a:t>
            </a:r>
          </a:p>
        </p:txBody>
      </p:sp>
      <p:sp>
        <p:nvSpPr>
          <p:cNvPr id="12320" name="Line 32"/>
          <p:cNvSpPr>
            <a:spLocks noChangeShapeType="1"/>
          </p:cNvSpPr>
          <p:nvPr/>
        </p:nvSpPr>
        <p:spPr bwMode="auto">
          <a:xfrm flipH="1">
            <a:off x="5534025" y="1209675"/>
            <a:ext cx="695325" cy="67627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21" name="Rectangle 33"/>
          <p:cNvSpPr>
            <a:spLocks noChangeArrowheads="1"/>
          </p:cNvSpPr>
          <p:nvPr/>
        </p:nvSpPr>
        <p:spPr bwMode="auto">
          <a:xfrm>
            <a:off x="6259513" y="990600"/>
            <a:ext cx="1970087" cy="6000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b="1" i="1">
                <a:latin typeface="Tahoma" charset="0"/>
              </a:rPr>
              <a:t>N </a:t>
            </a:r>
          </a:p>
        </p:txBody>
      </p:sp>
      <p:sp>
        <p:nvSpPr>
          <p:cNvPr id="12322" name="Line 34"/>
          <p:cNvSpPr>
            <a:spLocks noChangeShapeType="1"/>
          </p:cNvSpPr>
          <p:nvPr/>
        </p:nvSpPr>
        <p:spPr bwMode="auto">
          <a:xfrm>
            <a:off x="7439025" y="1295400"/>
            <a:ext cx="742950" cy="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23" name="Text Box 35"/>
          <p:cNvSpPr txBox="1">
            <a:spLocks noChangeArrowheads="1"/>
          </p:cNvSpPr>
          <p:nvPr/>
        </p:nvSpPr>
        <p:spPr bwMode="auto">
          <a:xfrm>
            <a:off x="5929313" y="966788"/>
            <a:ext cx="742950" cy="239712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800" b="1">
                <a:solidFill>
                  <a:srgbClr val="FF0000"/>
                </a:solidFill>
                <a:latin typeface="Tahoma" charset="0"/>
              </a:rPr>
              <a:t>ELEVATOR</a:t>
            </a:r>
          </a:p>
        </p:txBody>
      </p:sp>
      <p:sp>
        <p:nvSpPr>
          <p:cNvPr id="12324" name="Rectangle 36"/>
          <p:cNvSpPr>
            <a:spLocks noChangeArrowheads="1"/>
          </p:cNvSpPr>
          <p:nvPr/>
        </p:nvSpPr>
        <p:spPr bwMode="auto">
          <a:xfrm>
            <a:off x="3154363" y="161925"/>
            <a:ext cx="2833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 i="1">
                <a:latin typeface="Tahoma" charset="0"/>
              </a:rPr>
              <a:t>HISTORIC DRIVE</a:t>
            </a:r>
          </a:p>
        </p:txBody>
      </p:sp>
      <p:sp>
        <p:nvSpPr>
          <p:cNvPr id="12325" name="Rectangle 37"/>
          <p:cNvSpPr>
            <a:spLocks noChangeArrowheads="1"/>
          </p:cNvSpPr>
          <p:nvPr/>
        </p:nvSpPr>
        <p:spPr bwMode="auto">
          <a:xfrm>
            <a:off x="6153150" y="1525588"/>
            <a:ext cx="2800350" cy="73183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 u="sng">
                <a:latin typeface="Tahoma" charset="0"/>
              </a:rPr>
              <a:t>1</a:t>
            </a:r>
            <a:r>
              <a:rPr lang="en-US" altLang="en-US" sz="1600" b="1" u="sng" baseline="30000">
                <a:latin typeface="Tahoma" charset="0"/>
              </a:rPr>
              <a:t>ST</a:t>
            </a:r>
            <a:r>
              <a:rPr lang="en-US" altLang="en-US" sz="1600" b="1" u="sng">
                <a:latin typeface="Tahoma" charset="0"/>
              </a:rPr>
              <a:t> &amp; 2</a:t>
            </a:r>
            <a:r>
              <a:rPr lang="en-US" altLang="en-US" sz="1600" b="1" u="sng" baseline="30000">
                <a:latin typeface="Tahoma" charset="0"/>
              </a:rPr>
              <a:t>ND</a:t>
            </a:r>
            <a:r>
              <a:rPr lang="en-US" altLang="en-US" sz="1600" b="1" u="sng">
                <a:latin typeface="Tahoma" charset="0"/>
              </a:rPr>
              <a:t> FLOORS</a:t>
            </a:r>
          </a:p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altLang="en-US" sz="1600" b="1">
              <a:latin typeface="Tahoma" charset="0"/>
            </a:endParaRPr>
          </a:p>
        </p:txBody>
      </p:sp>
      <p:sp>
        <p:nvSpPr>
          <p:cNvPr id="12326" name="Rectangle 38"/>
          <p:cNvSpPr>
            <a:spLocks noChangeArrowheads="1"/>
          </p:cNvSpPr>
          <p:nvPr/>
        </p:nvSpPr>
        <p:spPr bwMode="auto">
          <a:xfrm rot="5430348">
            <a:off x="7543006" y="4056857"/>
            <a:ext cx="24971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 i="1">
                <a:latin typeface="Tahoma" charset="0"/>
              </a:rPr>
              <a:t>SIX MILE LANE</a:t>
            </a:r>
          </a:p>
        </p:txBody>
      </p:sp>
      <p:sp>
        <p:nvSpPr>
          <p:cNvPr id="12327" name="Line 40"/>
          <p:cNvSpPr>
            <a:spLocks noChangeShapeType="1"/>
          </p:cNvSpPr>
          <p:nvPr/>
        </p:nvSpPr>
        <p:spPr bwMode="auto">
          <a:xfrm>
            <a:off x="1371600" y="4800600"/>
            <a:ext cx="2514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28" name="Line 41"/>
          <p:cNvSpPr>
            <a:spLocks noChangeShapeType="1"/>
          </p:cNvSpPr>
          <p:nvPr/>
        </p:nvSpPr>
        <p:spPr bwMode="auto">
          <a:xfrm>
            <a:off x="1371600" y="4800600"/>
            <a:ext cx="0" cy="381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29" name="Line 42"/>
          <p:cNvSpPr>
            <a:spLocks noChangeShapeType="1"/>
          </p:cNvSpPr>
          <p:nvPr/>
        </p:nvSpPr>
        <p:spPr bwMode="auto">
          <a:xfrm>
            <a:off x="1981200" y="4800600"/>
            <a:ext cx="0" cy="381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30" name="Line 43"/>
          <p:cNvSpPr>
            <a:spLocks noChangeShapeType="1"/>
          </p:cNvSpPr>
          <p:nvPr/>
        </p:nvSpPr>
        <p:spPr bwMode="auto">
          <a:xfrm>
            <a:off x="2590800" y="4800600"/>
            <a:ext cx="0" cy="381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31" name="Line 45"/>
          <p:cNvSpPr>
            <a:spLocks noChangeShapeType="1"/>
          </p:cNvSpPr>
          <p:nvPr/>
        </p:nvSpPr>
        <p:spPr bwMode="auto">
          <a:xfrm>
            <a:off x="3733800" y="4800600"/>
            <a:ext cx="0" cy="990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32" name="Line 46"/>
          <p:cNvSpPr>
            <a:spLocks noChangeShapeType="1"/>
          </p:cNvSpPr>
          <p:nvPr/>
        </p:nvSpPr>
        <p:spPr bwMode="auto">
          <a:xfrm flipV="1">
            <a:off x="3886200" y="1447800"/>
            <a:ext cx="0" cy="3352800"/>
          </a:xfrm>
          <a:prstGeom prst="line">
            <a:avLst/>
          </a:prstGeom>
          <a:noFill/>
          <a:ln w="38100">
            <a:solidFill>
              <a:srgbClr val="FFC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33" name="Line 47"/>
          <p:cNvSpPr>
            <a:spLocks noChangeShapeType="1"/>
          </p:cNvSpPr>
          <p:nvPr/>
        </p:nvSpPr>
        <p:spPr bwMode="auto">
          <a:xfrm>
            <a:off x="3886200" y="1447800"/>
            <a:ext cx="1828800" cy="0"/>
          </a:xfrm>
          <a:prstGeom prst="line">
            <a:avLst/>
          </a:prstGeom>
          <a:noFill/>
          <a:ln w="38100">
            <a:solidFill>
              <a:srgbClr val="FFC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34" name="Line 48"/>
          <p:cNvSpPr>
            <a:spLocks noChangeShapeType="1"/>
          </p:cNvSpPr>
          <p:nvPr/>
        </p:nvSpPr>
        <p:spPr bwMode="auto">
          <a:xfrm flipV="1">
            <a:off x="5715000" y="1143000"/>
            <a:ext cx="0" cy="304800"/>
          </a:xfrm>
          <a:prstGeom prst="line">
            <a:avLst/>
          </a:prstGeom>
          <a:noFill/>
          <a:ln w="38100">
            <a:solidFill>
              <a:srgbClr val="FFC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35" name="Line 49"/>
          <p:cNvSpPr>
            <a:spLocks noChangeShapeType="1"/>
          </p:cNvSpPr>
          <p:nvPr/>
        </p:nvSpPr>
        <p:spPr bwMode="auto">
          <a:xfrm>
            <a:off x="5257800" y="1143000"/>
            <a:ext cx="685800" cy="0"/>
          </a:xfrm>
          <a:prstGeom prst="line">
            <a:avLst/>
          </a:prstGeom>
          <a:noFill/>
          <a:ln w="38100">
            <a:solidFill>
              <a:srgbClr val="FFC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36" name="Line 51"/>
          <p:cNvSpPr>
            <a:spLocks noChangeShapeType="1"/>
          </p:cNvSpPr>
          <p:nvPr/>
        </p:nvSpPr>
        <p:spPr bwMode="auto">
          <a:xfrm>
            <a:off x="5257800" y="1219200"/>
            <a:ext cx="457200" cy="0"/>
          </a:xfrm>
          <a:prstGeom prst="line">
            <a:avLst/>
          </a:prstGeom>
          <a:noFill/>
          <a:ln w="38100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37" name="Line 52"/>
          <p:cNvSpPr>
            <a:spLocks noChangeShapeType="1"/>
          </p:cNvSpPr>
          <p:nvPr/>
        </p:nvSpPr>
        <p:spPr bwMode="auto">
          <a:xfrm>
            <a:off x="5257800" y="1143000"/>
            <a:ext cx="0" cy="152400"/>
          </a:xfrm>
          <a:prstGeom prst="line">
            <a:avLst/>
          </a:prstGeom>
          <a:noFill/>
          <a:ln w="38100">
            <a:solidFill>
              <a:srgbClr val="FFC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38" name="Rectangle 53"/>
          <p:cNvSpPr>
            <a:spLocks noChangeArrowheads="1"/>
          </p:cNvSpPr>
          <p:nvPr/>
        </p:nvSpPr>
        <p:spPr bwMode="auto">
          <a:xfrm>
            <a:off x="4800600" y="5867400"/>
            <a:ext cx="1981200" cy="762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2339" name="Rectangle 54"/>
          <p:cNvSpPr>
            <a:spLocks noChangeArrowheads="1"/>
          </p:cNvSpPr>
          <p:nvPr/>
        </p:nvSpPr>
        <p:spPr bwMode="auto">
          <a:xfrm>
            <a:off x="5105400" y="5867400"/>
            <a:ext cx="13255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charset="0"/>
              </a:rPr>
              <a:t>Escape Routes</a:t>
            </a:r>
          </a:p>
        </p:txBody>
      </p:sp>
      <p:sp>
        <p:nvSpPr>
          <p:cNvPr id="12340" name="Line 55"/>
          <p:cNvSpPr>
            <a:spLocks noChangeShapeType="1"/>
          </p:cNvSpPr>
          <p:nvPr/>
        </p:nvSpPr>
        <p:spPr bwMode="auto">
          <a:xfrm>
            <a:off x="4953000" y="6203950"/>
            <a:ext cx="838200" cy="0"/>
          </a:xfrm>
          <a:prstGeom prst="line">
            <a:avLst/>
          </a:prstGeom>
          <a:noFill/>
          <a:ln w="50800">
            <a:solidFill>
              <a:srgbClr val="FFC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41" name="Text Box 56"/>
          <p:cNvSpPr txBox="1">
            <a:spLocks noChangeArrowheads="1"/>
          </p:cNvSpPr>
          <p:nvPr/>
        </p:nvSpPr>
        <p:spPr bwMode="auto">
          <a:xfrm>
            <a:off x="5791200" y="6019800"/>
            <a:ext cx="10572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charset="0"/>
              </a:rPr>
              <a:t>Alternate </a:t>
            </a:r>
          </a:p>
        </p:txBody>
      </p:sp>
      <p:sp>
        <p:nvSpPr>
          <p:cNvPr id="12342" name="Line 57"/>
          <p:cNvSpPr>
            <a:spLocks noChangeShapeType="1"/>
          </p:cNvSpPr>
          <p:nvPr/>
        </p:nvSpPr>
        <p:spPr bwMode="auto">
          <a:xfrm>
            <a:off x="4953000" y="6432550"/>
            <a:ext cx="838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43" name="Text Box 58"/>
          <p:cNvSpPr txBox="1">
            <a:spLocks noChangeArrowheads="1"/>
          </p:cNvSpPr>
          <p:nvPr/>
        </p:nvSpPr>
        <p:spPr bwMode="auto">
          <a:xfrm>
            <a:off x="5791200" y="6248400"/>
            <a:ext cx="8683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charset="0"/>
              </a:rPr>
              <a:t>Primary</a:t>
            </a:r>
          </a:p>
        </p:txBody>
      </p:sp>
      <p:sp>
        <p:nvSpPr>
          <p:cNvPr id="12344" name="TextBox 55"/>
          <p:cNvSpPr txBox="1">
            <a:spLocks noChangeArrowheads="1"/>
          </p:cNvSpPr>
          <p:nvPr/>
        </p:nvSpPr>
        <p:spPr bwMode="auto">
          <a:xfrm>
            <a:off x="5867400" y="533400"/>
            <a:ext cx="609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A-1</a:t>
            </a:r>
          </a:p>
        </p:txBody>
      </p:sp>
      <p:cxnSp>
        <p:nvCxnSpPr>
          <p:cNvPr id="12345" name="Straight Arrow Connector 57"/>
          <p:cNvCxnSpPr>
            <a:cxnSpLocks noChangeShapeType="1"/>
          </p:cNvCxnSpPr>
          <p:nvPr/>
        </p:nvCxnSpPr>
        <p:spPr bwMode="auto">
          <a:xfrm flipH="1">
            <a:off x="5791200" y="838200"/>
            <a:ext cx="228600" cy="228600"/>
          </a:xfrm>
          <a:prstGeom prst="straightConnector1">
            <a:avLst/>
          </a:prstGeom>
          <a:noFill/>
          <a:ln w="381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346" name="TextBox 58"/>
          <p:cNvSpPr txBox="1">
            <a:spLocks noChangeArrowheads="1"/>
          </p:cNvSpPr>
          <p:nvPr/>
        </p:nvSpPr>
        <p:spPr bwMode="auto">
          <a:xfrm>
            <a:off x="8229600" y="3581400"/>
            <a:ext cx="762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A-3</a:t>
            </a:r>
          </a:p>
        </p:txBody>
      </p:sp>
      <p:cxnSp>
        <p:nvCxnSpPr>
          <p:cNvPr id="12347" name="Straight Arrow Connector 60"/>
          <p:cNvCxnSpPr>
            <a:cxnSpLocks noChangeShapeType="1"/>
            <a:stCxn id="12346" idx="2"/>
          </p:cNvCxnSpPr>
          <p:nvPr/>
        </p:nvCxnSpPr>
        <p:spPr bwMode="auto">
          <a:xfrm flipH="1">
            <a:off x="8534400" y="3951288"/>
            <a:ext cx="76200" cy="925512"/>
          </a:xfrm>
          <a:prstGeom prst="straightConnector1">
            <a:avLst/>
          </a:prstGeom>
          <a:noFill/>
          <a:ln w="381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348" name="TextBox 62"/>
          <p:cNvSpPr txBox="1">
            <a:spLocks noChangeArrowheads="1"/>
          </p:cNvSpPr>
          <p:nvPr/>
        </p:nvSpPr>
        <p:spPr bwMode="auto">
          <a:xfrm>
            <a:off x="8077200" y="5638800"/>
            <a:ext cx="838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B-1</a:t>
            </a:r>
          </a:p>
        </p:txBody>
      </p:sp>
      <p:sp>
        <p:nvSpPr>
          <p:cNvPr id="12349" name="Rectangle 63"/>
          <p:cNvSpPr>
            <a:spLocks noChangeArrowheads="1"/>
          </p:cNvSpPr>
          <p:nvPr/>
        </p:nvSpPr>
        <p:spPr bwMode="auto">
          <a:xfrm>
            <a:off x="5181600" y="5562600"/>
            <a:ext cx="304800" cy="152400"/>
          </a:xfrm>
          <a:prstGeom prst="rect">
            <a:avLst/>
          </a:prstGeom>
          <a:noFill/>
          <a:ln w="38100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2350" name="TextBox 65"/>
          <p:cNvSpPr txBox="1">
            <a:spLocks noChangeArrowheads="1"/>
          </p:cNvSpPr>
          <p:nvPr/>
        </p:nvSpPr>
        <p:spPr bwMode="auto">
          <a:xfrm>
            <a:off x="5410200" y="55626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B-3</a:t>
            </a:r>
          </a:p>
        </p:txBody>
      </p:sp>
      <p:sp>
        <p:nvSpPr>
          <p:cNvPr id="12351" name="TextBox 66"/>
          <p:cNvSpPr txBox="1">
            <a:spLocks noChangeArrowheads="1"/>
          </p:cNvSpPr>
          <p:nvPr/>
        </p:nvSpPr>
        <p:spPr bwMode="auto">
          <a:xfrm>
            <a:off x="3429000" y="57150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B-4</a:t>
            </a:r>
          </a:p>
        </p:txBody>
      </p:sp>
      <p:sp>
        <p:nvSpPr>
          <p:cNvPr id="12352" name="TextBox 67"/>
          <p:cNvSpPr txBox="1">
            <a:spLocks noChangeArrowheads="1"/>
          </p:cNvSpPr>
          <p:nvPr/>
        </p:nvSpPr>
        <p:spPr bwMode="auto">
          <a:xfrm>
            <a:off x="990600" y="2133600"/>
            <a:ext cx="762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D-1</a:t>
            </a:r>
          </a:p>
        </p:txBody>
      </p:sp>
      <p:pic>
        <p:nvPicPr>
          <p:cNvPr id="12353" name="Picture 6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0" y="4165600"/>
            <a:ext cx="244475" cy="249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354" name="Picture 6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5265738"/>
            <a:ext cx="255588" cy="249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355" name="Picture 6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8188" y="5675313"/>
            <a:ext cx="249237" cy="249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356" name="Picture 6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0975" y="3767138"/>
            <a:ext cx="249238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2357" name="Straight Arrow Connector 2"/>
          <p:cNvCxnSpPr>
            <a:cxnSpLocks noChangeShapeType="1"/>
          </p:cNvCxnSpPr>
          <p:nvPr/>
        </p:nvCxnSpPr>
        <p:spPr bwMode="auto">
          <a:xfrm>
            <a:off x="8050213" y="4014788"/>
            <a:ext cx="131762" cy="400050"/>
          </a:xfrm>
          <a:prstGeom prst="straightConnector1">
            <a:avLst/>
          </a:prstGeom>
          <a:noFill/>
          <a:ln w="381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12358" name="Picture 6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84163"/>
            <a:ext cx="249238" cy="249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359" name="Picture 7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2025" y="4165600"/>
            <a:ext cx="249238" cy="249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360" name="Rectangle 3"/>
          <p:cNvSpPr>
            <a:spLocks noChangeArrowheads="1"/>
          </p:cNvSpPr>
          <p:nvPr/>
        </p:nvSpPr>
        <p:spPr bwMode="auto">
          <a:xfrm>
            <a:off x="868363" y="284163"/>
            <a:ext cx="7270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/>
              <a:t>First Aid</a:t>
            </a:r>
          </a:p>
        </p:txBody>
      </p:sp>
      <p:pic>
        <p:nvPicPr>
          <p:cNvPr id="12361" name="Picture 7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638" y="558800"/>
            <a:ext cx="244475" cy="249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5" y="838200"/>
            <a:ext cx="8829675" cy="516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5" name="Rectangle 3"/>
          <p:cNvSpPr>
            <a:spLocks noChangeArrowheads="1"/>
          </p:cNvSpPr>
          <p:nvPr/>
        </p:nvSpPr>
        <p:spPr bwMode="auto">
          <a:xfrm>
            <a:off x="6953250" y="4810125"/>
            <a:ext cx="495300" cy="889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3316" name="Text Box 4"/>
          <p:cNvSpPr txBox="1">
            <a:spLocks noChangeArrowheads="1"/>
          </p:cNvSpPr>
          <p:nvPr/>
        </p:nvSpPr>
        <p:spPr bwMode="auto">
          <a:xfrm>
            <a:off x="6765925" y="4724400"/>
            <a:ext cx="8128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" b="1">
                <a:solidFill>
                  <a:srgbClr val="FF0000"/>
                </a:solidFill>
                <a:latin typeface="Tahoma" charset="0"/>
              </a:rPr>
              <a:t>SANCTUARY</a:t>
            </a:r>
          </a:p>
        </p:txBody>
      </p:sp>
      <p:sp>
        <p:nvSpPr>
          <p:cNvPr id="13317" name="Text Box 5"/>
          <p:cNvSpPr txBox="1">
            <a:spLocks noChangeArrowheads="1"/>
          </p:cNvSpPr>
          <p:nvPr/>
        </p:nvSpPr>
        <p:spPr bwMode="auto">
          <a:xfrm>
            <a:off x="4538663" y="2824163"/>
            <a:ext cx="530225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800" b="1">
                <a:solidFill>
                  <a:srgbClr val="FF0000"/>
                </a:solidFill>
                <a:latin typeface="Tahoma" charset="0"/>
              </a:rPr>
              <a:t>OLD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800" b="1">
                <a:solidFill>
                  <a:srgbClr val="FF0000"/>
                </a:solidFill>
                <a:latin typeface="Tahoma" charset="0"/>
              </a:rPr>
              <a:t>CHOIR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800" b="1">
                <a:solidFill>
                  <a:srgbClr val="FF0000"/>
                </a:solidFill>
                <a:latin typeface="Tahoma" charset="0"/>
              </a:rPr>
              <a:t>ROOM</a:t>
            </a:r>
          </a:p>
        </p:txBody>
      </p:sp>
      <p:sp>
        <p:nvSpPr>
          <p:cNvPr id="13318" name="Rectangle 6"/>
          <p:cNvSpPr>
            <a:spLocks noChangeArrowheads="1"/>
          </p:cNvSpPr>
          <p:nvPr/>
        </p:nvSpPr>
        <p:spPr bwMode="auto">
          <a:xfrm>
            <a:off x="600075" y="5057775"/>
            <a:ext cx="247650" cy="1809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3319" name="Rectangle 7"/>
          <p:cNvSpPr>
            <a:spLocks noChangeArrowheads="1"/>
          </p:cNvSpPr>
          <p:nvPr/>
        </p:nvSpPr>
        <p:spPr bwMode="auto">
          <a:xfrm>
            <a:off x="304800" y="5391150"/>
            <a:ext cx="171450" cy="889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3320" name="Rectangle 8"/>
          <p:cNvSpPr>
            <a:spLocks noChangeArrowheads="1"/>
          </p:cNvSpPr>
          <p:nvPr/>
        </p:nvSpPr>
        <p:spPr bwMode="auto">
          <a:xfrm>
            <a:off x="1152525" y="5543550"/>
            <a:ext cx="238125" cy="1047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3321" name="Rectangle 9"/>
          <p:cNvSpPr>
            <a:spLocks noChangeArrowheads="1"/>
          </p:cNvSpPr>
          <p:nvPr/>
        </p:nvSpPr>
        <p:spPr bwMode="auto">
          <a:xfrm>
            <a:off x="1704975" y="5524500"/>
            <a:ext cx="209550" cy="889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3322" name="Rectangle 10"/>
          <p:cNvSpPr>
            <a:spLocks noChangeArrowheads="1"/>
          </p:cNvSpPr>
          <p:nvPr/>
        </p:nvSpPr>
        <p:spPr bwMode="auto">
          <a:xfrm>
            <a:off x="1397000" y="4943475"/>
            <a:ext cx="88900" cy="6572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3323" name="Rectangle 11"/>
          <p:cNvSpPr>
            <a:spLocks noChangeArrowheads="1"/>
          </p:cNvSpPr>
          <p:nvPr/>
        </p:nvSpPr>
        <p:spPr bwMode="auto">
          <a:xfrm>
            <a:off x="2066925" y="4924425"/>
            <a:ext cx="88900" cy="6191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3324" name="Rectangle 12"/>
          <p:cNvSpPr>
            <a:spLocks noChangeArrowheads="1"/>
          </p:cNvSpPr>
          <p:nvPr/>
        </p:nvSpPr>
        <p:spPr bwMode="auto">
          <a:xfrm>
            <a:off x="1323975" y="5800725"/>
            <a:ext cx="895350" cy="1619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3325" name="Rectangle 13"/>
          <p:cNvSpPr>
            <a:spLocks noChangeArrowheads="1"/>
          </p:cNvSpPr>
          <p:nvPr/>
        </p:nvSpPr>
        <p:spPr bwMode="auto">
          <a:xfrm>
            <a:off x="2286000" y="5429250"/>
            <a:ext cx="180975" cy="1047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3326" name="Rectangle 14"/>
          <p:cNvSpPr>
            <a:spLocks noChangeArrowheads="1"/>
          </p:cNvSpPr>
          <p:nvPr/>
        </p:nvSpPr>
        <p:spPr bwMode="auto">
          <a:xfrm>
            <a:off x="2457450" y="2219325"/>
            <a:ext cx="209550" cy="889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3327" name="Rectangle 15"/>
          <p:cNvSpPr>
            <a:spLocks noChangeArrowheads="1"/>
          </p:cNvSpPr>
          <p:nvPr/>
        </p:nvSpPr>
        <p:spPr bwMode="auto">
          <a:xfrm>
            <a:off x="2105025" y="1752600"/>
            <a:ext cx="152400" cy="1143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3328" name="Rectangle 16"/>
          <p:cNvSpPr>
            <a:spLocks noChangeArrowheads="1"/>
          </p:cNvSpPr>
          <p:nvPr/>
        </p:nvSpPr>
        <p:spPr bwMode="auto">
          <a:xfrm>
            <a:off x="2762250" y="1733550"/>
            <a:ext cx="323850" cy="1238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3329" name="Rectangle 17"/>
          <p:cNvSpPr>
            <a:spLocks noChangeArrowheads="1"/>
          </p:cNvSpPr>
          <p:nvPr/>
        </p:nvSpPr>
        <p:spPr bwMode="auto">
          <a:xfrm>
            <a:off x="3048000" y="2324100"/>
            <a:ext cx="152400" cy="952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3330" name="Rectangle 18"/>
          <p:cNvSpPr>
            <a:spLocks noChangeArrowheads="1"/>
          </p:cNvSpPr>
          <p:nvPr/>
        </p:nvSpPr>
        <p:spPr bwMode="auto">
          <a:xfrm>
            <a:off x="3438525" y="1762125"/>
            <a:ext cx="152400" cy="952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3331" name="Rectangle 19"/>
          <p:cNvSpPr>
            <a:spLocks noChangeArrowheads="1"/>
          </p:cNvSpPr>
          <p:nvPr/>
        </p:nvSpPr>
        <p:spPr bwMode="auto">
          <a:xfrm>
            <a:off x="3409950" y="2219325"/>
            <a:ext cx="152400" cy="1333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3332" name="Text Box 20"/>
          <p:cNvSpPr txBox="1">
            <a:spLocks noChangeArrowheads="1"/>
          </p:cNvSpPr>
          <p:nvPr/>
        </p:nvSpPr>
        <p:spPr bwMode="auto">
          <a:xfrm>
            <a:off x="2314575" y="2133600"/>
            <a:ext cx="420688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600" b="1">
                <a:latin typeface="Tahoma" charset="0"/>
              </a:rPr>
              <a:t>206</a:t>
            </a:r>
          </a:p>
        </p:txBody>
      </p:sp>
      <p:sp>
        <p:nvSpPr>
          <p:cNvPr id="13333" name="Text Box 21"/>
          <p:cNvSpPr txBox="1">
            <a:spLocks noChangeArrowheads="1"/>
          </p:cNvSpPr>
          <p:nvPr/>
        </p:nvSpPr>
        <p:spPr bwMode="auto">
          <a:xfrm>
            <a:off x="3324225" y="2171700"/>
            <a:ext cx="420688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600" b="1">
                <a:latin typeface="Tahoma" charset="0"/>
              </a:rPr>
              <a:t>207</a:t>
            </a:r>
          </a:p>
        </p:txBody>
      </p:sp>
      <p:sp>
        <p:nvSpPr>
          <p:cNvPr id="13334" name="Text Box 22"/>
          <p:cNvSpPr txBox="1">
            <a:spLocks noChangeArrowheads="1"/>
          </p:cNvSpPr>
          <p:nvPr/>
        </p:nvSpPr>
        <p:spPr bwMode="auto">
          <a:xfrm>
            <a:off x="3314700" y="1666875"/>
            <a:ext cx="420688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600" b="1">
                <a:latin typeface="Tahoma" charset="0"/>
              </a:rPr>
              <a:t>203</a:t>
            </a:r>
          </a:p>
        </p:txBody>
      </p:sp>
      <p:sp>
        <p:nvSpPr>
          <p:cNvPr id="13335" name="Text Box 23"/>
          <p:cNvSpPr txBox="1">
            <a:spLocks noChangeArrowheads="1"/>
          </p:cNvSpPr>
          <p:nvPr/>
        </p:nvSpPr>
        <p:spPr bwMode="auto">
          <a:xfrm>
            <a:off x="2676525" y="1666875"/>
            <a:ext cx="420688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600" b="1">
                <a:latin typeface="Tahoma" charset="0"/>
              </a:rPr>
              <a:t>202</a:t>
            </a:r>
          </a:p>
        </p:txBody>
      </p:sp>
      <p:sp>
        <p:nvSpPr>
          <p:cNvPr id="13336" name="Text Box 24"/>
          <p:cNvSpPr txBox="1">
            <a:spLocks noChangeArrowheads="1"/>
          </p:cNvSpPr>
          <p:nvPr/>
        </p:nvSpPr>
        <p:spPr bwMode="auto">
          <a:xfrm>
            <a:off x="2000250" y="1666875"/>
            <a:ext cx="420688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600" b="1">
                <a:latin typeface="Tahoma" charset="0"/>
              </a:rPr>
              <a:t>201</a:t>
            </a:r>
          </a:p>
        </p:txBody>
      </p:sp>
      <p:sp>
        <p:nvSpPr>
          <p:cNvPr id="13337" name="Text Box 25"/>
          <p:cNvSpPr txBox="1">
            <a:spLocks noChangeArrowheads="1"/>
          </p:cNvSpPr>
          <p:nvPr/>
        </p:nvSpPr>
        <p:spPr bwMode="auto">
          <a:xfrm>
            <a:off x="2924175" y="2238375"/>
            <a:ext cx="420688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600" b="1">
                <a:latin typeface="Tahoma" charset="0"/>
              </a:rPr>
              <a:t>206A</a:t>
            </a:r>
          </a:p>
        </p:txBody>
      </p:sp>
      <p:sp>
        <p:nvSpPr>
          <p:cNvPr id="13338" name="Text Box 26"/>
          <p:cNvSpPr txBox="1">
            <a:spLocks noChangeArrowheads="1"/>
          </p:cNvSpPr>
          <p:nvPr/>
        </p:nvSpPr>
        <p:spPr bwMode="auto">
          <a:xfrm>
            <a:off x="447675" y="4981575"/>
            <a:ext cx="420688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600" b="1">
                <a:latin typeface="Tahoma" charset="0"/>
              </a:rPr>
              <a:t>211</a:t>
            </a:r>
          </a:p>
        </p:txBody>
      </p:sp>
      <p:sp>
        <p:nvSpPr>
          <p:cNvPr id="13339" name="Text Box 27"/>
          <p:cNvSpPr txBox="1">
            <a:spLocks noChangeArrowheads="1"/>
          </p:cNvSpPr>
          <p:nvPr/>
        </p:nvSpPr>
        <p:spPr bwMode="auto">
          <a:xfrm>
            <a:off x="1047750" y="4981575"/>
            <a:ext cx="420688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600" b="1">
                <a:latin typeface="Tahoma" charset="0"/>
              </a:rPr>
              <a:t>210A</a:t>
            </a:r>
          </a:p>
        </p:txBody>
      </p:sp>
      <p:sp>
        <p:nvSpPr>
          <p:cNvPr id="13340" name="Text Box 28"/>
          <p:cNvSpPr txBox="1">
            <a:spLocks noChangeArrowheads="1"/>
          </p:cNvSpPr>
          <p:nvPr/>
        </p:nvSpPr>
        <p:spPr bwMode="auto">
          <a:xfrm>
            <a:off x="1485900" y="4981575"/>
            <a:ext cx="420688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600" b="1">
                <a:latin typeface="Tahoma" charset="0"/>
              </a:rPr>
              <a:t>210B</a:t>
            </a:r>
          </a:p>
        </p:txBody>
      </p:sp>
      <p:sp>
        <p:nvSpPr>
          <p:cNvPr id="13341" name="Text Box 29"/>
          <p:cNvSpPr txBox="1">
            <a:spLocks noChangeArrowheads="1"/>
          </p:cNvSpPr>
          <p:nvPr/>
        </p:nvSpPr>
        <p:spPr bwMode="auto">
          <a:xfrm>
            <a:off x="2076450" y="4981575"/>
            <a:ext cx="420688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600" b="1">
                <a:latin typeface="Tahoma" charset="0"/>
              </a:rPr>
              <a:t>210C</a:t>
            </a:r>
          </a:p>
        </p:txBody>
      </p:sp>
      <p:sp>
        <p:nvSpPr>
          <p:cNvPr id="13342" name="Text Box 30"/>
          <p:cNvSpPr txBox="1">
            <a:spLocks noChangeArrowheads="1"/>
          </p:cNvSpPr>
          <p:nvPr/>
        </p:nvSpPr>
        <p:spPr bwMode="auto">
          <a:xfrm>
            <a:off x="171450" y="5324475"/>
            <a:ext cx="420688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600" b="1">
                <a:latin typeface="Tahoma" charset="0"/>
              </a:rPr>
              <a:t>211A</a:t>
            </a:r>
          </a:p>
        </p:txBody>
      </p:sp>
      <p:sp>
        <p:nvSpPr>
          <p:cNvPr id="13343" name="Text Box 31"/>
          <p:cNvSpPr txBox="1">
            <a:spLocks noChangeArrowheads="1"/>
          </p:cNvSpPr>
          <p:nvPr/>
        </p:nvSpPr>
        <p:spPr bwMode="auto">
          <a:xfrm>
            <a:off x="2568575" y="1366838"/>
            <a:ext cx="1228725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800" b="1">
                <a:solidFill>
                  <a:srgbClr val="FF0000"/>
                </a:solidFill>
                <a:latin typeface="Tahoma" charset="0"/>
              </a:rPr>
              <a:t>2</a:t>
            </a:r>
            <a:r>
              <a:rPr lang="en-US" altLang="en-US" sz="800" b="1" baseline="30000">
                <a:solidFill>
                  <a:srgbClr val="FF0000"/>
                </a:solidFill>
                <a:latin typeface="Tahoma" charset="0"/>
              </a:rPr>
              <a:t>nd</a:t>
            </a:r>
            <a:r>
              <a:rPr lang="en-US" altLang="en-US" sz="800" b="1">
                <a:solidFill>
                  <a:srgbClr val="FF0000"/>
                </a:solidFill>
                <a:latin typeface="Tahoma" charset="0"/>
              </a:rPr>
              <a:t> FLOOR NARTHEX</a:t>
            </a:r>
          </a:p>
        </p:txBody>
      </p:sp>
      <p:sp>
        <p:nvSpPr>
          <p:cNvPr id="13344" name="Line 32"/>
          <p:cNvSpPr>
            <a:spLocks noChangeShapeType="1"/>
          </p:cNvSpPr>
          <p:nvPr/>
        </p:nvSpPr>
        <p:spPr bwMode="auto">
          <a:xfrm>
            <a:off x="5029200" y="944563"/>
            <a:ext cx="504825" cy="941387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45" name="Rectangle 33"/>
          <p:cNvSpPr>
            <a:spLocks noChangeArrowheads="1"/>
          </p:cNvSpPr>
          <p:nvPr/>
        </p:nvSpPr>
        <p:spPr bwMode="auto">
          <a:xfrm>
            <a:off x="6259513" y="990600"/>
            <a:ext cx="1970087" cy="6000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 b="1" i="1">
                <a:latin typeface="Tahoma" charset="0"/>
              </a:rPr>
              <a:t>N </a:t>
            </a:r>
          </a:p>
        </p:txBody>
      </p:sp>
      <p:sp>
        <p:nvSpPr>
          <p:cNvPr id="13346" name="Line 34"/>
          <p:cNvSpPr>
            <a:spLocks noChangeShapeType="1"/>
          </p:cNvSpPr>
          <p:nvPr/>
        </p:nvSpPr>
        <p:spPr bwMode="auto">
          <a:xfrm>
            <a:off x="7439025" y="1295400"/>
            <a:ext cx="742950" cy="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47" name="Text Box 35"/>
          <p:cNvSpPr txBox="1">
            <a:spLocks noChangeArrowheads="1"/>
          </p:cNvSpPr>
          <p:nvPr/>
        </p:nvSpPr>
        <p:spPr bwMode="auto">
          <a:xfrm>
            <a:off x="4683125" y="704850"/>
            <a:ext cx="742950" cy="239713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800" b="1">
                <a:solidFill>
                  <a:srgbClr val="FF0000"/>
                </a:solidFill>
                <a:latin typeface="Tahoma" charset="0"/>
              </a:rPr>
              <a:t>ELEVATOR</a:t>
            </a:r>
          </a:p>
        </p:txBody>
      </p:sp>
      <p:sp>
        <p:nvSpPr>
          <p:cNvPr id="13348" name="Rectangle 36"/>
          <p:cNvSpPr>
            <a:spLocks noChangeArrowheads="1"/>
          </p:cNvSpPr>
          <p:nvPr/>
        </p:nvSpPr>
        <p:spPr bwMode="auto">
          <a:xfrm>
            <a:off x="3154363" y="161925"/>
            <a:ext cx="2833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 i="1">
                <a:latin typeface="Tahoma" charset="0"/>
              </a:rPr>
              <a:t>HISTORIC DRIVE</a:t>
            </a:r>
          </a:p>
        </p:txBody>
      </p:sp>
      <p:sp>
        <p:nvSpPr>
          <p:cNvPr id="13349" name="Rectangle 37"/>
          <p:cNvSpPr>
            <a:spLocks noChangeArrowheads="1"/>
          </p:cNvSpPr>
          <p:nvPr/>
        </p:nvSpPr>
        <p:spPr bwMode="auto">
          <a:xfrm>
            <a:off x="6097588" y="2171700"/>
            <a:ext cx="2800350" cy="338138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 u="sng">
                <a:latin typeface="Tahoma" charset="0"/>
              </a:rPr>
              <a:t>1</a:t>
            </a:r>
            <a:r>
              <a:rPr lang="en-US" altLang="en-US" sz="1600" b="1" u="sng" baseline="30000">
                <a:latin typeface="Tahoma" charset="0"/>
              </a:rPr>
              <a:t>ST</a:t>
            </a:r>
            <a:r>
              <a:rPr lang="en-US" altLang="en-US" sz="1600" b="1" u="sng">
                <a:latin typeface="Tahoma" charset="0"/>
              </a:rPr>
              <a:t> &amp; 2</a:t>
            </a:r>
            <a:r>
              <a:rPr lang="en-US" altLang="en-US" sz="1600" b="1" u="sng" baseline="30000">
                <a:latin typeface="Tahoma" charset="0"/>
              </a:rPr>
              <a:t>ND</a:t>
            </a:r>
            <a:r>
              <a:rPr lang="en-US" altLang="en-US" sz="1600" b="1" u="sng">
                <a:latin typeface="Tahoma" charset="0"/>
              </a:rPr>
              <a:t> FLOORS</a:t>
            </a:r>
          </a:p>
        </p:txBody>
      </p:sp>
      <p:sp>
        <p:nvSpPr>
          <p:cNvPr id="13350" name="Rectangle 38"/>
          <p:cNvSpPr>
            <a:spLocks noChangeArrowheads="1"/>
          </p:cNvSpPr>
          <p:nvPr/>
        </p:nvSpPr>
        <p:spPr bwMode="auto">
          <a:xfrm rot="5430348">
            <a:off x="7655719" y="4056857"/>
            <a:ext cx="24971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 i="1">
                <a:latin typeface="Tahoma" charset="0"/>
              </a:rPr>
              <a:t>SIX MILE LANE</a:t>
            </a:r>
          </a:p>
        </p:txBody>
      </p:sp>
      <p:sp>
        <p:nvSpPr>
          <p:cNvPr id="13351" name="Line 43"/>
          <p:cNvSpPr>
            <a:spLocks noChangeShapeType="1"/>
          </p:cNvSpPr>
          <p:nvPr/>
        </p:nvSpPr>
        <p:spPr bwMode="auto">
          <a:xfrm>
            <a:off x="3886200" y="4876800"/>
            <a:ext cx="0" cy="838200"/>
          </a:xfrm>
          <a:prstGeom prst="line">
            <a:avLst/>
          </a:prstGeom>
          <a:noFill/>
          <a:ln w="38100">
            <a:solidFill>
              <a:srgbClr val="FFC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52" name="Rectangle 50"/>
          <p:cNvSpPr>
            <a:spLocks noChangeArrowheads="1"/>
          </p:cNvSpPr>
          <p:nvPr/>
        </p:nvSpPr>
        <p:spPr bwMode="auto">
          <a:xfrm>
            <a:off x="4800600" y="5867400"/>
            <a:ext cx="1981200" cy="762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3353" name="Rectangle 51"/>
          <p:cNvSpPr>
            <a:spLocks noChangeArrowheads="1"/>
          </p:cNvSpPr>
          <p:nvPr/>
        </p:nvSpPr>
        <p:spPr bwMode="auto">
          <a:xfrm>
            <a:off x="5105400" y="5867400"/>
            <a:ext cx="13255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Tahoma" charset="0"/>
              </a:rPr>
              <a:t>Escape Routes</a:t>
            </a:r>
          </a:p>
        </p:txBody>
      </p:sp>
      <p:sp>
        <p:nvSpPr>
          <p:cNvPr id="13354" name="Line 52"/>
          <p:cNvSpPr>
            <a:spLocks noChangeShapeType="1"/>
          </p:cNvSpPr>
          <p:nvPr/>
        </p:nvSpPr>
        <p:spPr bwMode="auto">
          <a:xfrm>
            <a:off x="4953000" y="6203950"/>
            <a:ext cx="838200" cy="0"/>
          </a:xfrm>
          <a:prstGeom prst="line">
            <a:avLst/>
          </a:prstGeom>
          <a:noFill/>
          <a:ln w="50800">
            <a:solidFill>
              <a:srgbClr val="FFC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55" name="Text Box 53"/>
          <p:cNvSpPr txBox="1">
            <a:spLocks noChangeArrowheads="1"/>
          </p:cNvSpPr>
          <p:nvPr/>
        </p:nvSpPr>
        <p:spPr bwMode="auto">
          <a:xfrm>
            <a:off x="5791200" y="6019800"/>
            <a:ext cx="10572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charset="0"/>
              </a:rPr>
              <a:t>Alternate </a:t>
            </a:r>
          </a:p>
        </p:txBody>
      </p:sp>
      <p:sp>
        <p:nvSpPr>
          <p:cNvPr id="13356" name="Line 54"/>
          <p:cNvSpPr>
            <a:spLocks noChangeShapeType="1"/>
          </p:cNvSpPr>
          <p:nvPr/>
        </p:nvSpPr>
        <p:spPr bwMode="auto">
          <a:xfrm>
            <a:off x="4953000" y="6432550"/>
            <a:ext cx="838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57" name="Text Box 55"/>
          <p:cNvSpPr txBox="1">
            <a:spLocks noChangeArrowheads="1"/>
          </p:cNvSpPr>
          <p:nvPr/>
        </p:nvSpPr>
        <p:spPr bwMode="auto">
          <a:xfrm>
            <a:off x="5791200" y="6248400"/>
            <a:ext cx="8683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latin typeface="Tahoma" charset="0"/>
              </a:rPr>
              <a:t>Primary</a:t>
            </a:r>
          </a:p>
        </p:txBody>
      </p:sp>
      <p:sp>
        <p:nvSpPr>
          <p:cNvPr id="13358" name="Line 56"/>
          <p:cNvSpPr>
            <a:spLocks noChangeShapeType="1"/>
          </p:cNvSpPr>
          <p:nvPr/>
        </p:nvSpPr>
        <p:spPr bwMode="auto">
          <a:xfrm>
            <a:off x="5410200" y="4343400"/>
            <a:ext cx="0" cy="1371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59" name="Line 57"/>
          <p:cNvSpPr>
            <a:spLocks noChangeShapeType="1"/>
          </p:cNvSpPr>
          <p:nvPr/>
        </p:nvSpPr>
        <p:spPr bwMode="auto">
          <a:xfrm>
            <a:off x="5105400" y="4343400"/>
            <a:ext cx="152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60" name="Line 58"/>
          <p:cNvSpPr>
            <a:spLocks noChangeShapeType="1"/>
          </p:cNvSpPr>
          <p:nvPr/>
        </p:nvSpPr>
        <p:spPr bwMode="auto">
          <a:xfrm>
            <a:off x="3810000" y="4953000"/>
            <a:ext cx="1524000" cy="0"/>
          </a:xfrm>
          <a:prstGeom prst="line">
            <a:avLst/>
          </a:prstGeom>
          <a:noFill/>
          <a:ln w="38100">
            <a:solidFill>
              <a:srgbClr val="FFC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61" name="Line 59"/>
          <p:cNvSpPr>
            <a:spLocks noChangeShapeType="1"/>
          </p:cNvSpPr>
          <p:nvPr/>
        </p:nvSpPr>
        <p:spPr bwMode="auto">
          <a:xfrm flipV="1">
            <a:off x="5410200" y="3810000"/>
            <a:ext cx="0" cy="533400"/>
          </a:xfrm>
          <a:prstGeom prst="line">
            <a:avLst/>
          </a:prstGeom>
          <a:noFill/>
          <a:ln w="38100">
            <a:solidFill>
              <a:srgbClr val="FFC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62" name="Line 60"/>
          <p:cNvSpPr>
            <a:spLocks noChangeShapeType="1"/>
          </p:cNvSpPr>
          <p:nvPr/>
        </p:nvSpPr>
        <p:spPr bwMode="auto">
          <a:xfrm flipH="1">
            <a:off x="5029200" y="3810000"/>
            <a:ext cx="228600" cy="0"/>
          </a:xfrm>
          <a:prstGeom prst="line">
            <a:avLst/>
          </a:prstGeom>
          <a:noFill/>
          <a:ln w="38100">
            <a:solidFill>
              <a:srgbClr val="FFC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63" name="Line 61"/>
          <p:cNvSpPr>
            <a:spLocks noChangeShapeType="1"/>
          </p:cNvSpPr>
          <p:nvPr/>
        </p:nvSpPr>
        <p:spPr bwMode="auto">
          <a:xfrm>
            <a:off x="4729163" y="2263775"/>
            <a:ext cx="376237" cy="1546225"/>
          </a:xfrm>
          <a:prstGeom prst="line">
            <a:avLst/>
          </a:prstGeom>
          <a:noFill/>
          <a:ln w="38100">
            <a:solidFill>
              <a:srgbClr val="FFC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64" name="Line 62"/>
          <p:cNvSpPr>
            <a:spLocks noChangeShapeType="1"/>
          </p:cNvSpPr>
          <p:nvPr/>
        </p:nvSpPr>
        <p:spPr bwMode="auto">
          <a:xfrm>
            <a:off x="3962400" y="2209800"/>
            <a:ext cx="762000" cy="76200"/>
          </a:xfrm>
          <a:prstGeom prst="line">
            <a:avLst/>
          </a:prstGeom>
          <a:noFill/>
          <a:ln w="38100">
            <a:solidFill>
              <a:srgbClr val="FFC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65" name="Line 63"/>
          <p:cNvSpPr>
            <a:spLocks noChangeShapeType="1"/>
          </p:cNvSpPr>
          <p:nvPr/>
        </p:nvSpPr>
        <p:spPr bwMode="auto">
          <a:xfrm flipV="1">
            <a:off x="3962400" y="1143000"/>
            <a:ext cx="304800" cy="1066800"/>
          </a:xfrm>
          <a:prstGeom prst="line">
            <a:avLst/>
          </a:prstGeom>
          <a:noFill/>
          <a:ln w="38100">
            <a:solidFill>
              <a:srgbClr val="FFC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66" name="TextBox 54"/>
          <p:cNvSpPr txBox="1">
            <a:spLocks noChangeArrowheads="1"/>
          </p:cNvSpPr>
          <p:nvPr/>
        </p:nvSpPr>
        <p:spPr bwMode="auto">
          <a:xfrm>
            <a:off x="6218238" y="769938"/>
            <a:ext cx="685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A-1</a:t>
            </a:r>
          </a:p>
        </p:txBody>
      </p:sp>
      <p:cxnSp>
        <p:nvCxnSpPr>
          <p:cNvPr id="13367" name="Straight Arrow Connector 56"/>
          <p:cNvCxnSpPr>
            <a:cxnSpLocks noChangeShapeType="1"/>
            <a:stCxn id="13366" idx="1"/>
          </p:cNvCxnSpPr>
          <p:nvPr/>
        </p:nvCxnSpPr>
        <p:spPr bwMode="auto">
          <a:xfrm flipH="1">
            <a:off x="5989638" y="954088"/>
            <a:ext cx="228600" cy="177800"/>
          </a:xfrm>
          <a:prstGeom prst="straightConnector1">
            <a:avLst/>
          </a:prstGeom>
          <a:noFill/>
          <a:ln w="381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368" name="TextBox 57"/>
          <p:cNvSpPr txBox="1">
            <a:spLocks noChangeArrowheads="1"/>
          </p:cNvSpPr>
          <p:nvPr/>
        </p:nvSpPr>
        <p:spPr bwMode="auto">
          <a:xfrm>
            <a:off x="8153400" y="5562600"/>
            <a:ext cx="838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B-1</a:t>
            </a:r>
          </a:p>
        </p:txBody>
      </p:sp>
      <p:sp>
        <p:nvSpPr>
          <p:cNvPr id="13369" name="TextBox 58"/>
          <p:cNvSpPr txBox="1">
            <a:spLocks noChangeArrowheads="1"/>
          </p:cNvSpPr>
          <p:nvPr/>
        </p:nvSpPr>
        <p:spPr bwMode="auto">
          <a:xfrm>
            <a:off x="8001000" y="3505200"/>
            <a:ext cx="609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A-3</a:t>
            </a:r>
          </a:p>
        </p:txBody>
      </p:sp>
      <p:cxnSp>
        <p:nvCxnSpPr>
          <p:cNvPr id="13370" name="Straight Arrow Connector 60"/>
          <p:cNvCxnSpPr>
            <a:cxnSpLocks noChangeShapeType="1"/>
            <a:stCxn id="13369" idx="2"/>
          </p:cNvCxnSpPr>
          <p:nvPr/>
        </p:nvCxnSpPr>
        <p:spPr bwMode="auto">
          <a:xfrm>
            <a:off x="8305800" y="3875088"/>
            <a:ext cx="304800" cy="1001712"/>
          </a:xfrm>
          <a:prstGeom prst="straightConnector1">
            <a:avLst/>
          </a:prstGeom>
          <a:noFill/>
          <a:ln w="381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371" name="TextBox 61"/>
          <p:cNvSpPr txBox="1">
            <a:spLocks noChangeArrowheads="1"/>
          </p:cNvSpPr>
          <p:nvPr/>
        </p:nvSpPr>
        <p:spPr bwMode="auto">
          <a:xfrm>
            <a:off x="5181600" y="5562600"/>
            <a:ext cx="914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B-3</a:t>
            </a:r>
          </a:p>
        </p:txBody>
      </p:sp>
      <p:sp>
        <p:nvSpPr>
          <p:cNvPr id="13372" name="TextBox 62"/>
          <p:cNvSpPr txBox="1">
            <a:spLocks noChangeArrowheads="1"/>
          </p:cNvSpPr>
          <p:nvPr/>
        </p:nvSpPr>
        <p:spPr bwMode="auto">
          <a:xfrm>
            <a:off x="3657600" y="57150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B-4</a:t>
            </a:r>
          </a:p>
        </p:txBody>
      </p:sp>
      <p:sp>
        <p:nvSpPr>
          <p:cNvPr id="13373" name="TextBox 64"/>
          <p:cNvSpPr txBox="1">
            <a:spLocks noChangeArrowheads="1"/>
          </p:cNvSpPr>
          <p:nvPr/>
        </p:nvSpPr>
        <p:spPr bwMode="auto">
          <a:xfrm>
            <a:off x="4114800" y="762000"/>
            <a:ext cx="68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D-3</a:t>
            </a:r>
          </a:p>
        </p:txBody>
      </p:sp>
      <p:pic>
        <p:nvPicPr>
          <p:cNvPr id="13374" name="Picture 6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7075" y="4251325"/>
            <a:ext cx="244475" cy="249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75" name="Picture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5588" y="3805238"/>
            <a:ext cx="249237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376" name="Straight Arrow Connector 3"/>
          <p:cNvCxnSpPr>
            <a:cxnSpLocks noChangeShapeType="1"/>
          </p:cNvCxnSpPr>
          <p:nvPr/>
        </p:nvCxnSpPr>
        <p:spPr bwMode="auto">
          <a:xfrm>
            <a:off x="8181975" y="4052888"/>
            <a:ext cx="123825" cy="322262"/>
          </a:xfrm>
          <a:prstGeom prst="straightConnector1">
            <a:avLst/>
          </a:prstGeom>
          <a:noFill/>
          <a:ln w="381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13377" name="Picture 6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7288" y="5637213"/>
            <a:ext cx="249237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78" name="Picture 6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465138"/>
            <a:ext cx="249238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79" name="Picture 6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3763" y="4160838"/>
            <a:ext cx="249237" cy="249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380" name="Rectangle 4"/>
          <p:cNvSpPr>
            <a:spLocks noChangeArrowheads="1"/>
          </p:cNvSpPr>
          <p:nvPr/>
        </p:nvSpPr>
        <p:spPr bwMode="auto">
          <a:xfrm>
            <a:off x="879475" y="471488"/>
            <a:ext cx="7270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/>
              <a:t>First Aid</a:t>
            </a:r>
          </a:p>
        </p:txBody>
      </p:sp>
      <p:pic>
        <p:nvPicPr>
          <p:cNvPr id="13381" name="Picture 6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3" y="741363"/>
            <a:ext cx="244475" cy="249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382" name="TextBox 54"/>
          <p:cNvSpPr txBox="1">
            <a:spLocks noChangeArrowheads="1"/>
          </p:cNvSpPr>
          <p:nvPr/>
        </p:nvSpPr>
        <p:spPr bwMode="auto">
          <a:xfrm>
            <a:off x="6370638" y="1516063"/>
            <a:ext cx="685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A-2</a:t>
            </a:r>
          </a:p>
        </p:txBody>
      </p:sp>
      <p:cxnSp>
        <p:nvCxnSpPr>
          <p:cNvPr id="13383" name="Straight Arrow Connector 56"/>
          <p:cNvCxnSpPr>
            <a:cxnSpLocks noChangeShapeType="1"/>
            <a:stCxn id="13382" idx="1"/>
          </p:cNvCxnSpPr>
          <p:nvPr/>
        </p:nvCxnSpPr>
        <p:spPr bwMode="auto">
          <a:xfrm flipH="1">
            <a:off x="6096000" y="1701800"/>
            <a:ext cx="274638" cy="0"/>
          </a:xfrm>
          <a:prstGeom prst="straightConnector1">
            <a:avLst/>
          </a:prstGeom>
          <a:noFill/>
          <a:ln w="381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rgbClr val="FF00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rgbClr val="FF00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408</TotalTime>
  <Words>974</Words>
  <Application>Microsoft Office PowerPoint</Application>
  <PresentationFormat>On-screen Show (4:3)</PresentationFormat>
  <Paragraphs>372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Times New Roman</vt:lpstr>
      <vt:lpstr>Arial</vt:lpstr>
      <vt:lpstr>Calibri</vt:lpstr>
      <vt:lpstr>Tahoma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Devon J Vaccaro</dc:creator>
  <cp:lastModifiedBy>Richard</cp:lastModifiedBy>
  <cp:revision>55</cp:revision>
  <cp:lastPrinted>2023-12-09T21:53:46Z</cp:lastPrinted>
  <dcterms:created xsi:type="dcterms:W3CDTF">2003-09-05T01:09:37Z</dcterms:created>
  <dcterms:modified xsi:type="dcterms:W3CDTF">2023-12-09T22:14:20Z</dcterms:modified>
</cp:coreProperties>
</file>